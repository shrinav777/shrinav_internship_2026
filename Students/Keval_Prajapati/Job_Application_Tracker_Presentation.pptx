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2124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7935F-2CDE-1148-4A48-1B74756CB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3B8A3B-3FA0-9663-C745-770AF697E4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7E573B-9D2E-AD68-B686-B62401B24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44A01-651E-D086-AD94-B69D2AE5E3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4903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0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7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17.png"/><Relationship Id="rId5" Type="http://schemas.openxmlformats.org/officeDocument/2006/relationships/image" Target="../media/image30.png"/><Relationship Id="rId10" Type="http://schemas.openxmlformats.org/officeDocument/2006/relationships/image" Target="../media/image12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960120"/>
            <a:ext cx="1655064" cy="31089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solidFill>
              <a:schemeClr val="accent1"/>
            </a:solidFill>
          </a:ln>
        </p:spPr>
      </p:sp>
      <p:sp>
        <p:nvSpPr>
          <p:cNvPr id="6" name="Text 4"/>
          <p:cNvSpPr/>
          <p:nvPr/>
        </p:nvSpPr>
        <p:spPr>
          <a:xfrm>
            <a:off x="822960" y="960120"/>
            <a:ext cx="1655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Job Application Tracker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Application to Track and Manage Job Applications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4709160"/>
            <a:ext cx="1280160" cy="0"/>
          </a:xfrm>
          <a:prstGeom prst="line">
            <a:avLst/>
          </a:prstGeom>
          <a:noFill/>
          <a:ln w="38100">
            <a:solidFill>
              <a:srgbClr val="F2B1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892039"/>
            <a:ext cx="7315200" cy="10789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i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 By </a:t>
            </a:r>
            <a:r>
              <a:rPr lang="en-US" sz="1400" i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Darpan Patel</a:t>
            </a:r>
          </a:p>
          <a:p>
            <a:pPr marL="0" indent="0" algn="l">
              <a:buNone/>
            </a:pPr>
            <a:r>
              <a:rPr lang="en-US" sz="1400" i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    Keval Prajapati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 Tracker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548640" y="1920240"/>
            <a:ext cx="5212080" cy="4160520"/>
          </a:xfrm>
          <a:prstGeom prst="roundRect">
            <a:avLst>
              <a:gd name="adj" fmla="val 2198"/>
            </a:avLst>
          </a:prstGeom>
          <a:solidFill>
            <a:schemeClr val="bg1">
              <a:lumMod val="85000"/>
            </a:schemeClr>
          </a:solidFill>
          <a:ln/>
        </p:spPr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5A8DC8F1-AA27-D764-E466-BBEF509825DC}"/>
              </a:ext>
            </a:extLst>
          </p:cNvPr>
          <p:cNvSpPr/>
          <p:nvPr/>
        </p:nvSpPr>
        <p:spPr>
          <a:xfrm>
            <a:off x="846328" y="2240280"/>
            <a:ext cx="502920" cy="502920"/>
          </a:xfrm>
          <a:prstGeom prst="ellipse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2" name="Shape 0"/>
          <p:cNvSpPr/>
          <p:nvPr/>
        </p:nvSpPr>
        <p:spPr>
          <a:xfrm>
            <a:off x="354096" y="301752"/>
            <a:ext cx="1763953" cy="594360"/>
          </a:xfrm>
          <a:prstGeom prst="roundRect">
            <a:avLst>
              <a:gd name="adj" fmla="val 50000"/>
            </a:avLst>
          </a:prstGeom>
          <a:solidFill>
            <a:srgbClr val="EEF1FA"/>
          </a:solidFill>
          <a:ln>
            <a:solidFill>
              <a:schemeClr val="accent1"/>
            </a:solidFill>
          </a:ln>
        </p:spPr>
      </p:sp>
      <p:sp>
        <p:nvSpPr>
          <p:cNvPr id="3" name="Text 1"/>
          <p:cNvSpPr/>
          <p:nvPr/>
        </p:nvSpPr>
        <p:spPr>
          <a:xfrm>
            <a:off x="598880" y="425196"/>
            <a:ext cx="12664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1429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 Statement &amp; Objective</a:t>
            </a:r>
            <a:endParaRPr lang="en-US" sz="3000" dirty="0"/>
          </a:p>
        </p:txBody>
      </p:sp>
      <p:pic>
        <p:nvPicPr>
          <p:cNvPr id="7" name="Image 0" descr="assets/icon_note_stic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359152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2860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297180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applications across different companies can become confusing and difficult to track.</a:t>
            </a:r>
            <a:endParaRPr lang="en-US" sz="14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information such as status, deadlines, locations and notes may be scattered.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89320" y="1920240"/>
            <a:ext cx="5669280" cy="4160520"/>
          </a:xfrm>
          <a:prstGeom prst="roundRect">
            <a:avLst>
              <a:gd name="adj" fmla="val 2198"/>
            </a:avLst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6309360" y="2240280"/>
            <a:ext cx="502920" cy="502920"/>
          </a:xfrm>
          <a:prstGeom prst="ellipse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2" name="Image 1" descr="assets/icon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2359152"/>
            <a:ext cx="265176" cy="2651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22860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309360" y="3017520"/>
            <a:ext cx="5074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one simple dashboard where users can add, view, update, search and manage all job applications — end to end, in a single place.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 Tracker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8B9B009A-BCC7-FBE9-89BD-D76D63EA2432}"/>
              </a:ext>
            </a:extLst>
          </p:cNvPr>
          <p:cNvSpPr/>
          <p:nvPr/>
        </p:nvSpPr>
        <p:spPr>
          <a:xfrm>
            <a:off x="0" y="-29823"/>
            <a:ext cx="12192000" cy="68878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548640" y="45720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1FA"/>
          </a:solidFill>
          <a:ln>
            <a:solidFill>
              <a:schemeClr val="accent1"/>
            </a:solidFill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5039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functionality available in the application</a:t>
            </a:r>
            <a:endParaRPr lang="en-US" sz="130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F92E5B9-124F-BFCC-15E6-BB94517FC7B7}"/>
              </a:ext>
            </a:extLst>
          </p:cNvPr>
          <p:cNvGrpSpPr/>
          <p:nvPr/>
        </p:nvGrpSpPr>
        <p:grpSpPr>
          <a:xfrm>
            <a:off x="548640" y="1837009"/>
            <a:ext cx="2788172" cy="777240"/>
            <a:chOff x="548640" y="1837009"/>
            <a:chExt cx="2788172" cy="777240"/>
          </a:xfrm>
        </p:grpSpPr>
        <p:sp>
          <p:nvSpPr>
            <p:cNvPr id="6" name="Shape 4"/>
            <p:cNvSpPr/>
            <p:nvPr/>
          </p:nvSpPr>
          <p:spPr>
            <a:xfrm>
              <a:off x="548640" y="1993392"/>
              <a:ext cx="420624" cy="420624"/>
            </a:xfrm>
            <a:prstGeom prst="ellipse">
              <a:avLst/>
            </a:prstGeom>
            <a:solidFill>
              <a:srgbClr val="00B0F0"/>
            </a:solidFill>
            <a:ln/>
          </p:spPr>
        </p:sp>
        <p:pic>
          <p:nvPicPr>
            <p:cNvPr id="7" name="Image 0" descr="assets/icon_plus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9224" y="2093976"/>
              <a:ext cx="219456" cy="219456"/>
            </a:xfrm>
            <a:prstGeom prst="rect">
              <a:avLst/>
            </a:prstGeom>
          </p:spPr>
        </p:pic>
        <p:sp>
          <p:nvSpPr>
            <p:cNvPr id="8" name="Text 5"/>
            <p:cNvSpPr/>
            <p:nvPr/>
          </p:nvSpPr>
          <p:spPr>
            <a:xfrm>
              <a:off x="1050812" y="1837009"/>
              <a:ext cx="228600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250" dirty="0">
                  <a:solidFill>
                    <a:srgbClr val="1B1F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Add new job applications</a:t>
              </a:r>
              <a:endParaRPr lang="en-US" sz="125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FF14F71-2890-129E-AC72-D8B62815DBF0}"/>
              </a:ext>
            </a:extLst>
          </p:cNvPr>
          <p:cNvGrpSpPr/>
          <p:nvPr/>
        </p:nvGrpSpPr>
        <p:grpSpPr>
          <a:xfrm>
            <a:off x="524379" y="3131029"/>
            <a:ext cx="2852928" cy="777240"/>
            <a:chOff x="548640" y="2731999"/>
            <a:chExt cx="2852928" cy="777240"/>
          </a:xfrm>
        </p:grpSpPr>
        <p:sp>
          <p:nvSpPr>
            <p:cNvPr id="9" name="Shape 6"/>
            <p:cNvSpPr/>
            <p:nvPr/>
          </p:nvSpPr>
          <p:spPr>
            <a:xfrm>
              <a:off x="548640" y="2862072"/>
              <a:ext cx="420624" cy="420624"/>
            </a:xfrm>
            <a:prstGeom prst="ellipse">
              <a:avLst/>
            </a:prstGeom>
            <a:solidFill>
              <a:srgbClr val="00B0F0"/>
            </a:solidFill>
            <a:ln/>
          </p:spPr>
        </p:sp>
        <p:pic>
          <p:nvPicPr>
            <p:cNvPr id="10" name="Image 1" descr="assets/icon_ey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9224" y="2962656"/>
              <a:ext cx="219456" cy="219456"/>
            </a:xfrm>
            <a:prstGeom prst="rect">
              <a:avLst/>
            </a:prstGeom>
          </p:spPr>
        </p:pic>
        <p:sp>
          <p:nvSpPr>
            <p:cNvPr id="11" name="Text 7"/>
            <p:cNvSpPr/>
            <p:nvPr/>
          </p:nvSpPr>
          <p:spPr>
            <a:xfrm>
              <a:off x="1115568" y="2731999"/>
              <a:ext cx="228600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250" dirty="0">
                  <a:solidFill>
                    <a:srgbClr val="1B1F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View all applications in one place</a:t>
              </a:r>
              <a:endParaRPr lang="en-US" sz="1250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159DD07-B8E8-7E1E-AF61-1C2E2832294E}"/>
              </a:ext>
            </a:extLst>
          </p:cNvPr>
          <p:cNvGrpSpPr/>
          <p:nvPr/>
        </p:nvGrpSpPr>
        <p:grpSpPr>
          <a:xfrm>
            <a:off x="548640" y="4466431"/>
            <a:ext cx="2852928" cy="777240"/>
            <a:chOff x="548640" y="3572686"/>
            <a:chExt cx="2852928" cy="777240"/>
          </a:xfrm>
        </p:grpSpPr>
        <p:sp>
          <p:nvSpPr>
            <p:cNvPr id="12" name="Shape 8"/>
            <p:cNvSpPr/>
            <p:nvPr/>
          </p:nvSpPr>
          <p:spPr>
            <a:xfrm>
              <a:off x="548640" y="3730752"/>
              <a:ext cx="420624" cy="420624"/>
            </a:xfrm>
            <a:prstGeom prst="ellipse">
              <a:avLst/>
            </a:prstGeom>
            <a:solidFill>
              <a:srgbClr val="00B0F0"/>
            </a:solidFill>
            <a:ln/>
          </p:spPr>
        </p:sp>
        <p:pic>
          <p:nvPicPr>
            <p:cNvPr id="13" name="Image 2" descr="assets/icon_pen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9224" y="3831336"/>
              <a:ext cx="219456" cy="219456"/>
            </a:xfrm>
            <a:prstGeom prst="rect">
              <a:avLst/>
            </a:prstGeom>
          </p:spPr>
        </p:pic>
        <p:sp>
          <p:nvSpPr>
            <p:cNvPr id="14" name="Text 9"/>
            <p:cNvSpPr/>
            <p:nvPr/>
          </p:nvSpPr>
          <p:spPr>
            <a:xfrm>
              <a:off x="1115568" y="3572686"/>
              <a:ext cx="228600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250" dirty="0">
                  <a:solidFill>
                    <a:srgbClr val="1B1F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Edit and delete records</a:t>
              </a:r>
              <a:endParaRPr lang="en-US" sz="1250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40AE6E7-A32D-1FBC-A188-BA2D183041CF}"/>
              </a:ext>
            </a:extLst>
          </p:cNvPr>
          <p:cNvGrpSpPr/>
          <p:nvPr/>
        </p:nvGrpSpPr>
        <p:grpSpPr>
          <a:xfrm>
            <a:off x="3474720" y="1909979"/>
            <a:ext cx="2852928" cy="777240"/>
            <a:chOff x="3474720" y="1909979"/>
            <a:chExt cx="2852928" cy="777240"/>
          </a:xfrm>
        </p:grpSpPr>
        <p:sp>
          <p:nvSpPr>
            <p:cNvPr id="15" name="Shape 10"/>
            <p:cNvSpPr/>
            <p:nvPr/>
          </p:nvSpPr>
          <p:spPr>
            <a:xfrm>
              <a:off x="3474720" y="1993392"/>
              <a:ext cx="420624" cy="420624"/>
            </a:xfrm>
            <a:prstGeom prst="ellipse">
              <a:avLst/>
            </a:prstGeom>
            <a:solidFill>
              <a:srgbClr val="00B0F0"/>
            </a:solidFill>
            <a:ln/>
          </p:spPr>
        </p:sp>
        <p:pic>
          <p:nvPicPr>
            <p:cNvPr id="16" name="Image 3" descr="assets/icon_filter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75304" y="2093976"/>
              <a:ext cx="219456" cy="219456"/>
            </a:xfrm>
            <a:prstGeom prst="rect">
              <a:avLst/>
            </a:prstGeom>
          </p:spPr>
        </p:pic>
        <p:sp>
          <p:nvSpPr>
            <p:cNvPr id="17" name="Text 11"/>
            <p:cNvSpPr/>
            <p:nvPr/>
          </p:nvSpPr>
          <p:spPr>
            <a:xfrm>
              <a:off x="4041648" y="1909979"/>
              <a:ext cx="228600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250" dirty="0">
                  <a:solidFill>
                    <a:srgbClr val="1B1F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Search by company, role or location</a:t>
              </a:r>
              <a:endParaRPr lang="en-US" sz="125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EF5E5F4-C1E8-9981-EDEB-118E8D81E931}"/>
              </a:ext>
            </a:extLst>
          </p:cNvPr>
          <p:cNvGrpSpPr/>
          <p:nvPr/>
        </p:nvGrpSpPr>
        <p:grpSpPr>
          <a:xfrm>
            <a:off x="3474720" y="3125509"/>
            <a:ext cx="2852928" cy="777240"/>
            <a:chOff x="3474720" y="2685349"/>
            <a:chExt cx="2852928" cy="777240"/>
          </a:xfrm>
        </p:grpSpPr>
        <p:sp>
          <p:nvSpPr>
            <p:cNvPr id="18" name="Shape 12"/>
            <p:cNvSpPr/>
            <p:nvPr/>
          </p:nvSpPr>
          <p:spPr>
            <a:xfrm>
              <a:off x="3474720" y="2862072"/>
              <a:ext cx="420624" cy="420624"/>
            </a:xfrm>
            <a:prstGeom prst="ellipse">
              <a:avLst/>
            </a:prstGeom>
            <a:solidFill>
              <a:srgbClr val="00B0F0"/>
            </a:solidFill>
            <a:ln/>
          </p:spPr>
        </p:sp>
        <p:pic>
          <p:nvPicPr>
            <p:cNvPr id="19" name="Image 4" descr="assets/icon_list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575304" y="2962656"/>
              <a:ext cx="219456" cy="219456"/>
            </a:xfrm>
            <a:prstGeom prst="rect">
              <a:avLst/>
            </a:prstGeom>
          </p:spPr>
        </p:pic>
        <p:sp>
          <p:nvSpPr>
            <p:cNvPr id="20" name="Text 13"/>
            <p:cNvSpPr/>
            <p:nvPr/>
          </p:nvSpPr>
          <p:spPr>
            <a:xfrm>
              <a:off x="4041648" y="2685349"/>
              <a:ext cx="228600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250" dirty="0">
                  <a:solidFill>
                    <a:srgbClr val="1B1F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Filter applications by status</a:t>
              </a:r>
              <a:endParaRPr lang="en-US" sz="1250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E653C82-F4D7-ACB5-08F2-A96A3854B847}"/>
              </a:ext>
            </a:extLst>
          </p:cNvPr>
          <p:cNvGrpSpPr/>
          <p:nvPr/>
        </p:nvGrpSpPr>
        <p:grpSpPr>
          <a:xfrm>
            <a:off x="3474720" y="4492470"/>
            <a:ext cx="2852928" cy="777240"/>
            <a:chOff x="3474720" y="3591351"/>
            <a:chExt cx="2852928" cy="777240"/>
          </a:xfrm>
        </p:grpSpPr>
        <p:sp>
          <p:nvSpPr>
            <p:cNvPr id="21" name="Shape 14"/>
            <p:cNvSpPr/>
            <p:nvPr/>
          </p:nvSpPr>
          <p:spPr>
            <a:xfrm>
              <a:off x="3474720" y="3730752"/>
              <a:ext cx="420624" cy="420624"/>
            </a:xfrm>
            <a:prstGeom prst="ellipse">
              <a:avLst/>
            </a:prstGeom>
            <a:solidFill>
              <a:srgbClr val="00B0F0"/>
            </a:solidFill>
            <a:ln/>
          </p:spPr>
        </p:sp>
        <p:pic>
          <p:nvPicPr>
            <p:cNvPr id="22" name="Image 5" descr="assets/icon_chart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575304" y="3831336"/>
              <a:ext cx="219456" cy="219456"/>
            </a:xfrm>
            <a:prstGeom prst="rect">
              <a:avLst/>
            </a:prstGeom>
          </p:spPr>
        </p:pic>
        <p:sp>
          <p:nvSpPr>
            <p:cNvPr id="23" name="Text 15"/>
            <p:cNvSpPr/>
            <p:nvPr/>
          </p:nvSpPr>
          <p:spPr>
            <a:xfrm>
              <a:off x="4041648" y="3591351"/>
              <a:ext cx="228600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250" dirty="0">
                  <a:solidFill>
                    <a:srgbClr val="1B1F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Sort applications by date</a:t>
              </a:r>
              <a:endParaRPr lang="en-US" sz="1250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82B8587-F56C-7B10-6A0C-51DC943739EE}"/>
              </a:ext>
            </a:extLst>
          </p:cNvPr>
          <p:cNvGrpSpPr/>
          <p:nvPr/>
        </p:nvGrpSpPr>
        <p:grpSpPr>
          <a:xfrm>
            <a:off x="6400800" y="1826003"/>
            <a:ext cx="2852928" cy="777240"/>
            <a:chOff x="6400800" y="1826003"/>
            <a:chExt cx="2852928" cy="777240"/>
          </a:xfrm>
        </p:grpSpPr>
        <p:sp>
          <p:nvSpPr>
            <p:cNvPr id="24" name="Shape 16"/>
            <p:cNvSpPr/>
            <p:nvPr/>
          </p:nvSpPr>
          <p:spPr>
            <a:xfrm>
              <a:off x="6400800" y="1993392"/>
              <a:ext cx="420624" cy="420624"/>
            </a:xfrm>
            <a:prstGeom prst="ellipse">
              <a:avLst/>
            </a:prstGeom>
            <a:solidFill>
              <a:srgbClr val="00B0F0"/>
            </a:solidFill>
            <a:ln/>
          </p:spPr>
        </p:sp>
        <p:pic>
          <p:nvPicPr>
            <p:cNvPr id="25" name="Image 6" descr="assets/icon_database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501384" y="2093976"/>
              <a:ext cx="219456" cy="219456"/>
            </a:xfrm>
            <a:prstGeom prst="rect">
              <a:avLst/>
            </a:prstGeom>
          </p:spPr>
        </p:pic>
        <p:sp>
          <p:nvSpPr>
            <p:cNvPr id="26" name="Text 17"/>
            <p:cNvSpPr/>
            <p:nvPr/>
          </p:nvSpPr>
          <p:spPr>
            <a:xfrm>
              <a:off x="6967728" y="1826003"/>
              <a:ext cx="228600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250" dirty="0">
                  <a:solidFill>
                    <a:srgbClr val="1B1F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Dashboard statistics</a:t>
              </a:r>
              <a:endParaRPr lang="en-US" sz="125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A0D3E7C-B03E-A809-8A7E-B8D5C396D2C5}"/>
              </a:ext>
            </a:extLst>
          </p:cNvPr>
          <p:cNvGrpSpPr/>
          <p:nvPr/>
        </p:nvGrpSpPr>
        <p:grpSpPr>
          <a:xfrm>
            <a:off x="6327648" y="3125509"/>
            <a:ext cx="2852928" cy="777240"/>
            <a:chOff x="6400800" y="2694676"/>
            <a:chExt cx="2852928" cy="777240"/>
          </a:xfrm>
        </p:grpSpPr>
        <p:sp>
          <p:nvSpPr>
            <p:cNvPr id="27" name="Shape 18"/>
            <p:cNvSpPr/>
            <p:nvPr/>
          </p:nvSpPr>
          <p:spPr>
            <a:xfrm>
              <a:off x="6400800" y="2862072"/>
              <a:ext cx="420624" cy="420624"/>
            </a:xfrm>
            <a:prstGeom prst="ellipse">
              <a:avLst/>
            </a:prstGeom>
            <a:solidFill>
              <a:srgbClr val="00B0F0"/>
            </a:solidFill>
            <a:ln/>
          </p:spPr>
        </p:sp>
        <p:pic>
          <p:nvPicPr>
            <p:cNvPr id="28" name="Image 7" descr="assets/icon_clock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501384" y="2962656"/>
              <a:ext cx="219456" cy="219456"/>
            </a:xfrm>
            <a:prstGeom prst="rect">
              <a:avLst/>
            </a:prstGeom>
          </p:spPr>
        </p:pic>
        <p:sp>
          <p:nvSpPr>
            <p:cNvPr id="29" name="Text 19"/>
            <p:cNvSpPr/>
            <p:nvPr/>
          </p:nvSpPr>
          <p:spPr>
            <a:xfrm>
              <a:off x="6967728" y="2694676"/>
              <a:ext cx="228600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250" dirty="0">
                  <a:solidFill>
                    <a:srgbClr val="1B1F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Application deadline tracking</a:t>
              </a:r>
              <a:endParaRPr lang="en-US" sz="125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C080126-6913-5D7D-D86A-793F489B47C8}"/>
              </a:ext>
            </a:extLst>
          </p:cNvPr>
          <p:cNvGrpSpPr/>
          <p:nvPr/>
        </p:nvGrpSpPr>
        <p:grpSpPr>
          <a:xfrm>
            <a:off x="6327648" y="4555917"/>
            <a:ext cx="2852928" cy="777240"/>
            <a:chOff x="6400800" y="3563356"/>
            <a:chExt cx="2852928" cy="777240"/>
          </a:xfrm>
        </p:grpSpPr>
        <p:sp>
          <p:nvSpPr>
            <p:cNvPr id="30" name="Shape 20"/>
            <p:cNvSpPr/>
            <p:nvPr/>
          </p:nvSpPr>
          <p:spPr>
            <a:xfrm>
              <a:off x="6400800" y="3730752"/>
              <a:ext cx="420624" cy="420624"/>
            </a:xfrm>
            <a:prstGeom prst="ellipse">
              <a:avLst/>
            </a:prstGeom>
            <a:solidFill>
              <a:srgbClr val="00B0F0"/>
            </a:solidFill>
            <a:ln/>
          </p:spPr>
        </p:sp>
        <p:pic>
          <p:nvPicPr>
            <p:cNvPr id="31" name="Image 8" descr="assets/icon_moon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501384" y="3831336"/>
              <a:ext cx="219456" cy="219456"/>
            </a:xfrm>
            <a:prstGeom prst="rect">
              <a:avLst/>
            </a:prstGeom>
          </p:spPr>
        </p:pic>
        <p:sp>
          <p:nvSpPr>
            <p:cNvPr id="32" name="Text 21"/>
            <p:cNvSpPr/>
            <p:nvPr/>
          </p:nvSpPr>
          <p:spPr>
            <a:xfrm>
              <a:off x="6967728" y="3563356"/>
              <a:ext cx="228600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250" dirty="0">
                  <a:solidFill>
                    <a:srgbClr val="1B1F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Light and dark mode</a:t>
              </a:r>
              <a:endParaRPr lang="en-US" sz="1250" dirty="0"/>
            </a:p>
          </p:txBody>
        </p:sp>
      </p:grpSp>
      <p:sp>
        <p:nvSpPr>
          <p:cNvPr id="36" name="Text 24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 Tracker</a:t>
            </a:r>
            <a:endParaRPr lang="en-US" sz="900" dirty="0"/>
          </a:p>
        </p:txBody>
      </p:sp>
      <p:sp>
        <p:nvSpPr>
          <p:cNvPr id="37" name="Text 25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44168" cy="31089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44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141B4D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12451"/>
            <a:ext cx="621792" cy="621792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85292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3127248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297680" y="182880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141B4D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2103120"/>
            <a:ext cx="621792" cy="621792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0" y="285292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72000" y="3127248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046720" y="182880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141B4D"/>
          </a:solidFill>
          <a:ln/>
        </p:spPr>
      </p:sp>
      <p:sp>
        <p:nvSpPr>
          <p:cNvPr id="16" name="Shape 12"/>
          <p:cNvSpPr/>
          <p:nvPr/>
        </p:nvSpPr>
        <p:spPr>
          <a:xfrm>
            <a:off x="8321040" y="2103120"/>
            <a:ext cx="621792" cy="621792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8" name="Text 13"/>
          <p:cNvSpPr/>
          <p:nvPr/>
        </p:nvSpPr>
        <p:spPr>
          <a:xfrm>
            <a:off x="8321040" y="285292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8321040" y="3127248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48640" y="393192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141B4D"/>
          </a:solidFill>
          <a:ln/>
        </p:spPr>
      </p:sp>
      <p:sp>
        <p:nvSpPr>
          <p:cNvPr id="21" name="Shape 16"/>
          <p:cNvSpPr/>
          <p:nvPr/>
        </p:nvSpPr>
        <p:spPr>
          <a:xfrm>
            <a:off x="822960" y="4206240"/>
            <a:ext cx="621792" cy="621792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3" name="Text 17"/>
          <p:cNvSpPr/>
          <p:nvPr/>
        </p:nvSpPr>
        <p:spPr>
          <a:xfrm>
            <a:off x="822960" y="495604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822960" y="5230368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4297680" y="393192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141B4D"/>
          </a:solidFill>
          <a:ln/>
        </p:spPr>
      </p:sp>
      <p:sp>
        <p:nvSpPr>
          <p:cNvPr id="26" name="Shape 20"/>
          <p:cNvSpPr/>
          <p:nvPr/>
        </p:nvSpPr>
        <p:spPr>
          <a:xfrm>
            <a:off x="4572000" y="4206240"/>
            <a:ext cx="621792" cy="621792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8" name="Text 21"/>
          <p:cNvSpPr/>
          <p:nvPr/>
        </p:nvSpPr>
        <p:spPr>
          <a:xfrm>
            <a:off x="4572000" y="495604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DEPLOYMENT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572000" y="5230368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8046720" y="393192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141B4D"/>
          </a:solidFill>
          <a:ln/>
        </p:spPr>
      </p:sp>
      <p:sp>
        <p:nvSpPr>
          <p:cNvPr id="31" name="Shape 24"/>
          <p:cNvSpPr/>
          <p:nvPr/>
        </p:nvSpPr>
        <p:spPr>
          <a:xfrm>
            <a:off x="8321040" y="4206240"/>
            <a:ext cx="621792" cy="621792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33" name="Text 25"/>
          <p:cNvSpPr/>
          <p:nvPr/>
        </p:nvSpPr>
        <p:spPr>
          <a:xfrm>
            <a:off x="8321040" y="495604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DEPLOYMENT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8321040" y="5230368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 Tracker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A0C0ADB8-3657-D173-0A9C-D849174F8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635" y="4303491"/>
            <a:ext cx="418017" cy="41801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D575076-EAF9-E7E0-ABD6-34BB5051C5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110" y="4298408"/>
            <a:ext cx="415480" cy="415480"/>
          </a:xfrm>
          <a:prstGeom prst="rect">
            <a:avLst/>
          </a:prstGeom>
          <a:solidFill>
            <a:schemeClr val="bg2"/>
          </a:solidFill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ABDC7D8-E590-CCCB-27EE-8D42A61B45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1190" y="2219332"/>
            <a:ext cx="361131" cy="40690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3503B05-E882-79A8-3910-DF48B5E5F7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3844" y="4306028"/>
            <a:ext cx="402431" cy="40243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09C9C82-5E7F-6974-1C6B-7CFC26662F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8934" y="2191469"/>
            <a:ext cx="446003" cy="44509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D681D21-6A01-BFE6-D043-C8FAB78B90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152" y="2150544"/>
            <a:ext cx="559696" cy="5596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EF1FA"/>
          </a:solidFill>
          <a:ln>
            <a:solidFill>
              <a:schemeClr val="accent1"/>
            </a:solidFill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5039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System Architecture &amp;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331720" cy="1737360"/>
          </a:xfrm>
          <a:prstGeom prst="roundRect">
            <a:avLst>
              <a:gd name="adj" fmla="val 5263"/>
            </a:avLst>
          </a:prstGeom>
          <a:solidFill>
            <a:schemeClr val="bg1">
              <a:lumMod val="85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1412748" y="2587752"/>
            <a:ext cx="603504" cy="603504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</p:sp>
      <p:pic>
        <p:nvPicPr>
          <p:cNvPr id="7" name="Image 0" descr="assets/icon_brow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908" y="272491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31927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Browser</a:t>
            </a:r>
            <a:endParaRPr lang="en-US" sz="1350" dirty="0"/>
          </a:p>
        </p:txBody>
      </p:sp>
      <p:pic>
        <p:nvPicPr>
          <p:cNvPr id="9" name="Image 1" descr="assets/icon_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3324" y="3035808"/>
            <a:ext cx="402336" cy="3291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68624" y="2331720"/>
            <a:ext cx="2331720" cy="1737360"/>
          </a:xfrm>
          <a:prstGeom prst="roundRect">
            <a:avLst>
              <a:gd name="adj" fmla="val 5263"/>
            </a:avLst>
          </a:prstGeom>
          <a:solidFill>
            <a:schemeClr val="bg1">
              <a:lumMod val="85000"/>
            </a:schemeClr>
          </a:solidFill>
          <a:ln/>
        </p:spPr>
      </p:sp>
      <p:sp>
        <p:nvSpPr>
          <p:cNvPr id="11" name="Shape 7"/>
          <p:cNvSpPr/>
          <p:nvPr/>
        </p:nvSpPr>
        <p:spPr>
          <a:xfrm>
            <a:off x="4332732" y="2587752"/>
            <a:ext cx="603504" cy="603504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</p:sp>
      <p:sp>
        <p:nvSpPr>
          <p:cNvPr id="13" name="Text 8"/>
          <p:cNvSpPr/>
          <p:nvPr/>
        </p:nvSpPr>
        <p:spPr>
          <a:xfrm>
            <a:off x="3560064" y="331927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3560064" y="364845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00" dirty="0">
              <a:solidFill>
                <a:schemeClr val="accent1"/>
              </a:solidFill>
            </a:endParaRPr>
          </a:p>
        </p:txBody>
      </p:sp>
      <p:pic>
        <p:nvPicPr>
          <p:cNvPr id="15" name="Image 3" descr="assets/icon_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308" y="3035808"/>
            <a:ext cx="402336" cy="32918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88608" y="2331720"/>
            <a:ext cx="2331720" cy="1737360"/>
          </a:xfrm>
          <a:prstGeom prst="roundRect">
            <a:avLst>
              <a:gd name="adj" fmla="val 5263"/>
            </a:avLst>
          </a:prstGeom>
          <a:solidFill>
            <a:schemeClr val="bg1">
              <a:lumMod val="85000"/>
            </a:schemeClr>
          </a:solidFill>
          <a:ln/>
        </p:spPr>
      </p:sp>
      <p:sp>
        <p:nvSpPr>
          <p:cNvPr id="17" name="Shape 11"/>
          <p:cNvSpPr/>
          <p:nvPr/>
        </p:nvSpPr>
        <p:spPr>
          <a:xfrm>
            <a:off x="7252716" y="2587752"/>
            <a:ext cx="603504" cy="603504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</p:sp>
      <p:pic>
        <p:nvPicPr>
          <p:cNvPr id="18" name="Image 4" descr="assets/icon_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9876" y="2724912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480048" y="331927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6480048" y="364845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100" dirty="0">
              <a:solidFill>
                <a:schemeClr val="accent1"/>
              </a:solidFill>
            </a:endParaRPr>
          </a:p>
        </p:txBody>
      </p:sp>
      <p:pic>
        <p:nvPicPr>
          <p:cNvPr id="21" name="Image 5" descr="assets/icon_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3292" y="3035808"/>
            <a:ext cx="402336" cy="32918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308592" y="2331720"/>
            <a:ext cx="2331720" cy="1737360"/>
          </a:xfrm>
          <a:prstGeom prst="roundRect">
            <a:avLst>
              <a:gd name="adj" fmla="val 5263"/>
            </a:avLst>
          </a:prstGeom>
          <a:solidFill>
            <a:schemeClr val="bg1">
              <a:lumMod val="85000"/>
            </a:schemeClr>
          </a:solidFill>
          <a:ln/>
        </p:spPr>
      </p:sp>
      <p:sp>
        <p:nvSpPr>
          <p:cNvPr id="23" name="Shape 15"/>
          <p:cNvSpPr/>
          <p:nvPr/>
        </p:nvSpPr>
        <p:spPr>
          <a:xfrm>
            <a:off x="10172700" y="2587752"/>
            <a:ext cx="603504" cy="603504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</p:sp>
      <p:pic>
        <p:nvPicPr>
          <p:cNvPr id="24" name="Image 6" descr="assets/icon_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9191" y="2724912"/>
            <a:ext cx="329184" cy="32918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400032" y="331927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26" name="Text 17"/>
          <p:cNvSpPr/>
          <p:nvPr/>
        </p:nvSpPr>
        <p:spPr>
          <a:xfrm>
            <a:off x="9400032" y="364845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>
              <a:solidFill>
                <a:schemeClr val="accent1"/>
              </a:solidFill>
            </a:endParaRPr>
          </a:p>
        </p:txBody>
      </p:sp>
      <p:sp>
        <p:nvSpPr>
          <p:cNvPr id="27" name="Shape 18"/>
          <p:cNvSpPr/>
          <p:nvPr/>
        </p:nvSpPr>
        <p:spPr>
          <a:xfrm>
            <a:off x="548640" y="45262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EF1FA"/>
          </a:solidFill>
          <a:ln/>
        </p:spPr>
      </p:sp>
      <p:sp>
        <p:nvSpPr>
          <p:cNvPr id="28" name="Text 19"/>
          <p:cNvSpPr/>
          <p:nvPr/>
        </p:nvSpPr>
        <p:spPr>
          <a:xfrm>
            <a:off x="868680" y="4690872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sends HTTP requests to the deployed REST API.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processes requests and reads/writes application data in PostgreSQL.</a:t>
            </a:r>
            <a:endParaRPr lang="en-US" sz="1350" dirty="0"/>
          </a:p>
        </p:txBody>
      </p:sp>
      <p:sp>
        <p:nvSpPr>
          <p:cNvPr id="29" name="Text 20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 Tracker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B9E0298-6FBF-7D8A-62F2-4299827D0D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2253" y="2673650"/>
            <a:ext cx="427101" cy="4271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33272" cy="310896"/>
          </a:xfrm>
          <a:prstGeom prst="roundRect">
            <a:avLst>
              <a:gd name="adj" fmla="val 50000"/>
            </a:avLst>
          </a:prstGeom>
          <a:solidFill>
            <a:srgbClr val="EEF1FA"/>
          </a:solidFill>
          <a:ln>
            <a:solidFill>
              <a:schemeClr val="accent1"/>
            </a:solidFill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332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5039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CRUD Operations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data-management functionality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965960" cy="384048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211580" y="2286000"/>
            <a:ext cx="640080" cy="64008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8" name="Image 0" descr="assets/icon_pl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884" y="243230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1089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3566160"/>
            <a:ext cx="1600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job application.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715768" y="1965960"/>
            <a:ext cx="1965960" cy="3840480"/>
          </a:xfrm>
          <a:prstGeom prst="roundRect">
            <a:avLst>
              <a:gd name="adj" fmla="val 4651"/>
            </a:avLst>
          </a:prstGeom>
          <a:solidFill>
            <a:srgbClr val="EEF1FA"/>
          </a:solidFill>
          <a:ln/>
        </p:spPr>
      </p:sp>
      <p:sp>
        <p:nvSpPr>
          <p:cNvPr id="12" name="Shape 9"/>
          <p:cNvSpPr/>
          <p:nvPr/>
        </p:nvSpPr>
        <p:spPr>
          <a:xfrm>
            <a:off x="3378708" y="2286000"/>
            <a:ext cx="640080" cy="64008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13" name="Image 1" descr="assets/icon_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5012" y="243230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07208" y="31089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898648" y="3566160"/>
            <a:ext cx="1600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and display saved applications.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882896" y="1965960"/>
            <a:ext cx="1965960" cy="384048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17" name="Shape 13"/>
          <p:cNvSpPr/>
          <p:nvPr/>
        </p:nvSpPr>
        <p:spPr>
          <a:xfrm>
            <a:off x="5545836" y="2286000"/>
            <a:ext cx="640080" cy="64008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18" name="Image 2" descr="assets/icon_p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2140" y="2432304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74336" y="31089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065776" y="3566160"/>
            <a:ext cx="1600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existing application details and status.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050024" y="1965960"/>
            <a:ext cx="1965960" cy="3840480"/>
          </a:xfrm>
          <a:prstGeom prst="roundRect">
            <a:avLst>
              <a:gd name="adj" fmla="val 4651"/>
            </a:avLst>
          </a:prstGeom>
          <a:solidFill>
            <a:srgbClr val="EEF1FA"/>
          </a:solidFill>
          <a:ln/>
        </p:spPr>
      </p:sp>
      <p:sp>
        <p:nvSpPr>
          <p:cNvPr id="22" name="Shape 17"/>
          <p:cNvSpPr/>
          <p:nvPr/>
        </p:nvSpPr>
        <p:spPr>
          <a:xfrm>
            <a:off x="7712964" y="2286000"/>
            <a:ext cx="640080" cy="64008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23" name="Image 3" descr="assets/icon_tra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9268" y="2432304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41464" y="31089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232904" y="3566160"/>
            <a:ext cx="1600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application when it is no longer needed.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8778240" y="1965960"/>
            <a:ext cx="28803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7" name="Image 4" descr="assets/crud_for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0" y="3291840"/>
            <a:ext cx="2697480" cy="99486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778240" y="44348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form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 Tracker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98D8B-967A-5CD2-0EEF-BF7DF102A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559706-97D9-C7F0-FF7C-E468CF9DF5E9}"/>
              </a:ext>
            </a:extLst>
          </p:cNvPr>
          <p:cNvSpPr/>
          <p:nvPr/>
        </p:nvSpPr>
        <p:spPr>
          <a:xfrm>
            <a:off x="548640" y="502920"/>
            <a:ext cx="722376" cy="31089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02F3006-86B4-A9DF-23F2-F66009C2DEB5}"/>
              </a:ext>
            </a:extLst>
          </p:cNvPr>
          <p:cNvSpPr/>
          <p:nvPr/>
        </p:nvSpPr>
        <p:spPr>
          <a:xfrm>
            <a:off x="548640" y="89611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User Interface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5ED7406-71C1-4F09-2078-3FDFE6D1F62F}"/>
              </a:ext>
            </a:extLst>
          </p:cNvPr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interface with light and dark themes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A2D9F72-2107-937E-D1D7-BC3799C478BD}"/>
              </a:ext>
            </a:extLst>
          </p:cNvPr>
          <p:cNvSpPr/>
          <p:nvPr/>
        </p:nvSpPr>
        <p:spPr>
          <a:xfrm>
            <a:off x="640080" y="2057400"/>
            <a:ext cx="5257800" cy="4105076"/>
          </a:xfrm>
          <a:prstGeom prst="roundRect">
            <a:avLst>
              <a:gd name="adj" fmla="val 155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assets/dashboard_dark.png">
            <a:extLst>
              <a:ext uri="{FF2B5EF4-FFF2-40B4-BE49-F238E27FC236}">
                <a16:creationId xmlns:a16="http://schemas.microsoft.com/office/drawing/2014/main" id="{CEE61C12-2C2A-BFF9-7898-2599ED5CF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167128"/>
            <a:ext cx="5038344" cy="3309548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D1AD563C-6A24-930F-0F73-3D2CD5E77E05}"/>
              </a:ext>
            </a:extLst>
          </p:cNvPr>
          <p:cNvSpPr/>
          <p:nvPr/>
        </p:nvSpPr>
        <p:spPr>
          <a:xfrm>
            <a:off x="640080" y="5476676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dark mode</a:t>
            </a:r>
            <a:endParaRPr lang="en-US" sz="12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A0964F2-97CB-066F-2455-760137FA9F46}"/>
              </a:ext>
            </a:extLst>
          </p:cNvPr>
          <p:cNvSpPr/>
          <p:nvPr/>
        </p:nvSpPr>
        <p:spPr>
          <a:xfrm>
            <a:off x="6263640" y="2057400"/>
            <a:ext cx="5257800" cy="2941860"/>
          </a:xfrm>
          <a:prstGeom prst="roundRect">
            <a:avLst>
              <a:gd name="adj" fmla="val 217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0" name="Image 1" descr="assets/table_dark.png">
            <a:extLst>
              <a:ext uri="{FF2B5EF4-FFF2-40B4-BE49-F238E27FC236}">
                <a16:creationId xmlns:a16="http://schemas.microsoft.com/office/drawing/2014/main" id="{112AF648-BF24-9147-C9BC-26EA41299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2167128"/>
            <a:ext cx="5038344" cy="2146332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66F28FC7-80B3-ABD3-783C-2779BB12163E}"/>
              </a:ext>
            </a:extLst>
          </p:cNvPr>
          <p:cNvSpPr/>
          <p:nvPr/>
        </p:nvSpPr>
        <p:spPr>
          <a:xfrm>
            <a:off x="6263640" y="431346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table</a:t>
            </a:r>
            <a:endParaRPr lang="en-US" sz="12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C2D64330-C9CD-32B6-FD7E-1C2BA2B15E15}"/>
              </a:ext>
            </a:extLst>
          </p:cNvPr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 Tracker</a:t>
            </a:r>
            <a:endParaRPr lang="en-US" sz="9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8D5498A-E2FD-88C0-0295-B19F3EB360B8}"/>
              </a:ext>
            </a:extLst>
          </p:cNvPr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752F6372-6209-121E-5C58-03850C7D80B5}"/>
              </a:ext>
            </a:extLst>
          </p:cNvPr>
          <p:cNvSpPr/>
          <p:nvPr/>
        </p:nvSpPr>
        <p:spPr>
          <a:xfrm>
            <a:off x="557971" y="507305"/>
            <a:ext cx="722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792284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22376" cy="31089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22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User Interface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interface with light and dark themes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257800" cy="4105076"/>
          </a:xfrm>
          <a:prstGeom prst="roundRect">
            <a:avLst>
              <a:gd name="adj" fmla="val 155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5476676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light mode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2057400"/>
            <a:ext cx="5257800" cy="2941860"/>
          </a:xfrm>
          <a:prstGeom prst="roundRect">
            <a:avLst>
              <a:gd name="adj" fmla="val 217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263640" y="431346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table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 Tracker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5F92D4A-FC42-23BB-BED7-9769A41553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33" r="13338"/>
          <a:stretch>
            <a:fillRect/>
          </a:stretch>
        </p:blipFill>
        <p:spPr>
          <a:xfrm>
            <a:off x="749808" y="2167128"/>
            <a:ext cx="5038344" cy="318902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691B064-9FBD-881C-5109-0A60C4160A0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50"/>
          <a:stretch>
            <a:fillRect/>
          </a:stretch>
        </p:blipFill>
        <p:spPr>
          <a:xfrm>
            <a:off x="6400800" y="2167128"/>
            <a:ext cx="4978044" cy="18720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0100" cy="310896"/>
          </a:xfrm>
          <a:prstGeom prst="roundRect">
            <a:avLst>
              <a:gd name="adj" fmla="val 50000"/>
            </a:avLst>
          </a:prstGeom>
          <a:solidFill>
            <a:srgbClr val="EEF1FA"/>
          </a:solidFill>
          <a:ln>
            <a:solidFill>
              <a:schemeClr val="accent1"/>
            </a:solidFill>
          </a:ln>
        </p:spPr>
      </p:sp>
      <p:sp>
        <p:nvSpPr>
          <p:cNvPr id="3" name="Text 1"/>
          <p:cNvSpPr/>
          <p:nvPr/>
        </p:nvSpPr>
        <p:spPr>
          <a:xfrm>
            <a:off x="520646" y="401214"/>
            <a:ext cx="897605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503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Database &amp; REST API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chemeClr val="bg1">
              <a:lumMod val="65000"/>
            </a:schemeClr>
          </a:solidFill>
          <a:ln/>
        </p:spPr>
      </p:sp>
      <p:pic>
        <p:nvPicPr>
          <p:cNvPr id="6" name="Image 0" descr="assets/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88" y="19766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8470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stores application records permanently.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2715768"/>
            <a:ext cx="457200" cy="457200"/>
          </a:xfrm>
          <a:prstGeom prst="ellipse">
            <a:avLst/>
          </a:prstGeom>
          <a:solidFill>
            <a:schemeClr val="bg1">
              <a:lumMod val="65000"/>
            </a:schemeClr>
          </a:solidFill>
          <a:ln/>
        </p:spPr>
      </p:sp>
      <p:pic>
        <p:nvPicPr>
          <p:cNvPr id="9" name="Image 1" descr="assets/icon_file_lin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82549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657856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fields: company name, job role, status, applied date, deadline, location and notes.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48640" y="3557016"/>
            <a:ext cx="457200" cy="457200"/>
          </a:xfrm>
          <a:prstGeom prst="ellipse">
            <a:avLst/>
          </a:prstGeom>
          <a:solidFill>
            <a:schemeClr val="bg1">
              <a:lumMod val="65000"/>
            </a:schemeClr>
          </a:solidFill>
          <a:ln/>
        </p:spPr>
      </p:sp>
      <p:pic>
        <p:nvPicPr>
          <p:cNvPr id="12" name="Image 2" descr="assets/icon_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666744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3499104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connect the React frontend with the backend.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548640" y="4398264"/>
            <a:ext cx="457200" cy="457200"/>
          </a:xfrm>
          <a:prstGeom prst="ellipse">
            <a:avLst/>
          </a:prstGeom>
          <a:solidFill>
            <a:schemeClr val="bg1">
              <a:lumMod val="65000"/>
            </a:schemeClr>
          </a:solidFill>
          <a:ln/>
        </p:spPr>
      </p:sp>
      <p:pic>
        <p:nvPicPr>
          <p:cNvPr id="15" name="Image 3" descr="assets/icon_code_bran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507992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437083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operations use GET, POST, PUT and DELETE requests.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548640" y="5239512"/>
            <a:ext cx="457200" cy="457200"/>
          </a:xfrm>
          <a:prstGeom prst="ellipse">
            <a:avLst/>
          </a:prstGeom>
          <a:solidFill>
            <a:schemeClr val="bg1">
              <a:lumMod val="65000"/>
            </a:schemeClr>
          </a:solidFill>
          <a:ln/>
        </p:spPr>
      </p:sp>
      <p:pic>
        <p:nvPicPr>
          <p:cNvPr id="18" name="Image 4" descr="assets/icon_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5349240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88720" y="52120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uses environment variables to keep database credentials outside the source code.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 Tracker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77824" cy="310896"/>
          </a:xfrm>
          <a:prstGeom prst="roundRect">
            <a:avLst>
              <a:gd name="adj" fmla="val 50000"/>
            </a:avLst>
          </a:prstGeom>
          <a:solidFill>
            <a:srgbClr val="EEF1FA"/>
          </a:solidFill>
          <a:ln>
            <a:solidFill>
              <a:schemeClr val="accent1"/>
            </a:solidFill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5039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Deployment &amp; Team Collaboration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EEF1FA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0756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075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29000" y="2057400"/>
            <a:ext cx="420624" cy="420624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9" name="Image 0" descr="assets/icon_code_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2148840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2587752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Development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49808" y="2953512"/>
            <a:ext cx="31638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and testing were first performed locally.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97680" y="187452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EEF1FA"/>
          </a:solidFill>
          <a:ln/>
        </p:spPr>
      </p:sp>
      <p:sp>
        <p:nvSpPr>
          <p:cNvPr id="13" name="Shape 10"/>
          <p:cNvSpPr/>
          <p:nvPr/>
        </p:nvSpPr>
        <p:spPr>
          <a:xfrm>
            <a:off x="4498848" y="20756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4498848" y="2075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178040" y="2057400"/>
            <a:ext cx="420624" cy="420624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16" name="Image 1" descr="assets/icon_github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148840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98848" y="2587752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Collaboration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498848" y="2953512"/>
            <a:ext cx="31638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was used as the shared repository for version control and collaboration.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046720" y="187452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EEF1FA"/>
          </a:solidFill>
          <a:ln/>
        </p:spPr>
      </p:sp>
      <p:sp>
        <p:nvSpPr>
          <p:cNvPr id="20" name="Shape 16"/>
          <p:cNvSpPr/>
          <p:nvPr/>
        </p:nvSpPr>
        <p:spPr>
          <a:xfrm>
            <a:off x="8247888" y="20756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7"/>
          <p:cNvSpPr/>
          <p:nvPr/>
        </p:nvSpPr>
        <p:spPr>
          <a:xfrm>
            <a:off x="8247888" y="2075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10927080" y="2057400"/>
            <a:ext cx="420624" cy="420624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23" name="Image 2" descr="assets/icon_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520" y="2148840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247888" y="2587752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Sync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247888" y="2953512"/>
            <a:ext cx="31638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were committed and pushed so both team members could work with the latest version.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48640" y="42062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EEF1FA"/>
          </a:solidFill>
          <a:ln/>
        </p:spPr>
      </p:sp>
      <p:sp>
        <p:nvSpPr>
          <p:cNvPr id="27" name="Shape 22"/>
          <p:cNvSpPr/>
          <p:nvPr/>
        </p:nvSpPr>
        <p:spPr>
          <a:xfrm>
            <a:off x="749808" y="44074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3"/>
          <p:cNvSpPr/>
          <p:nvPr/>
        </p:nvSpPr>
        <p:spPr>
          <a:xfrm>
            <a:off x="749808" y="4407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3429000" y="4389120"/>
            <a:ext cx="420624" cy="420624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30" name="Image 3" descr="assets/icon_render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40" y="4480560"/>
            <a:ext cx="237744" cy="23774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49808" y="4919472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Deployment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749808" y="5285232"/>
            <a:ext cx="31638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API was deployed on Render and connected to the hosted PostgreSQL database.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4297680" y="42062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EEF1FA"/>
          </a:solidFill>
          <a:ln/>
        </p:spPr>
      </p:sp>
      <p:sp>
        <p:nvSpPr>
          <p:cNvPr id="34" name="Shape 28"/>
          <p:cNvSpPr/>
          <p:nvPr/>
        </p:nvSpPr>
        <p:spPr>
          <a:xfrm>
            <a:off x="4498848" y="44074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29"/>
          <p:cNvSpPr/>
          <p:nvPr/>
        </p:nvSpPr>
        <p:spPr>
          <a:xfrm>
            <a:off x="4498848" y="4407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7178040" y="4389120"/>
            <a:ext cx="420624" cy="420624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37" name="Image 4" descr="assets/icon_vercel_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480" y="4480560"/>
            <a:ext cx="237744" cy="237744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4498848" y="4919472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Deployment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4498848" y="5285232"/>
            <a:ext cx="31638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frontend was deployed on Vercel and configured to call the deployed backend API.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8046720" y="42062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EEF1FA"/>
          </a:solidFill>
          <a:ln/>
        </p:spPr>
      </p:sp>
      <p:sp>
        <p:nvSpPr>
          <p:cNvPr id="41" name="Shape 34"/>
          <p:cNvSpPr/>
          <p:nvPr/>
        </p:nvSpPr>
        <p:spPr>
          <a:xfrm>
            <a:off x="8247888" y="44074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2" name="Text 35"/>
          <p:cNvSpPr/>
          <p:nvPr/>
        </p:nvSpPr>
        <p:spPr>
          <a:xfrm>
            <a:off x="8247888" y="4407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3" name="Shape 36"/>
          <p:cNvSpPr/>
          <p:nvPr/>
        </p:nvSpPr>
        <p:spPr>
          <a:xfrm>
            <a:off x="10927080" y="4389120"/>
            <a:ext cx="420624" cy="420624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44" name="Image 5" descr="assets/icon_rock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18520" y="4480560"/>
            <a:ext cx="237744" cy="237744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8247888" y="4919472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Testing</a:t>
            </a:r>
            <a:endParaRPr lang="en-US" sz="1300" dirty="0"/>
          </a:p>
        </p:txBody>
      </p:sp>
      <p:sp>
        <p:nvSpPr>
          <p:cNvPr id="46" name="Text 38"/>
          <p:cNvSpPr/>
          <p:nvPr/>
        </p:nvSpPr>
        <p:spPr>
          <a:xfrm>
            <a:off x="8247888" y="5285232"/>
            <a:ext cx="31638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deployment, the complete application was tested through the public website.</a:t>
            </a:r>
            <a:endParaRPr lang="en-US" sz="1050" dirty="0"/>
          </a:p>
        </p:txBody>
      </p:sp>
      <p:sp>
        <p:nvSpPr>
          <p:cNvPr id="47" name="Text 39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 Tracker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1D39F5E3-AC00-8CB3-3E96-E665295046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4325" y="2027107"/>
            <a:ext cx="484632" cy="484632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0B1A2881-5D2A-946E-81C0-72C50A16E1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90717" y="4453715"/>
            <a:ext cx="267467" cy="26746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3A28EACA-20D9-B306-4FD2-8FF4DC316D0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47824" y="4448159"/>
            <a:ext cx="277633" cy="2776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48640"/>
            <a:ext cx="800100" cy="31089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8" name="Image 0" descr="asset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98424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8288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successfully provides a centralized system for managing job applications.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11" name="Image 1" descr="asset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67004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5146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demonstrates full-stack development, REST API integration, database connectivity, GitHub collaboration and cloud deployment.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40080" y="3429000"/>
            <a:ext cx="10881360" cy="1691640"/>
          </a:xfrm>
          <a:prstGeom prst="roundRect">
            <a:avLst>
              <a:gd name="adj" fmla="val 5405"/>
            </a:avLst>
          </a:prstGeom>
          <a:solidFill>
            <a:srgbClr val="141B4D"/>
          </a:solidFill>
          <a:ln/>
        </p:spPr>
      </p:sp>
      <p:sp>
        <p:nvSpPr>
          <p:cNvPr id="14" name="Shape 10"/>
          <p:cNvSpPr/>
          <p:nvPr/>
        </p:nvSpPr>
        <p:spPr>
          <a:xfrm>
            <a:off x="914400" y="365760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15" name="Image 2" descr="assets/icon_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376732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368503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914400" y="42062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 •  Email deadline reminders  •  Analytics charts  •  Resume tracking  •  Company-specific interview notes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0080" y="5486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19" name="Text 14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 Tracker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563</Words>
  <Application>Microsoft Office PowerPoint</Application>
  <PresentationFormat>Widescreen</PresentationFormat>
  <Paragraphs>138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Darpan Patel</cp:lastModifiedBy>
  <cp:revision>19</cp:revision>
  <dcterms:created xsi:type="dcterms:W3CDTF">2026-07-18T12:27:32Z</dcterms:created>
  <dcterms:modified xsi:type="dcterms:W3CDTF">2026-07-18T13:32:49Z</dcterms:modified>
</cp:coreProperties>
</file>