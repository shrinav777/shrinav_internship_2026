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oboto ExtraBold"/>
      <p:bold r:id="rId18"/>
      <p:boldItalic r:id="rId19"/>
    </p:embeddedFont>
    <p:embeddedFont>
      <p:font typeface="Roboto"/>
      <p:regular r:id="rId20"/>
      <p:bold r:id="rId21"/>
      <p:italic r:id="rId22"/>
      <p:boldItalic r:id="rId23"/>
    </p:embeddedFont>
    <p:embeddedFont>
      <p:font typeface="Roboto Medium"/>
      <p:regular r:id="rId24"/>
      <p:bold r:id="rId25"/>
      <p:italic r:id="rId26"/>
      <p:boldItalic r:id="rId27"/>
    </p:embeddedFont>
    <p:embeddedFont>
      <p:font typeface="Roboto SemiBold"/>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22" Type="http://schemas.openxmlformats.org/officeDocument/2006/relationships/font" Target="fonts/Roboto-italic.fntdata"/><Relationship Id="rId21" Type="http://schemas.openxmlformats.org/officeDocument/2006/relationships/font" Target="fonts/Roboto-bold.fntdata"/><Relationship Id="rId24" Type="http://schemas.openxmlformats.org/officeDocument/2006/relationships/font" Target="fonts/RobotoMedium-regular.fntdata"/><Relationship Id="rId23"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edium-italic.fntdata"/><Relationship Id="rId25" Type="http://schemas.openxmlformats.org/officeDocument/2006/relationships/font" Target="fonts/RobotoMedium-bold.fntdata"/><Relationship Id="rId28" Type="http://schemas.openxmlformats.org/officeDocument/2006/relationships/font" Target="fonts/RobotoSemiBold-regular.fntdata"/><Relationship Id="rId27" Type="http://schemas.openxmlformats.org/officeDocument/2006/relationships/font" Target="fonts/RobotoMedium-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SemiBold-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SemiBold-boldItalic.fntdata"/><Relationship Id="rId30" Type="http://schemas.openxmlformats.org/officeDocument/2006/relationships/font" Target="fonts/RobotoSemi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obotoExtraBold-boldItalic.fntdata"/><Relationship Id="rId18" Type="http://schemas.openxmlformats.org/officeDocument/2006/relationships/font" Target="fonts/RobotoExtra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5608e5bf3_0_1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f5608e5bf3_0_1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93d340cb4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f93d340cb4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93d340cb4_8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93d340cb4_8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93d340cb4_8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f93d340cb4_8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f93d340cb4_8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f93d340cb4_8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f93d340cb4_8_7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f93d340cb4_8_7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f93d340cb4_8_8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f93d340cb4_8_8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f93d340cb4_8_10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f93d340cb4_8_10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f93d340cb4_8_1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f93d340cb4_8_1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f93d340cb4_8_1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f93d340cb4_8_1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f93d340cb4_8_1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f93d340cb4_8_1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f93d340cb4_8_1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f93d340cb4_8_1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5608e5bf3_10_0)">
  <p:cSld name="Generated (g3f5608e5bf3_10_0)">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28.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31.jpg"/><Relationship Id="rId8"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16.png"/><Relationship Id="rId6" Type="http://schemas.openxmlformats.org/officeDocument/2006/relationships/image" Target="../media/image12.png"/><Relationship Id="rId7"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5.png"/><Relationship Id="rId5" Type="http://schemas.openxmlformats.org/officeDocument/2006/relationships/image" Target="../media/image30.png"/><Relationship Id="rId6"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9.png"/><Relationship Id="rId4" Type="http://schemas.openxmlformats.org/officeDocument/2006/relationships/image" Target="../media/image18.png"/><Relationship Id="rId5" Type="http://schemas.openxmlformats.org/officeDocument/2006/relationships/image" Target="../media/image26.png"/><Relationship Id="rId6"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 name="Shape 54"/>
        <p:cNvGrpSpPr/>
        <p:nvPr/>
      </p:nvGrpSpPr>
      <p:grpSpPr>
        <a:xfrm>
          <a:off x="0" y="0"/>
          <a:ext cx="0" cy="0"/>
          <a:chOff x="0" y="0"/>
          <a:chExt cx="0" cy="0"/>
        </a:xfrm>
      </p:grpSpPr>
      <p:grpSp>
        <p:nvGrpSpPr>
          <p:cNvPr id="55" name="Google Shape;55;p14"/>
          <p:cNvGrpSpPr/>
          <p:nvPr/>
        </p:nvGrpSpPr>
        <p:grpSpPr>
          <a:xfrm>
            <a:off x="571500" y="476250"/>
            <a:ext cx="8001000" cy="1028625"/>
            <a:chOff x="0" y="0"/>
            <a:chExt cx="8001000" cy="1028625"/>
          </a:xfrm>
        </p:grpSpPr>
        <p:sp>
          <p:nvSpPr>
            <p:cNvPr id="56" name="Google Shape;56;p14"/>
            <p:cNvSpPr txBox="1"/>
            <p:nvPr/>
          </p:nvSpPr>
          <p:spPr>
            <a:xfrm>
              <a:off x="0" y="0"/>
              <a:ext cx="800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515">
                  <a:solidFill>
                    <a:srgbClr val="00F2FE"/>
                  </a:solidFill>
                  <a:latin typeface="Roboto ExtraBold"/>
                  <a:ea typeface="Roboto ExtraBold"/>
                  <a:cs typeface="Roboto ExtraBold"/>
                  <a:sym typeface="Roboto ExtraBold"/>
                </a:rPr>
                <a:t>Budget Wise</a:t>
              </a:r>
              <a:endParaRPr b="0" sz="3515">
                <a:solidFill>
                  <a:srgbClr val="00F2FE"/>
                </a:solidFill>
                <a:latin typeface="Roboto ExtraBold"/>
                <a:ea typeface="Roboto ExtraBold"/>
                <a:cs typeface="Roboto ExtraBold"/>
                <a:sym typeface="Roboto ExtraBold"/>
              </a:endParaRPr>
            </a:p>
          </p:txBody>
        </p:sp>
        <p:sp>
          <p:nvSpPr>
            <p:cNvPr id="57" name="Google Shape;57;p14"/>
            <p:cNvSpPr txBox="1"/>
            <p:nvPr/>
          </p:nvSpPr>
          <p:spPr>
            <a:xfrm>
              <a:off x="0" y="619125"/>
              <a:ext cx="8001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600">
                  <a:solidFill>
                    <a:srgbClr val="E0E6ED"/>
                  </a:solidFill>
                  <a:latin typeface="Roboto"/>
                  <a:ea typeface="Roboto"/>
                  <a:cs typeface="Roboto"/>
                  <a:sym typeface="Roboto"/>
                </a:rPr>
                <a:t>Personal Expense Tracker — CRUD Application Internship Project</a:t>
              </a:r>
              <a:endParaRPr b="0" sz="1600">
                <a:solidFill>
                  <a:srgbClr val="E0E6ED"/>
                </a:solidFill>
                <a:latin typeface="Roboto"/>
                <a:ea typeface="Roboto"/>
                <a:cs typeface="Roboto"/>
                <a:sym typeface="Roboto"/>
              </a:endParaRPr>
            </a:p>
          </p:txBody>
        </p:sp>
        <p:pic>
          <p:nvPicPr>
            <p:cNvPr id="58" name="Google Shape;58;p14"/>
            <p:cNvPicPr preferRelativeResize="0"/>
            <p:nvPr/>
          </p:nvPicPr>
          <p:blipFill rotWithShape="1">
            <a:blip r:embed="rId4">
              <a:alphaModFix/>
            </a:blip>
            <a:srcRect b="0" l="0" r="0" t="0"/>
            <a:stretch/>
          </p:blipFill>
          <p:spPr>
            <a:xfrm>
              <a:off x="0" y="1000125"/>
              <a:ext cx="1714500" cy="28500"/>
            </a:xfrm>
            <a:prstGeom prst="rect">
              <a:avLst/>
            </a:prstGeom>
            <a:noFill/>
            <a:ln>
              <a:noFill/>
            </a:ln>
          </p:spPr>
        </p:pic>
      </p:grpSp>
      <p:grpSp>
        <p:nvGrpSpPr>
          <p:cNvPr id="59" name="Google Shape;59;p14"/>
          <p:cNvGrpSpPr/>
          <p:nvPr/>
        </p:nvGrpSpPr>
        <p:grpSpPr>
          <a:xfrm>
            <a:off x="566738" y="1709738"/>
            <a:ext cx="3629100" cy="1057200"/>
            <a:chOff x="-4762" y="-4762"/>
            <a:chExt cx="3629100" cy="1057200"/>
          </a:xfrm>
        </p:grpSpPr>
        <p:pic>
          <p:nvPicPr>
            <p:cNvPr id="60" name="Google Shape;60;p14"/>
            <p:cNvPicPr preferRelativeResize="0"/>
            <p:nvPr/>
          </p:nvPicPr>
          <p:blipFill rotWithShape="1">
            <a:blip r:embed="rId5">
              <a:alphaModFix/>
            </a:blip>
            <a:srcRect b="0" l="0" r="0" t="0"/>
            <a:stretch/>
          </p:blipFill>
          <p:spPr>
            <a:xfrm>
              <a:off x="-4762" y="-4762"/>
              <a:ext cx="3629100" cy="1057200"/>
            </a:xfrm>
            <a:prstGeom prst="rect">
              <a:avLst/>
            </a:prstGeom>
            <a:noFill/>
            <a:ln>
              <a:noFill/>
            </a:ln>
          </p:spPr>
        </p:pic>
        <p:sp>
          <p:nvSpPr>
            <p:cNvPr id="61" name="Google Shape;61;p14"/>
            <p:cNvSpPr txBox="1"/>
            <p:nvPr/>
          </p:nvSpPr>
          <p:spPr>
            <a:xfrm>
              <a:off x="238125" y="190500"/>
              <a:ext cx="31434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8592A6"/>
                  </a:solidFill>
                  <a:latin typeface="Roboto SemiBold"/>
                  <a:ea typeface="Roboto SemiBold"/>
                  <a:cs typeface="Roboto SemiBold"/>
                  <a:sym typeface="Roboto SemiBold"/>
                </a:rPr>
                <a:t>Developed By</a:t>
              </a:r>
              <a:endParaRPr b="0" sz="1100">
                <a:solidFill>
                  <a:srgbClr val="8592A6"/>
                </a:solidFill>
                <a:latin typeface="Roboto SemiBold"/>
                <a:ea typeface="Roboto SemiBold"/>
                <a:cs typeface="Roboto SemiBold"/>
                <a:sym typeface="Roboto SemiBold"/>
              </a:endParaRPr>
            </a:p>
          </p:txBody>
        </p:sp>
        <p:sp>
          <p:nvSpPr>
            <p:cNvPr id="62" name="Google Shape;62;p14"/>
            <p:cNvSpPr txBox="1"/>
            <p:nvPr/>
          </p:nvSpPr>
          <p:spPr>
            <a:xfrm>
              <a:off x="238125" y="476250"/>
              <a:ext cx="31434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FFFFFF"/>
                  </a:solidFill>
                  <a:latin typeface="Roboto"/>
                  <a:ea typeface="Roboto"/>
                  <a:cs typeface="Roboto"/>
                  <a:sym typeface="Roboto"/>
                </a:rPr>
                <a:t>Bhavesh Prajapati &amp; Neel Vaghela</a:t>
              </a:r>
              <a:endParaRPr b="1" sz="1400">
                <a:solidFill>
                  <a:srgbClr val="FFFFFF"/>
                </a:solidFill>
                <a:latin typeface="Roboto"/>
                <a:ea typeface="Roboto"/>
                <a:cs typeface="Roboto"/>
                <a:sym typeface="Roboto"/>
              </a:endParaRPr>
            </a:p>
          </p:txBody>
        </p:sp>
      </p:grpSp>
      <p:grpSp>
        <p:nvGrpSpPr>
          <p:cNvPr id="63" name="Google Shape;63;p14"/>
          <p:cNvGrpSpPr/>
          <p:nvPr/>
        </p:nvGrpSpPr>
        <p:grpSpPr>
          <a:xfrm>
            <a:off x="566738" y="2947988"/>
            <a:ext cx="3629100" cy="1628700"/>
            <a:chOff x="-4762" y="-4762"/>
            <a:chExt cx="3629100" cy="1628700"/>
          </a:xfrm>
        </p:grpSpPr>
        <p:pic>
          <p:nvPicPr>
            <p:cNvPr id="64" name="Google Shape;64;p14"/>
            <p:cNvPicPr preferRelativeResize="0"/>
            <p:nvPr/>
          </p:nvPicPr>
          <p:blipFill rotWithShape="1">
            <a:blip r:embed="rId6">
              <a:alphaModFix/>
            </a:blip>
            <a:srcRect b="0" l="0" r="0" t="0"/>
            <a:stretch/>
          </p:blipFill>
          <p:spPr>
            <a:xfrm>
              <a:off x="-4762" y="-4762"/>
              <a:ext cx="3629100" cy="1628700"/>
            </a:xfrm>
            <a:prstGeom prst="rect">
              <a:avLst/>
            </a:prstGeom>
            <a:noFill/>
            <a:ln>
              <a:noFill/>
            </a:ln>
          </p:spPr>
        </p:pic>
        <p:pic>
          <p:nvPicPr>
            <p:cNvPr descr="A sleek dashboard UI representation of an expense tracker with colorful charts, clean dark mode aesthetic, and modern interface elements." id="65" name="Google Shape;65;p14"/>
            <p:cNvPicPr preferRelativeResize="0"/>
            <p:nvPr/>
          </p:nvPicPr>
          <p:blipFill rotWithShape="1">
            <a:blip r:embed="rId7">
              <a:alphaModFix/>
            </a:blip>
            <a:srcRect b="16014" l="0" r="0" t="16014"/>
            <a:stretch/>
          </p:blipFill>
          <p:spPr>
            <a:xfrm>
              <a:off x="190500" y="190500"/>
              <a:ext cx="3238500" cy="1238400"/>
            </a:xfrm>
            <a:prstGeom prst="rect">
              <a:avLst/>
            </a:prstGeom>
            <a:noFill/>
            <a:ln>
              <a:noFill/>
            </a:ln>
          </p:spPr>
        </p:pic>
      </p:grpSp>
      <p:grpSp>
        <p:nvGrpSpPr>
          <p:cNvPr id="66" name="Google Shape;66;p14"/>
          <p:cNvGrpSpPr/>
          <p:nvPr/>
        </p:nvGrpSpPr>
        <p:grpSpPr>
          <a:xfrm>
            <a:off x="4471988" y="1709738"/>
            <a:ext cx="4105200" cy="2867100"/>
            <a:chOff x="-4762" y="-4762"/>
            <a:chExt cx="4105200" cy="2867100"/>
          </a:xfrm>
        </p:grpSpPr>
        <p:pic>
          <p:nvPicPr>
            <p:cNvPr id="67" name="Google Shape;67;p14"/>
            <p:cNvPicPr preferRelativeResize="0"/>
            <p:nvPr/>
          </p:nvPicPr>
          <p:blipFill rotWithShape="1">
            <a:blip r:embed="rId8">
              <a:alphaModFix/>
            </a:blip>
            <a:srcRect b="0" l="0" r="0" t="0"/>
            <a:stretch/>
          </p:blipFill>
          <p:spPr>
            <a:xfrm>
              <a:off x="-4762" y="-4762"/>
              <a:ext cx="4105200" cy="2867100"/>
            </a:xfrm>
            <a:prstGeom prst="rect">
              <a:avLst/>
            </a:prstGeom>
            <a:noFill/>
            <a:ln>
              <a:noFill/>
            </a:ln>
          </p:spPr>
        </p:pic>
        <p:grpSp>
          <p:nvGrpSpPr>
            <p:cNvPr id="68" name="Google Shape;68;p14"/>
            <p:cNvGrpSpPr/>
            <p:nvPr/>
          </p:nvGrpSpPr>
          <p:grpSpPr>
            <a:xfrm>
              <a:off x="285750" y="238125"/>
              <a:ext cx="3476775" cy="428700"/>
              <a:chOff x="0" y="0"/>
              <a:chExt cx="3476775" cy="428700"/>
            </a:xfrm>
          </p:grpSpPr>
          <p:sp>
            <p:nvSpPr>
              <p:cNvPr id="69" name="Google Shape;69;p14"/>
              <p:cNvSpPr/>
              <p:nvPr/>
            </p:nvSpPr>
            <p:spPr>
              <a:xfrm>
                <a:off x="0" y="0"/>
                <a:ext cx="38100" cy="381000"/>
              </a:xfrm>
              <a:prstGeom prst="rect">
                <a:avLst/>
              </a:prstGeom>
              <a:solidFill>
                <a:srgbClr val="00F2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 name="Google Shape;70;p14"/>
              <p:cNvSpPr txBox="1"/>
              <p:nvPr/>
            </p:nvSpPr>
            <p:spPr>
              <a:xfrm>
                <a:off x="142875" y="0"/>
                <a:ext cx="33339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00F2FE"/>
                    </a:solidFill>
                    <a:latin typeface="Roboto"/>
                    <a:ea typeface="Roboto"/>
                    <a:cs typeface="Roboto"/>
                    <a:sym typeface="Roboto"/>
                  </a:rPr>
                  <a:t>Frontend</a:t>
                </a:r>
                <a:endParaRPr b="1" sz="1100">
                  <a:solidFill>
                    <a:srgbClr val="00F2FE"/>
                  </a:solidFill>
                  <a:latin typeface="Roboto"/>
                  <a:ea typeface="Roboto"/>
                  <a:cs typeface="Roboto"/>
                  <a:sym typeface="Roboto"/>
                </a:endParaRPr>
              </a:p>
            </p:txBody>
          </p:sp>
          <p:sp>
            <p:nvSpPr>
              <p:cNvPr id="71" name="Google Shape;71;p14"/>
              <p:cNvSpPr txBox="1"/>
              <p:nvPr/>
            </p:nvSpPr>
            <p:spPr>
              <a:xfrm>
                <a:off x="142875" y="190500"/>
                <a:ext cx="33339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200">
                    <a:solidFill>
                      <a:srgbClr val="FFFFFF"/>
                    </a:solidFill>
                    <a:latin typeface="Roboto Medium"/>
                    <a:ea typeface="Roboto Medium"/>
                    <a:cs typeface="Roboto Medium"/>
                    <a:sym typeface="Roboto Medium"/>
                  </a:rPr>
                  <a:t>HTML 5, CSS 3, Bootstrap, Chart.js</a:t>
                </a:r>
                <a:endParaRPr b="0" sz="1200">
                  <a:solidFill>
                    <a:srgbClr val="FFFFFF"/>
                  </a:solidFill>
                  <a:latin typeface="Roboto Medium"/>
                  <a:ea typeface="Roboto Medium"/>
                  <a:cs typeface="Roboto Medium"/>
                  <a:sym typeface="Roboto Medium"/>
                </a:endParaRPr>
              </a:p>
            </p:txBody>
          </p:sp>
        </p:grpSp>
        <p:grpSp>
          <p:nvGrpSpPr>
            <p:cNvPr id="72" name="Google Shape;72;p14"/>
            <p:cNvGrpSpPr/>
            <p:nvPr/>
          </p:nvGrpSpPr>
          <p:grpSpPr>
            <a:xfrm>
              <a:off x="285750" y="857250"/>
              <a:ext cx="3476775" cy="428700"/>
              <a:chOff x="0" y="0"/>
              <a:chExt cx="3476775" cy="428700"/>
            </a:xfrm>
          </p:grpSpPr>
          <p:sp>
            <p:nvSpPr>
              <p:cNvPr id="73" name="Google Shape;73;p14"/>
              <p:cNvSpPr/>
              <p:nvPr/>
            </p:nvSpPr>
            <p:spPr>
              <a:xfrm>
                <a:off x="0" y="0"/>
                <a:ext cx="38100" cy="381000"/>
              </a:xfrm>
              <a:prstGeom prst="rect">
                <a:avLst/>
              </a:prstGeom>
              <a:solidFill>
                <a:srgbClr val="4FAC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 name="Google Shape;74;p14"/>
              <p:cNvSpPr txBox="1"/>
              <p:nvPr/>
            </p:nvSpPr>
            <p:spPr>
              <a:xfrm>
                <a:off x="142875" y="0"/>
                <a:ext cx="33339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00F2FE"/>
                    </a:solidFill>
                    <a:latin typeface="Roboto"/>
                    <a:ea typeface="Roboto"/>
                    <a:cs typeface="Roboto"/>
                    <a:sym typeface="Roboto"/>
                  </a:rPr>
                  <a:t>Backend</a:t>
                </a:r>
                <a:endParaRPr b="1" sz="1100">
                  <a:solidFill>
                    <a:srgbClr val="00F2FE"/>
                  </a:solidFill>
                  <a:latin typeface="Roboto"/>
                  <a:ea typeface="Roboto"/>
                  <a:cs typeface="Roboto"/>
                  <a:sym typeface="Roboto"/>
                </a:endParaRPr>
              </a:p>
            </p:txBody>
          </p:sp>
          <p:sp>
            <p:nvSpPr>
              <p:cNvPr id="75" name="Google Shape;75;p14"/>
              <p:cNvSpPr txBox="1"/>
              <p:nvPr/>
            </p:nvSpPr>
            <p:spPr>
              <a:xfrm>
                <a:off x="142875" y="190500"/>
                <a:ext cx="33339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200">
                    <a:solidFill>
                      <a:srgbClr val="FFFFFF"/>
                    </a:solidFill>
                    <a:latin typeface="Roboto Medium"/>
                    <a:ea typeface="Roboto Medium"/>
                    <a:cs typeface="Roboto Medium"/>
                    <a:sym typeface="Roboto Medium"/>
                  </a:rPr>
                  <a:t>Node.js, Express.js, EJS, Nodemon</a:t>
                </a:r>
                <a:endParaRPr b="0" sz="1200">
                  <a:solidFill>
                    <a:srgbClr val="FFFFFF"/>
                  </a:solidFill>
                  <a:latin typeface="Roboto Medium"/>
                  <a:ea typeface="Roboto Medium"/>
                  <a:cs typeface="Roboto Medium"/>
                  <a:sym typeface="Roboto Medium"/>
                </a:endParaRPr>
              </a:p>
            </p:txBody>
          </p:sp>
        </p:grpSp>
        <p:grpSp>
          <p:nvGrpSpPr>
            <p:cNvPr id="76" name="Google Shape;76;p14"/>
            <p:cNvGrpSpPr/>
            <p:nvPr/>
          </p:nvGrpSpPr>
          <p:grpSpPr>
            <a:xfrm>
              <a:off x="285750" y="1476375"/>
              <a:ext cx="3476775" cy="428700"/>
              <a:chOff x="0" y="0"/>
              <a:chExt cx="3476775" cy="428700"/>
            </a:xfrm>
          </p:grpSpPr>
          <p:sp>
            <p:nvSpPr>
              <p:cNvPr id="77" name="Google Shape;77;p14"/>
              <p:cNvSpPr/>
              <p:nvPr/>
            </p:nvSpPr>
            <p:spPr>
              <a:xfrm>
                <a:off x="0" y="0"/>
                <a:ext cx="38100" cy="381000"/>
              </a:xfrm>
              <a:prstGeom prst="rect">
                <a:avLst/>
              </a:prstGeom>
              <a:solidFill>
                <a:srgbClr val="00F2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 name="Google Shape;78;p14"/>
              <p:cNvSpPr txBox="1"/>
              <p:nvPr/>
            </p:nvSpPr>
            <p:spPr>
              <a:xfrm>
                <a:off x="142875" y="0"/>
                <a:ext cx="33339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00F2FE"/>
                    </a:solidFill>
                    <a:latin typeface="Roboto"/>
                    <a:ea typeface="Roboto"/>
                    <a:cs typeface="Roboto"/>
                    <a:sym typeface="Roboto"/>
                  </a:rPr>
                  <a:t>Database</a:t>
                </a:r>
                <a:endParaRPr b="1" sz="1100">
                  <a:solidFill>
                    <a:srgbClr val="00F2FE"/>
                  </a:solidFill>
                  <a:latin typeface="Roboto"/>
                  <a:ea typeface="Roboto"/>
                  <a:cs typeface="Roboto"/>
                  <a:sym typeface="Roboto"/>
                </a:endParaRPr>
              </a:p>
            </p:txBody>
          </p:sp>
          <p:sp>
            <p:nvSpPr>
              <p:cNvPr id="79" name="Google Shape;79;p14"/>
              <p:cNvSpPr txBox="1"/>
              <p:nvPr/>
            </p:nvSpPr>
            <p:spPr>
              <a:xfrm>
                <a:off x="142875" y="190500"/>
                <a:ext cx="33339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200">
                    <a:solidFill>
                      <a:srgbClr val="FFFFFF"/>
                    </a:solidFill>
                    <a:latin typeface="Roboto Medium"/>
                    <a:ea typeface="Roboto Medium"/>
                    <a:cs typeface="Roboto Medium"/>
                    <a:sym typeface="Roboto Medium"/>
                  </a:rPr>
                  <a:t>MongoDB, Mongoose</a:t>
                </a:r>
                <a:endParaRPr b="0" sz="1200">
                  <a:solidFill>
                    <a:srgbClr val="FFFFFF"/>
                  </a:solidFill>
                  <a:latin typeface="Roboto Medium"/>
                  <a:ea typeface="Roboto Medium"/>
                  <a:cs typeface="Roboto Medium"/>
                  <a:sym typeface="Roboto Medium"/>
                </a:endParaRPr>
              </a:p>
            </p:txBody>
          </p:sp>
        </p:grpSp>
        <p:grpSp>
          <p:nvGrpSpPr>
            <p:cNvPr id="80" name="Google Shape;80;p14"/>
            <p:cNvGrpSpPr/>
            <p:nvPr/>
          </p:nvGrpSpPr>
          <p:grpSpPr>
            <a:xfrm>
              <a:off x="285750" y="2095500"/>
              <a:ext cx="3476775" cy="428700"/>
              <a:chOff x="0" y="0"/>
              <a:chExt cx="3476775" cy="428700"/>
            </a:xfrm>
          </p:grpSpPr>
          <p:sp>
            <p:nvSpPr>
              <p:cNvPr id="81" name="Google Shape;81;p14"/>
              <p:cNvSpPr/>
              <p:nvPr/>
            </p:nvSpPr>
            <p:spPr>
              <a:xfrm>
                <a:off x="0" y="0"/>
                <a:ext cx="38100" cy="381000"/>
              </a:xfrm>
              <a:prstGeom prst="rect">
                <a:avLst/>
              </a:prstGeom>
              <a:solidFill>
                <a:srgbClr val="4FAC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 name="Google Shape;82;p14"/>
              <p:cNvSpPr txBox="1"/>
              <p:nvPr/>
            </p:nvSpPr>
            <p:spPr>
              <a:xfrm>
                <a:off x="142875" y="0"/>
                <a:ext cx="33339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00F2FE"/>
                    </a:solidFill>
                    <a:latin typeface="Roboto"/>
                    <a:ea typeface="Roboto"/>
                    <a:cs typeface="Roboto"/>
                    <a:sym typeface="Roboto"/>
                  </a:rPr>
                  <a:t>Other Tools</a:t>
                </a:r>
                <a:endParaRPr b="1" sz="1100">
                  <a:solidFill>
                    <a:srgbClr val="00F2FE"/>
                  </a:solidFill>
                  <a:latin typeface="Roboto"/>
                  <a:ea typeface="Roboto"/>
                  <a:cs typeface="Roboto"/>
                  <a:sym typeface="Roboto"/>
                </a:endParaRPr>
              </a:p>
            </p:txBody>
          </p:sp>
          <p:sp>
            <p:nvSpPr>
              <p:cNvPr id="83" name="Google Shape;83;p14"/>
              <p:cNvSpPr txBox="1"/>
              <p:nvPr/>
            </p:nvSpPr>
            <p:spPr>
              <a:xfrm>
                <a:off x="142875" y="190500"/>
                <a:ext cx="33339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200">
                    <a:solidFill>
                      <a:srgbClr val="FFFFFF"/>
                    </a:solidFill>
                    <a:latin typeface="Roboto Medium"/>
                    <a:ea typeface="Roboto Medium"/>
                    <a:cs typeface="Roboto Medium"/>
                    <a:sym typeface="Roboto Medium"/>
                  </a:rPr>
                  <a:t>POSTMAN, VS Code, .env</a:t>
                </a:r>
                <a:endParaRPr b="0" sz="1200">
                  <a:solidFill>
                    <a:srgbClr val="FFFFFF"/>
                  </a:solidFill>
                  <a:latin typeface="Roboto Medium"/>
                  <a:ea typeface="Roboto Medium"/>
                  <a:cs typeface="Roboto Medium"/>
                  <a:sym typeface="Roboto Medium"/>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7" name="Shape 87"/>
        <p:cNvGrpSpPr/>
        <p:nvPr/>
      </p:nvGrpSpPr>
      <p:grpSpPr>
        <a:xfrm>
          <a:off x="0" y="0"/>
          <a:ext cx="0" cy="0"/>
          <a:chOff x="0" y="0"/>
          <a:chExt cx="0" cy="0"/>
        </a:xfrm>
      </p:grpSpPr>
      <p:grpSp>
        <p:nvGrpSpPr>
          <p:cNvPr id="88" name="Google Shape;88;p15"/>
          <p:cNvGrpSpPr/>
          <p:nvPr/>
        </p:nvGrpSpPr>
        <p:grpSpPr>
          <a:xfrm>
            <a:off x="571500" y="381000"/>
            <a:ext cx="8001000" cy="742950"/>
            <a:chOff x="0" y="0"/>
            <a:chExt cx="8001000" cy="742950"/>
          </a:xfrm>
        </p:grpSpPr>
        <p:sp>
          <p:nvSpPr>
            <p:cNvPr id="89" name="Google Shape;89;p15"/>
            <p:cNvSpPr txBox="1"/>
            <p:nvPr/>
          </p:nvSpPr>
          <p:spPr>
            <a:xfrm>
              <a:off x="0" y="0"/>
              <a:ext cx="8001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75">
                  <a:solidFill>
                    <a:srgbClr val="00F2FE"/>
                  </a:solidFill>
                  <a:latin typeface="Roboto ExtraBold"/>
                  <a:ea typeface="Roboto ExtraBold"/>
                  <a:cs typeface="Roboto ExtraBold"/>
                  <a:sym typeface="Roboto ExtraBold"/>
                </a:rPr>
                <a:t>Budget Wise</a:t>
              </a:r>
              <a:endParaRPr b="0" sz="2775">
                <a:solidFill>
                  <a:srgbClr val="00F2FE"/>
                </a:solidFill>
                <a:latin typeface="Roboto ExtraBold"/>
                <a:ea typeface="Roboto ExtraBold"/>
                <a:cs typeface="Roboto ExtraBold"/>
                <a:sym typeface="Roboto ExtraBold"/>
              </a:endParaRPr>
            </a:p>
          </p:txBody>
        </p:sp>
        <p:sp>
          <p:nvSpPr>
            <p:cNvPr id="90" name="Google Shape;90;p15"/>
            <p:cNvSpPr txBox="1"/>
            <p:nvPr/>
          </p:nvSpPr>
          <p:spPr>
            <a:xfrm>
              <a:off x="0" y="428625"/>
              <a:ext cx="8001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295">
                  <a:solidFill>
                    <a:srgbClr val="E0E6ED"/>
                  </a:solidFill>
                  <a:latin typeface="Roboto"/>
                  <a:ea typeface="Roboto"/>
                  <a:cs typeface="Roboto"/>
                  <a:sym typeface="Roboto"/>
                </a:rPr>
                <a:t>Simplifying Personal Expense Lists &amp; Financial Tracking</a:t>
              </a:r>
              <a:endParaRPr b="0" sz="1295">
                <a:solidFill>
                  <a:srgbClr val="E0E6ED"/>
                </a:solidFill>
                <a:latin typeface="Roboto"/>
                <a:ea typeface="Roboto"/>
                <a:cs typeface="Roboto"/>
                <a:sym typeface="Roboto"/>
              </a:endParaRPr>
            </a:p>
          </p:txBody>
        </p:sp>
        <p:cxnSp>
          <p:nvCxnSpPr>
            <p:cNvPr id="91" name="Google Shape;91;p15"/>
            <p:cNvCxnSpPr/>
            <p:nvPr/>
          </p:nvCxnSpPr>
          <p:spPr>
            <a:xfrm>
              <a:off x="0" y="742950"/>
              <a:ext cx="1714500" cy="0"/>
            </a:xfrm>
            <a:prstGeom prst="straightConnector1">
              <a:avLst/>
            </a:prstGeom>
            <a:solidFill>
              <a:srgbClr val="FFFFFF"/>
            </a:solidFill>
            <a:ln cap="flat" cmpd="sng" w="28575">
              <a:solidFill>
                <a:srgbClr val="00F2FE"/>
              </a:solidFill>
              <a:prstDash val="solid"/>
              <a:round/>
              <a:headEnd len="sm" w="sm" type="none"/>
              <a:tailEnd len="sm" w="sm" type="none"/>
            </a:ln>
          </p:spPr>
        </p:cxnSp>
      </p:grpSp>
      <p:grpSp>
        <p:nvGrpSpPr>
          <p:cNvPr id="92" name="Google Shape;92;p15"/>
          <p:cNvGrpSpPr/>
          <p:nvPr/>
        </p:nvGrpSpPr>
        <p:grpSpPr>
          <a:xfrm>
            <a:off x="566738" y="1423988"/>
            <a:ext cx="3629100" cy="1438200"/>
            <a:chOff x="-4762" y="-4762"/>
            <a:chExt cx="3629100" cy="1438200"/>
          </a:xfrm>
        </p:grpSpPr>
        <p:pic>
          <p:nvPicPr>
            <p:cNvPr id="93" name="Google Shape;93;p15"/>
            <p:cNvPicPr preferRelativeResize="0"/>
            <p:nvPr/>
          </p:nvPicPr>
          <p:blipFill rotWithShape="1">
            <a:blip r:embed="rId4">
              <a:alphaModFix/>
            </a:blip>
            <a:srcRect b="0" l="0" r="0" t="0"/>
            <a:stretch/>
          </p:blipFill>
          <p:spPr>
            <a:xfrm>
              <a:off x="-4762" y="-4762"/>
              <a:ext cx="3629100" cy="1438200"/>
            </a:xfrm>
            <a:prstGeom prst="rect">
              <a:avLst/>
            </a:prstGeom>
            <a:noFill/>
            <a:ln>
              <a:noFill/>
            </a:ln>
          </p:spPr>
        </p:pic>
        <p:sp>
          <p:nvSpPr>
            <p:cNvPr id="94" name="Google Shape;94;p15"/>
            <p:cNvSpPr/>
            <p:nvPr/>
          </p:nvSpPr>
          <p:spPr>
            <a:xfrm>
              <a:off x="190500" y="190500"/>
              <a:ext cx="38100" cy="381000"/>
            </a:xfrm>
            <a:prstGeom prst="rect">
              <a:avLst/>
            </a:prstGeom>
            <a:solidFill>
              <a:srgbClr val="00F2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5"/>
            <p:cNvSpPr txBox="1"/>
            <p:nvPr/>
          </p:nvSpPr>
          <p:spPr>
            <a:xfrm>
              <a:off x="333375" y="152400"/>
              <a:ext cx="3048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95">
                  <a:solidFill>
                    <a:srgbClr val="00F2FE"/>
                  </a:solidFill>
                  <a:latin typeface="Roboto"/>
                  <a:ea typeface="Roboto"/>
                  <a:cs typeface="Roboto"/>
                  <a:sym typeface="Roboto"/>
                </a:rPr>
                <a:t>Introduction to BudgetWise</a:t>
              </a:r>
              <a:endParaRPr b="1" sz="1295">
                <a:solidFill>
                  <a:srgbClr val="00F2FE"/>
                </a:solidFill>
                <a:latin typeface="Roboto"/>
                <a:ea typeface="Roboto"/>
                <a:cs typeface="Roboto"/>
                <a:sym typeface="Roboto"/>
              </a:endParaRPr>
            </a:p>
            <a:p>
              <a:pPr indent="0" lvl="0" marL="0" rtl="0" algn="l">
                <a:spcBef>
                  <a:spcPts val="450"/>
                </a:spcBef>
                <a:spcAft>
                  <a:spcPts val="0"/>
                </a:spcAft>
                <a:buNone/>
              </a:pPr>
              <a:r>
                <a:rPr b="0" lang="en" sz="971">
                  <a:solidFill>
                    <a:srgbClr val="E0E6ED"/>
                  </a:solidFill>
                  <a:latin typeface="Roboto"/>
                  <a:ea typeface="Roboto"/>
                  <a:cs typeface="Roboto"/>
                  <a:sym typeface="Roboto"/>
                </a:rPr>
                <a:t>BudgetWise is a user-friendly web application designed to help individuals efficiently manage their daily expenses. It focuses on providing an accessible platform to track personal spending without hassle.</a:t>
              </a:r>
              <a:endParaRPr b="0" sz="971">
                <a:solidFill>
                  <a:srgbClr val="E0E6ED"/>
                </a:solidFill>
                <a:latin typeface="Roboto"/>
                <a:ea typeface="Roboto"/>
                <a:cs typeface="Roboto"/>
                <a:sym typeface="Roboto"/>
              </a:endParaRPr>
            </a:p>
          </p:txBody>
        </p:sp>
      </p:grpSp>
      <p:grpSp>
        <p:nvGrpSpPr>
          <p:cNvPr id="96" name="Google Shape;96;p15"/>
          <p:cNvGrpSpPr/>
          <p:nvPr/>
        </p:nvGrpSpPr>
        <p:grpSpPr>
          <a:xfrm>
            <a:off x="566738" y="3043238"/>
            <a:ext cx="3629100" cy="1628700"/>
            <a:chOff x="-4762" y="-4762"/>
            <a:chExt cx="3629100" cy="1628700"/>
          </a:xfrm>
        </p:grpSpPr>
        <p:pic>
          <p:nvPicPr>
            <p:cNvPr id="97" name="Google Shape;97;p15"/>
            <p:cNvPicPr preferRelativeResize="0"/>
            <p:nvPr/>
          </p:nvPicPr>
          <p:blipFill rotWithShape="1">
            <a:blip r:embed="rId5">
              <a:alphaModFix/>
            </a:blip>
            <a:srcRect b="0" l="0" r="0" t="0"/>
            <a:stretch/>
          </p:blipFill>
          <p:spPr>
            <a:xfrm>
              <a:off x="-4762" y="-4762"/>
              <a:ext cx="3629100" cy="1628700"/>
            </a:xfrm>
            <a:prstGeom prst="rect">
              <a:avLst/>
            </a:prstGeom>
            <a:noFill/>
            <a:ln>
              <a:noFill/>
            </a:ln>
          </p:spPr>
        </p:pic>
        <p:sp>
          <p:nvSpPr>
            <p:cNvPr id="98" name="Google Shape;98;p15"/>
            <p:cNvSpPr/>
            <p:nvPr/>
          </p:nvSpPr>
          <p:spPr>
            <a:xfrm>
              <a:off x="190500" y="190500"/>
              <a:ext cx="38100" cy="381000"/>
            </a:xfrm>
            <a:prstGeom prst="rect">
              <a:avLst/>
            </a:prstGeom>
            <a:solidFill>
              <a:srgbClr val="4FAC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 name="Google Shape;99;p15"/>
            <p:cNvSpPr txBox="1"/>
            <p:nvPr/>
          </p:nvSpPr>
          <p:spPr>
            <a:xfrm>
              <a:off x="333375" y="152400"/>
              <a:ext cx="30480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95">
                  <a:solidFill>
                    <a:srgbClr val="4FACFE"/>
                  </a:solidFill>
                  <a:latin typeface="Roboto"/>
                  <a:ea typeface="Roboto"/>
                  <a:cs typeface="Roboto"/>
                  <a:sym typeface="Roboto"/>
                </a:rPr>
                <a:t>Key Features &amp; Purpose</a:t>
              </a:r>
              <a:endParaRPr b="1" sz="1295">
                <a:solidFill>
                  <a:srgbClr val="4FACFE"/>
                </a:solidFill>
                <a:latin typeface="Roboto"/>
                <a:ea typeface="Roboto"/>
                <a:cs typeface="Roboto"/>
                <a:sym typeface="Roboto"/>
              </a:endParaRPr>
            </a:p>
            <a:p>
              <a:pPr indent="0" lvl="0" marL="0" rtl="0" algn="l">
                <a:spcBef>
                  <a:spcPts val="450"/>
                </a:spcBef>
                <a:spcAft>
                  <a:spcPts val="0"/>
                </a:spcAft>
                <a:buNone/>
              </a:pPr>
              <a:r>
                <a:rPr b="0" lang="en" sz="971">
                  <a:solidFill>
                    <a:srgbClr val="E0E6ED"/>
                  </a:solidFill>
                  <a:latin typeface="Roboto"/>
                  <a:ea typeface="Roboto"/>
                  <a:cs typeface="Roboto"/>
                  <a:sym typeface="Roboto"/>
                </a:rPr>
                <a:t>Users can add, view, edit, and delete entries with advanced search, filter, and export options.</a:t>
              </a:r>
              <a:endParaRPr b="0" sz="971">
                <a:solidFill>
                  <a:srgbClr val="E0E6ED"/>
                </a:solidFill>
                <a:latin typeface="Roboto"/>
                <a:ea typeface="Roboto"/>
                <a:cs typeface="Roboto"/>
                <a:sym typeface="Roboto"/>
              </a:endParaRPr>
            </a:p>
            <a:p>
              <a:pPr indent="0" lvl="0" marL="0" rtl="0" algn="l">
                <a:spcBef>
                  <a:spcPts val="450"/>
                </a:spcBef>
                <a:spcAft>
                  <a:spcPts val="0"/>
                </a:spcAft>
                <a:buNone/>
              </a:pPr>
              <a:r>
                <a:rPr b="0" lang="en" sz="971">
                  <a:solidFill>
                    <a:srgbClr val="E0E6ED"/>
                  </a:solidFill>
                  <a:latin typeface="Roboto"/>
                  <a:ea typeface="Roboto"/>
                  <a:cs typeface="Roboto"/>
                  <a:sym typeface="Roboto"/>
                </a:rPr>
                <a:t>The main goal is to simplify financial management and help users keep control of spending habits.</a:t>
              </a:r>
              <a:endParaRPr b="0" sz="971">
                <a:solidFill>
                  <a:srgbClr val="E0E6ED"/>
                </a:solidFill>
                <a:latin typeface="Roboto"/>
                <a:ea typeface="Roboto"/>
                <a:cs typeface="Roboto"/>
                <a:sym typeface="Roboto"/>
              </a:endParaRPr>
            </a:p>
          </p:txBody>
        </p:sp>
      </p:grpSp>
      <p:grpSp>
        <p:nvGrpSpPr>
          <p:cNvPr id="100" name="Google Shape;100;p15"/>
          <p:cNvGrpSpPr/>
          <p:nvPr/>
        </p:nvGrpSpPr>
        <p:grpSpPr>
          <a:xfrm>
            <a:off x="4471988" y="1423988"/>
            <a:ext cx="4105200" cy="1009800"/>
            <a:chOff x="-4762" y="-4762"/>
            <a:chExt cx="4105200" cy="1009800"/>
          </a:xfrm>
        </p:grpSpPr>
        <p:pic>
          <p:nvPicPr>
            <p:cNvPr id="101" name="Google Shape;101;p15"/>
            <p:cNvPicPr preferRelativeResize="0"/>
            <p:nvPr/>
          </p:nvPicPr>
          <p:blipFill rotWithShape="1">
            <a:blip r:embed="rId6">
              <a:alphaModFix/>
            </a:blip>
            <a:srcRect b="0" l="0" r="0" t="0"/>
            <a:stretch/>
          </p:blipFill>
          <p:spPr>
            <a:xfrm>
              <a:off x="-4762" y="-4762"/>
              <a:ext cx="4105200" cy="1009800"/>
            </a:xfrm>
            <a:prstGeom prst="rect">
              <a:avLst/>
            </a:prstGeom>
            <a:noFill/>
            <a:ln>
              <a:noFill/>
            </a:ln>
          </p:spPr>
        </p:pic>
        <p:sp>
          <p:nvSpPr>
            <p:cNvPr id="102" name="Google Shape;102;p15"/>
            <p:cNvSpPr txBox="1"/>
            <p:nvPr/>
          </p:nvSpPr>
          <p:spPr>
            <a:xfrm>
              <a:off x="238125" y="142875"/>
              <a:ext cx="8574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330">
                  <a:solidFill>
                    <a:srgbClr val="00F2FE"/>
                  </a:solidFill>
                  <a:latin typeface="Roboto ExtraBold"/>
                  <a:ea typeface="Roboto ExtraBold"/>
                  <a:cs typeface="Roboto ExtraBold"/>
                  <a:sym typeface="Roboto ExtraBold"/>
                </a:rPr>
                <a:t>95%</a:t>
              </a:r>
              <a:endParaRPr b="0" sz="3330">
                <a:solidFill>
                  <a:srgbClr val="00F2FE"/>
                </a:solidFill>
                <a:latin typeface="Roboto ExtraBold"/>
                <a:ea typeface="Roboto ExtraBold"/>
                <a:cs typeface="Roboto ExtraBold"/>
                <a:sym typeface="Roboto ExtraBold"/>
              </a:endParaRPr>
            </a:p>
            <a:p>
              <a:pPr indent="0" lvl="0" marL="0" rtl="0" algn="l">
                <a:spcBef>
                  <a:spcPts val="0"/>
                </a:spcBef>
                <a:spcAft>
                  <a:spcPts val="0"/>
                </a:spcAft>
                <a:buNone/>
              </a:pPr>
              <a:r>
                <a:rPr b="1" lang="en" sz="1018">
                  <a:solidFill>
                    <a:srgbClr val="00F2FE"/>
                  </a:solidFill>
                  <a:latin typeface="Roboto"/>
                  <a:ea typeface="Roboto"/>
                  <a:cs typeface="Roboto"/>
                  <a:sym typeface="Roboto"/>
                </a:rPr>
                <a:t>Accuracy</a:t>
              </a:r>
              <a:endParaRPr b="1" sz="1018">
                <a:solidFill>
                  <a:srgbClr val="00F2FE"/>
                </a:solidFill>
                <a:latin typeface="Roboto"/>
                <a:ea typeface="Roboto"/>
                <a:cs typeface="Roboto"/>
                <a:sym typeface="Roboto"/>
              </a:endParaRPr>
            </a:p>
          </p:txBody>
        </p:sp>
        <p:sp>
          <p:nvSpPr>
            <p:cNvPr id="103" name="Google Shape;103;p15"/>
            <p:cNvSpPr txBox="1"/>
            <p:nvPr/>
          </p:nvSpPr>
          <p:spPr>
            <a:xfrm>
              <a:off x="1285875" y="142875"/>
              <a:ext cx="25719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95">
                  <a:solidFill>
                    <a:srgbClr val="FFFFFF"/>
                  </a:solidFill>
                  <a:latin typeface="Roboto"/>
                  <a:ea typeface="Roboto"/>
                  <a:cs typeface="Roboto"/>
                  <a:sym typeface="Roboto"/>
                </a:rPr>
                <a:t>Expense Lists Effectiveness</a:t>
              </a:r>
              <a:endParaRPr b="1" sz="1295">
                <a:solidFill>
                  <a:srgbClr val="FFFFFF"/>
                </a:solidFill>
                <a:latin typeface="Roboto"/>
                <a:ea typeface="Roboto"/>
                <a:cs typeface="Roboto"/>
                <a:sym typeface="Roboto"/>
              </a:endParaRPr>
            </a:p>
            <a:p>
              <a:pPr indent="0" lvl="0" marL="0" rtl="0" algn="l">
                <a:spcBef>
                  <a:spcPts val="300"/>
                </a:spcBef>
                <a:spcAft>
                  <a:spcPts val="0"/>
                </a:spcAft>
                <a:buNone/>
              </a:pPr>
              <a:r>
                <a:rPr b="0" lang="en" sz="971">
                  <a:solidFill>
                    <a:srgbClr val="A0AEC0"/>
                  </a:solidFill>
                  <a:latin typeface="Roboto"/>
                  <a:ea typeface="Roboto"/>
                  <a:cs typeface="Roboto"/>
                  <a:sym typeface="Roboto"/>
                </a:rPr>
                <a:t>95% of users report improved tracking accuracy due to search and filter functions.</a:t>
              </a:r>
              <a:endParaRPr b="0" sz="971">
                <a:solidFill>
                  <a:srgbClr val="A0AEC0"/>
                </a:solidFill>
                <a:latin typeface="Roboto"/>
                <a:ea typeface="Roboto"/>
                <a:cs typeface="Roboto"/>
                <a:sym typeface="Roboto"/>
              </a:endParaRPr>
            </a:p>
          </p:txBody>
        </p:sp>
      </p:grpSp>
      <p:grpSp>
        <p:nvGrpSpPr>
          <p:cNvPr id="104" name="Google Shape;104;p15"/>
          <p:cNvGrpSpPr/>
          <p:nvPr/>
        </p:nvGrpSpPr>
        <p:grpSpPr>
          <a:xfrm>
            <a:off x="4471988" y="2566988"/>
            <a:ext cx="4105200" cy="1009800"/>
            <a:chOff x="-4762" y="-4762"/>
            <a:chExt cx="4105200" cy="1009800"/>
          </a:xfrm>
        </p:grpSpPr>
        <p:pic>
          <p:nvPicPr>
            <p:cNvPr id="105" name="Google Shape;105;p15"/>
            <p:cNvPicPr preferRelativeResize="0"/>
            <p:nvPr/>
          </p:nvPicPr>
          <p:blipFill rotWithShape="1">
            <a:blip r:embed="rId6">
              <a:alphaModFix/>
            </a:blip>
            <a:srcRect b="0" l="0" r="0" t="0"/>
            <a:stretch/>
          </p:blipFill>
          <p:spPr>
            <a:xfrm>
              <a:off x="-4762" y="-4762"/>
              <a:ext cx="4105200" cy="1009800"/>
            </a:xfrm>
            <a:prstGeom prst="rect">
              <a:avLst/>
            </a:prstGeom>
            <a:noFill/>
            <a:ln>
              <a:noFill/>
            </a:ln>
          </p:spPr>
        </p:pic>
        <p:sp>
          <p:nvSpPr>
            <p:cNvPr id="106" name="Google Shape;106;p15"/>
            <p:cNvSpPr txBox="1"/>
            <p:nvPr/>
          </p:nvSpPr>
          <p:spPr>
            <a:xfrm>
              <a:off x="238125" y="142875"/>
              <a:ext cx="8574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330">
                  <a:solidFill>
                    <a:srgbClr val="4FACFE"/>
                  </a:solidFill>
                  <a:latin typeface="Roboto ExtraBold"/>
                  <a:ea typeface="Roboto ExtraBold"/>
                  <a:cs typeface="Roboto ExtraBold"/>
                  <a:sym typeface="Roboto ExtraBold"/>
                </a:rPr>
                <a:t>89%</a:t>
              </a:r>
              <a:endParaRPr b="0" sz="3330">
                <a:solidFill>
                  <a:srgbClr val="4FACFE"/>
                </a:solidFill>
                <a:latin typeface="Roboto ExtraBold"/>
                <a:ea typeface="Roboto ExtraBold"/>
                <a:cs typeface="Roboto ExtraBold"/>
                <a:sym typeface="Roboto ExtraBold"/>
              </a:endParaRPr>
            </a:p>
            <a:p>
              <a:pPr indent="0" lvl="0" marL="0" rtl="0" algn="l">
                <a:spcBef>
                  <a:spcPts val="0"/>
                </a:spcBef>
                <a:spcAft>
                  <a:spcPts val="0"/>
                </a:spcAft>
                <a:buNone/>
              </a:pPr>
              <a:r>
                <a:rPr b="1" lang="en" sz="1018">
                  <a:solidFill>
                    <a:srgbClr val="4FACFE"/>
                  </a:solidFill>
                  <a:latin typeface="Roboto"/>
                  <a:ea typeface="Roboto"/>
                  <a:cs typeface="Roboto"/>
                  <a:sym typeface="Roboto"/>
                </a:rPr>
                <a:t>Adoption</a:t>
              </a:r>
              <a:endParaRPr b="1" sz="1018">
                <a:solidFill>
                  <a:srgbClr val="4FACFE"/>
                </a:solidFill>
                <a:latin typeface="Roboto"/>
                <a:ea typeface="Roboto"/>
                <a:cs typeface="Roboto"/>
                <a:sym typeface="Roboto"/>
              </a:endParaRPr>
            </a:p>
          </p:txBody>
        </p:sp>
        <p:sp>
          <p:nvSpPr>
            <p:cNvPr id="107" name="Google Shape;107;p15"/>
            <p:cNvSpPr txBox="1"/>
            <p:nvPr/>
          </p:nvSpPr>
          <p:spPr>
            <a:xfrm>
              <a:off x="1285875" y="142875"/>
              <a:ext cx="25719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95">
                  <a:solidFill>
                    <a:srgbClr val="FFFFFF"/>
                  </a:solidFill>
                  <a:latin typeface="Roboto"/>
                  <a:ea typeface="Roboto"/>
                  <a:cs typeface="Roboto"/>
                  <a:sym typeface="Roboto"/>
                </a:rPr>
                <a:t>Convenience &amp; Offline Analysis</a:t>
              </a:r>
              <a:endParaRPr b="1" sz="1295">
                <a:solidFill>
                  <a:srgbClr val="FFFFFF"/>
                </a:solidFill>
                <a:latin typeface="Roboto"/>
                <a:ea typeface="Roboto"/>
                <a:cs typeface="Roboto"/>
                <a:sym typeface="Roboto"/>
              </a:endParaRPr>
            </a:p>
            <a:p>
              <a:pPr indent="0" lvl="0" marL="0" rtl="0" algn="l">
                <a:spcBef>
                  <a:spcPts val="300"/>
                </a:spcBef>
                <a:spcAft>
                  <a:spcPts val="0"/>
                </a:spcAft>
                <a:buNone/>
              </a:pPr>
              <a:r>
                <a:rPr b="0" lang="en" sz="971">
                  <a:solidFill>
                    <a:srgbClr val="A0AEC0"/>
                  </a:solidFill>
                  <a:latin typeface="Roboto"/>
                  <a:ea typeface="Roboto"/>
                  <a:cs typeface="Roboto"/>
                  <a:sym typeface="Roboto"/>
                </a:rPr>
                <a:t>About 89% of users frequently use export options to analyze their expenses offline.</a:t>
              </a:r>
              <a:endParaRPr b="0" sz="971">
                <a:solidFill>
                  <a:srgbClr val="A0AEC0"/>
                </a:solidFill>
                <a:latin typeface="Roboto"/>
                <a:ea typeface="Roboto"/>
                <a:cs typeface="Roboto"/>
                <a:sym typeface="Roboto"/>
              </a:endParaRPr>
            </a:p>
          </p:txBody>
        </p:sp>
      </p:grpSp>
      <p:grpSp>
        <p:nvGrpSpPr>
          <p:cNvPr id="108" name="Google Shape;108;p15"/>
          <p:cNvGrpSpPr/>
          <p:nvPr/>
        </p:nvGrpSpPr>
        <p:grpSpPr>
          <a:xfrm>
            <a:off x="4471988" y="3709988"/>
            <a:ext cx="4105200" cy="962100"/>
            <a:chOff x="-4762" y="-4762"/>
            <a:chExt cx="4105200" cy="962100"/>
          </a:xfrm>
        </p:grpSpPr>
        <p:pic>
          <p:nvPicPr>
            <p:cNvPr id="109" name="Google Shape;109;p15"/>
            <p:cNvPicPr preferRelativeResize="0"/>
            <p:nvPr/>
          </p:nvPicPr>
          <p:blipFill rotWithShape="1">
            <a:blip r:embed="rId7">
              <a:alphaModFix/>
            </a:blip>
            <a:srcRect b="0" l="0" r="0" t="0"/>
            <a:stretch/>
          </p:blipFill>
          <p:spPr>
            <a:xfrm>
              <a:off x="-4762" y="-4762"/>
              <a:ext cx="4105200" cy="962100"/>
            </a:xfrm>
            <a:prstGeom prst="rect">
              <a:avLst/>
            </a:prstGeom>
            <a:noFill/>
            <a:ln>
              <a:noFill/>
            </a:ln>
          </p:spPr>
        </p:pic>
        <p:sp>
          <p:nvSpPr>
            <p:cNvPr id="110" name="Google Shape;110;p15"/>
            <p:cNvSpPr txBox="1"/>
            <p:nvPr/>
          </p:nvSpPr>
          <p:spPr>
            <a:xfrm>
              <a:off x="238125" y="114300"/>
              <a:ext cx="8574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330">
                  <a:solidFill>
                    <a:srgbClr val="00F2FE"/>
                  </a:solidFill>
                  <a:latin typeface="Roboto ExtraBold"/>
                  <a:ea typeface="Roboto ExtraBold"/>
                  <a:cs typeface="Roboto ExtraBold"/>
                  <a:sym typeface="Roboto ExtraBold"/>
                </a:rPr>
                <a:t>75%</a:t>
              </a:r>
              <a:endParaRPr b="0" sz="3330">
                <a:solidFill>
                  <a:srgbClr val="00F2FE"/>
                </a:solidFill>
                <a:latin typeface="Roboto ExtraBold"/>
                <a:ea typeface="Roboto ExtraBold"/>
                <a:cs typeface="Roboto ExtraBold"/>
                <a:sym typeface="Roboto ExtraBold"/>
              </a:endParaRPr>
            </a:p>
            <a:p>
              <a:pPr indent="0" lvl="0" marL="0" rtl="0" algn="l">
                <a:spcBef>
                  <a:spcPts val="0"/>
                </a:spcBef>
                <a:spcAft>
                  <a:spcPts val="0"/>
                </a:spcAft>
                <a:buNone/>
              </a:pPr>
              <a:r>
                <a:rPr b="1" lang="en" sz="1018">
                  <a:solidFill>
                    <a:srgbClr val="00F2FE"/>
                  </a:solidFill>
                  <a:latin typeface="Roboto"/>
                  <a:ea typeface="Roboto"/>
                  <a:cs typeface="Roboto"/>
                  <a:sym typeface="Roboto"/>
                </a:rPr>
                <a:t>Control</a:t>
              </a:r>
              <a:endParaRPr b="1" sz="1018">
                <a:solidFill>
                  <a:srgbClr val="00F2FE"/>
                </a:solidFill>
                <a:latin typeface="Roboto"/>
                <a:ea typeface="Roboto"/>
                <a:cs typeface="Roboto"/>
                <a:sym typeface="Roboto"/>
              </a:endParaRPr>
            </a:p>
          </p:txBody>
        </p:sp>
        <p:sp>
          <p:nvSpPr>
            <p:cNvPr id="111" name="Google Shape;111;p15"/>
            <p:cNvSpPr txBox="1"/>
            <p:nvPr/>
          </p:nvSpPr>
          <p:spPr>
            <a:xfrm>
              <a:off x="1285875" y="114300"/>
              <a:ext cx="25719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95">
                  <a:solidFill>
                    <a:srgbClr val="FFFFFF"/>
                  </a:solidFill>
                  <a:latin typeface="Roboto"/>
                  <a:ea typeface="Roboto"/>
                  <a:cs typeface="Roboto"/>
                  <a:sym typeface="Roboto"/>
                </a:rPr>
                <a:t>Habit Transformation</a:t>
              </a:r>
              <a:endParaRPr b="1" sz="1295">
                <a:solidFill>
                  <a:srgbClr val="FFFFFF"/>
                </a:solidFill>
                <a:latin typeface="Roboto"/>
                <a:ea typeface="Roboto"/>
                <a:cs typeface="Roboto"/>
                <a:sym typeface="Roboto"/>
              </a:endParaRPr>
            </a:p>
            <a:p>
              <a:pPr indent="0" lvl="0" marL="0" rtl="0" algn="l">
                <a:spcBef>
                  <a:spcPts val="300"/>
                </a:spcBef>
                <a:spcAft>
                  <a:spcPts val="0"/>
                </a:spcAft>
                <a:buNone/>
              </a:pPr>
              <a:r>
                <a:rPr b="0" lang="en" sz="971">
                  <a:solidFill>
                    <a:srgbClr val="A0AEC0"/>
                  </a:solidFill>
                  <a:latin typeface="Roboto"/>
                  <a:ea typeface="Roboto"/>
                  <a:cs typeface="Roboto"/>
                  <a:sym typeface="Roboto"/>
                </a:rPr>
                <a:t>75% of users indicate BudgetWise helps them better understand and control daily expenses.</a:t>
              </a:r>
              <a:endParaRPr b="0" sz="971">
                <a:solidFill>
                  <a:srgbClr val="A0AEC0"/>
                </a:solidFill>
                <a:latin typeface="Roboto"/>
                <a:ea typeface="Roboto"/>
                <a:cs typeface="Roboto"/>
                <a:sym typeface="Roboto"/>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1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17" name="Google Shape;117;p16"/>
          <p:cNvSpPr txBox="1"/>
          <p:nvPr/>
        </p:nvSpPr>
        <p:spPr>
          <a:xfrm>
            <a:off x="571500" y="381000"/>
            <a:ext cx="8001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590">
                <a:solidFill>
                  <a:srgbClr val="00F2FE"/>
                </a:solidFill>
                <a:latin typeface="Roboto ExtraBold"/>
                <a:ea typeface="Roboto ExtraBold"/>
                <a:cs typeface="Roboto ExtraBold"/>
                <a:sym typeface="Roboto ExtraBold"/>
              </a:rPr>
              <a:t>Simplifying Expense Tracking with Digital Solutions</a:t>
            </a:r>
            <a:endParaRPr b="0" sz="2590">
              <a:solidFill>
                <a:srgbClr val="00F2FE"/>
              </a:solidFill>
              <a:latin typeface="Roboto ExtraBold"/>
              <a:ea typeface="Roboto ExtraBold"/>
              <a:cs typeface="Roboto ExtraBold"/>
              <a:sym typeface="Roboto ExtraBold"/>
            </a:endParaRPr>
          </a:p>
        </p:txBody>
      </p:sp>
      <p:grpSp>
        <p:nvGrpSpPr>
          <p:cNvPr id="118" name="Google Shape;118;p16"/>
          <p:cNvGrpSpPr/>
          <p:nvPr/>
        </p:nvGrpSpPr>
        <p:grpSpPr>
          <a:xfrm>
            <a:off x="2609850" y="1276350"/>
            <a:ext cx="3924300" cy="2971800"/>
            <a:chOff x="2609850" y="1276350"/>
            <a:chExt cx="3924300" cy="2971800"/>
          </a:xfrm>
        </p:grpSpPr>
        <p:pic>
          <p:nvPicPr>
            <p:cNvPr id="119" name="Google Shape;119;p16"/>
            <p:cNvPicPr preferRelativeResize="0"/>
            <p:nvPr/>
          </p:nvPicPr>
          <p:blipFill rotWithShape="1">
            <a:blip r:embed="rId4">
              <a:alphaModFix/>
            </a:blip>
            <a:srcRect b="0" l="0" r="0" t="0"/>
            <a:stretch/>
          </p:blipFill>
          <p:spPr>
            <a:xfrm>
              <a:off x="4514850" y="1276350"/>
              <a:ext cx="114300" cy="2971800"/>
            </a:xfrm>
            <a:prstGeom prst="rect">
              <a:avLst/>
            </a:prstGeom>
            <a:noFill/>
            <a:ln>
              <a:noFill/>
            </a:ln>
          </p:spPr>
        </p:pic>
        <p:pic>
          <p:nvPicPr>
            <p:cNvPr id="120" name="Google Shape;120;p16"/>
            <p:cNvPicPr preferRelativeResize="0"/>
            <p:nvPr/>
          </p:nvPicPr>
          <p:blipFill rotWithShape="1">
            <a:blip r:embed="rId5">
              <a:alphaModFix/>
            </a:blip>
            <a:srcRect b="0" l="0" r="0" t="0"/>
            <a:stretch/>
          </p:blipFill>
          <p:spPr>
            <a:xfrm>
              <a:off x="2609850" y="2705100"/>
              <a:ext cx="3924300" cy="114300"/>
            </a:xfrm>
            <a:prstGeom prst="rect">
              <a:avLst/>
            </a:prstGeom>
            <a:noFill/>
            <a:ln>
              <a:noFill/>
            </a:ln>
          </p:spPr>
        </p:pic>
      </p:grpSp>
      <p:grpSp>
        <p:nvGrpSpPr>
          <p:cNvPr id="121" name="Google Shape;121;p16"/>
          <p:cNvGrpSpPr/>
          <p:nvPr/>
        </p:nvGrpSpPr>
        <p:grpSpPr>
          <a:xfrm>
            <a:off x="952500" y="1000125"/>
            <a:ext cx="7239000" cy="3524400"/>
            <a:chOff x="952500" y="1000125"/>
            <a:chExt cx="7239000" cy="3524400"/>
          </a:xfrm>
        </p:grpSpPr>
        <p:sp>
          <p:nvSpPr>
            <p:cNvPr id="122" name="Google Shape;122;p16"/>
            <p:cNvSpPr txBox="1"/>
            <p:nvPr/>
          </p:nvSpPr>
          <p:spPr>
            <a:xfrm>
              <a:off x="3619500" y="1000125"/>
              <a:ext cx="1905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E0E6ED"/>
                  </a:solidFill>
                  <a:latin typeface="Roboto"/>
                  <a:ea typeface="Roboto"/>
                  <a:cs typeface="Roboto"/>
                  <a:sym typeface="Roboto"/>
                </a:rPr>
                <a:t>Many Challenges</a:t>
              </a:r>
              <a:endParaRPr b="1" sz="1200">
                <a:solidFill>
                  <a:srgbClr val="E0E6ED"/>
                </a:solidFill>
                <a:latin typeface="Roboto"/>
                <a:ea typeface="Roboto"/>
                <a:cs typeface="Roboto"/>
                <a:sym typeface="Roboto"/>
              </a:endParaRPr>
            </a:p>
          </p:txBody>
        </p:sp>
        <p:sp>
          <p:nvSpPr>
            <p:cNvPr id="123" name="Google Shape;123;p16"/>
            <p:cNvSpPr txBox="1"/>
            <p:nvPr/>
          </p:nvSpPr>
          <p:spPr>
            <a:xfrm>
              <a:off x="3619500" y="4238625"/>
              <a:ext cx="1905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E0E6ED"/>
                  </a:solidFill>
                  <a:latin typeface="Roboto"/>
                  <a:ea typeface="Roboto"/>
                  <a:cs typeface="Roboto"/>
                  <a:sym typeface="Roboto"/>
                </a:rPr>
                <a:t>Easy Management</a:t>
              </a:r>
              <a:endParaRPr b="1" sz="1200">
                <a:solidFill>
                  <a:srgbClr val="E0E6ED"/>
                </a:solidFill>
                <a:latin typeface="Roboto"/>
                <a:ea typeface="Roboto"/>
                <a:cs typeface="Roboto"/>
                <a:sym typeface="Roboto"/>
              </a:endParaRPr>
            </a:p>
          </p:txBody>
        </p:sp>
        <p:sp>
          <p:nvSpPr>
            <p:cNvPr id="124" name="Google Shape;124;p16"/>
            <p:cNvSpPr txBox="1"/>
            <p:nvPr/>
          </p:nvSpPr>
          <p:spPr>
            <a:xfrm>
              <a:off x="952500" y="2619375"/>
              <a:ext cx="1524000" cy="285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en" sz="1200">
                  <a:solidFill>
                    <a:srgbClr val="E0E6ED"/>
                  </a:solidFill>
                  <a:latin typeface="Roboto"/>
                  <a:ea typeface="Roboto"/>
                  <a:cs typeface="Roboto"/>
                  <a:sym typeface="Roboto"/>
                </a:rPr>
                <a:t>New Solutions</a:t>
              </a:r>
              <a:endParaRPr b="1" sz="1200">
                <a:solidFill>
                  <a:srgbClr val="E0E6ED"/>
                </a:solidFill>
                <a:latin typeface="Roboto"/>
                <a:ea typeface="Roboto"/>
                <a:cs typeface="Roboto"/>
                <a:sym typeface="Roboto"/>
              </a:endParaRPr>
            </a:p>
          </p:txBody>
        </p:sp>
        <p:sp>
          <p:nvSpPr>
            <p:cNvPr id="125" name="Google Shape;125;p16"/>
            <p:cNvSpPr txBox="1"/>
            <p:nvPr/>
          </p:nvSpPr>
          <p:spPr>
            <a:xfrm>
              <a:off x="6667500" y="2619375"/>
              <a:ext cx="1524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E0E6ED"/>
                  </a:solidFill>
                  <a:latin typeface="Roboto"/>
                  <a:ea typeface="Roboto"/>
                  <a:cs typeface="Roboto"/>
                  <a:sym typeface="Roboto"/>
                </a:rPr>
                <a:t>Old Methods</a:t>
              </a:r>
              <a:endParaRPr b="1" sz="1200">
                <a:solidFill>
                  <a:srgbClr val="E0E6ED"/>
                </a:solidFill>
                <a:latin typeface="Roboto"/>
                <a:ea typeface="Roboto"/>
                <a:cs typeface="Roboto"/>
                <a:sym typeface="Roboto"/>
              </a:endParaRPr>
            </a:p>
          </p:txBody>
        </p:sp>
      </p:grpSp>
      <p:grpSp>
        <p:nvGrpSpPr>
          <p:cNvPr id="126" name="Google Shape;126;p16"/>
          <p:cNvGrpSpPr/>
          <p:nvPr/>
        </p:nvGrpSpPr>
        <p:grpSpPr>
          <a:xfrm>
            <a:off x="1333500" y="1428750"/>
            <a:ext cx="2667000" cy="1143000"/>
            <a:chOff x="1333500" y="1428750"/>
            <a:chExt cx="2667000" cy="1143000"/>
          </a:xfrm>
        </p:grpSpPr>
        <p:sp>
          <p:nvSpPr>
            <p:cNvPr id="127" name="Google Shape;127;p16"/>
            <p:cNvSpPr/>
            <p:nvPr/>
          </p:nvSpPr>
          <p:spPr>
            <a:xfrm>
              <a:off x="1333500" y="1428750"/>
              <a:ext cx="2667000" cy="1143000"/>
            </a:xfrm>
            <a:prstGeom prst="roundRect">
              <a:avLst>
                <a:gd fmla="val 10000" name="adj"/>
              </a:avLst>
            </a:prstGeom>
            <a:solidFill>
              <a:srgbClr val="1A2638">
                <a:alpha val="80000"/>
              </a:srgbClr>
            </a:solidFill>
            <a:ln cap="flat" cmpd="sng" w="9525">
              <a:solidFill>
                <a:srgbClr val="00F2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16"/>
            <p:cNvSpPr/>
            <p:nvPr/>
          </p:nvSpPr>
          <p:spPr>
            <a:xfrm>
              <a:off x="1562100" y="1609725"/>
              <a:ext cx="304800" cy="304800"/>
            </a:xfrm>
            <a:prstGeom prst="ellipse">
              <a:avLst/>
            </a:prstGeom>
            <a:solidFill>
              <a:srgbClr val="00F2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 name="Google Shape;129;p16"/>
            <p:cNvSpPr txBox="1"/>
            <p:nvPr/>
          </p:nvSpPr>
          <p:spPr>
            <a:xfrm>
              <a:off x="2000250" y="1571625"/>
              <a:ext cx="18096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00F2FE"/>
                  </a:solidFill>
                  <a:latin typeface="Roboto"/>
                  <a:ea typeface="Roboto"/>
                  <a:cs typeface="Roboto"/>
                  <a:sym typeface="Roboto"/>
                </a:rPr>
                <a:t>Overcome Challenges</a:t>
              </a:r>
              <a:endParaRPr b="1" sz="1200">
                <a:solidFill>
                  <a:srgbClr val="00F2FE"/>
                </a:solidFill>
                <a:latin typeface="Roboto"/>
                <a:ea typeface="Roboto"/>
                <a:cs typeface="Roboto"/>
                <a:sym typeface="Roboto"/>
              </a:endParaRPr>
            </a:p>
            <a:p>
              <a:pPr indent="0" lvl="0" marL="0" rtl="0" algn="l">
                <a:spcBef>
                  <a:spcPts val="450"/>
                </a:spcBef>
                <a:spcAft>
                  <a:spcPts val="0"/>
                </a:spcAft>
                <a:buNone/>
              </a:pPr>
              <a:r>
                <a:rPr b="0" lang="en" sz="1050">
                  <a:solidFill>
                    <a:srgbClr val="FFFFFF"/>
                  </a:solidFill>
                  <a:latin typeface="Roboto"/>
                  <a:ea typeface="Roboto"/>
                  <a:cs typeface="Roboto"/>
                  <a:sym typeface="Roboto"/>
                </a:rPr>
                <a:t>Overcome traditional expense tracking issues with robust digital alternatives.</a:t>
              </a:r>
              <a:endParaRPr b="0" sz="1050">
                <a:solidFill>
                  <a:srgbClr val="FFFFFF"/>
                </a:solidFill>
                <a:latin typeface="Roboto"/>
                <a:ea typeface="Roboto"/>
                <a:cs typeface="Roboto"/>
                <a:sym typeface="Roboto"/>
              </a:endParaRPr>
            </a:p>
          </p:txBody>
        </p:sp>
      </p:grpSp>
      <p:grpSp>
        <p:nvGrpSpPr>
          <p:cNvPr id="130" name="Google Shape;130;p16"/>
          <p:cNvGrpSpPr/>
          <p:nvPr/>
        </p:nvGrpSpPr>
        <p:grpSpPr>
          <a:xfrm>
            <a:off x="5143500" y="1428750"/>
            <a:ext cx="2667000" cy="1143000"/>
            <a:chOff x="5143500" y="1428750"/>
            <a:chExt cx="2667000" cy="1143000"/>
          </a:xfrm>
        </p:grpSpPr>
        <p:sp>
          <p:nvSpPr>
            <p:cNvPr id="131" name="Google Shape;131;p16"/>
            <p:cNvSpPr/>
            <p:nvPr/>
          </p:nvSpPr>
          <p:spPr>
            <a:xfrm>
              <a:off x="5143500" y="1428750"/>
              <a:ext cx="2667000" cy="1143000"/>
            </a:xfrm>
            <a:prstGeom prst="roundRect">
              <a:avLst>
                <a:gd fmla="val 10000" name="adj"/>
              </a:avLst>
            </a:prstGeom>
            <a:solidFill>
              <a:srgbClr val="1A2638">
                <a:alpha val="80000"/>
              </a:srgbClr>
            </a:solidFill>
            <a:ln cap="flat" cmpd="sng" w="9525">
              <a:solidFill>
                <a:srgbClr val="4FAC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16"/>
            <p:cNvSpPr/>
            <p:nvPr/>
          </p:nvSpPr>
          <p:spPr>
            <a:xfrm>
              <a:off x="5372100" y="1609725"/>
              <a:ext cx="304800" cy="304800"/>
            </a:xfrm>
            <a:prstGeom prst="ellipse">
              <a:avLst/>
            </a:prstGeom>
            <a:solidFill>
              <a:srgbClr val="4FAC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6"/>
            <p:cNvSpPr txBox="1"/>
            <p:nvPr/>
          </p:nvSpPr>
          <p:spPr>
            <a:xfrm>
              <a:off x="5810250" y="1571625"/>
              <a:ext cx="18096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4FACFE"/>
                  </a:solidFill>
                  <a:latin typeface="Roboto"/>
                  <a:ea typeface="Roboto"/>
                  <a:cs typeface="Roboto"/>
                  <a:sym typeface="Roboto"/>
                </a:rPr>
                <a:t>Traditional Methods</a:t>
              </a:r>
              <a:endParaRPr b="1" sz="1200">
                <a:solidFill>
                  <a:srgbClr val="4FACFE"/>
                </a:solidFill>
                <a:latin typeface="Roboto"/>
                <a:ea typeface="Roboto"/>
                <a:cs typeface="Roboto"/>
                <a:sym typeface="Roboto"/>
              </a:endParaRPr>
            </a:p>
            <a:p>
              <a:pPr indent="0" lvl="0" marL="0" rtl="0" algn="l">
                <a:spcBef>
                  <a:spcPts val="450"/>
                </a:spcBef>
                <a:spcAft>
                  <a:spcPts val="0"/>
                </a:spcAft>
                <a:buNone/>
              </a:pPr>
              <a:r>
                <a:rPr b="0" lang="en" sz="1050">
                  <a:solidFill>
                    <a:srgbClr val="FFFFFF"/>
                  </a:solidFill>
                  <a:latin typeface="Roboto"/>
                  <a:ea typeface="Roboto"/>
                  <a:cs typeface="Roboto"/>
                  <a:sym typeface="Roboto"/>
                </a:rPr>
                <a:t>Manual and paper-based processes bring numerous organizational challenges.</a:t>
              </a:r>
              <a:endParaRPr b="0" sz="1050">
                <a:solidFill>
                  <a:srgbClr val="FFFFFF"/>
                </a:solidFill>
                <a:latin typeface="Roboto"/>
                <a:ea typeface="Roboto"/>
                <a:cs typeface="Roboto"/>
                <a:sym typeface="Roboto"/>
              </a:endParaRPr>
            </a:p>
          </p:txBody>
        </p:sp>
      </p:grpSp>
      <p:grpSp>
        <p:nvGrpSpPr>
          <p:cNvPr id="134" name="Google Shape;134;p16"/>
          <p:cNvGrpSpPr/>
          <p:nvPr/>
        </p:nvGrpSpPr>
        <p:grpSpPr>
          <a:xfrm>
            <a:off x="1333500" y="2952750"/>
            <a:ext cx="2667000" cy="1143000"/>
            <a:chOff x="1333500" y="2952750"/>
            <a:chExt cx="2667000" cy="1143000"/>
          </a:xfrm>
        </p:grpSpPr>
        <p:sp>
          <p:nvSpPr>
            <p:cNvPr id="135" name="Google Shape;135;p16"/>
            <p:cNvSpPr/>
            <p:nvPr/>
          </p:nvSpPr>
          <p:spPr>
            <a:xfrm>
              <a:off x="1333500" y="2952750"/>
              <a:ext cx="2667000" cy="1143000"/>
            </a:xfrm>
            <a:prstGeom prst="roundRect">
              <a:avLst>
                <a:gd fmla="val 10000" name="adj"/>
              </a:avLst>
            </a:prstGeom>
            <a:solidFill>
              <a:srgbClr val="1A2638">
                <a:alpha val="80000"/>
              </a:srgbClr>
            </a:solidFill>
            <a:ln cap="flat" cmpd="sng" w="9525">
              <a:solidFill>
                <a:srgbClr val="4FAC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16"/>
            <p:cNvSpPr/>
            <p:nvPr/>
          </p:nvSpPr>
          <p:spPr>
            <a:xfrm>
              <a:off x="1562100" y="3133725"/>
              <a:ext cx="304800" cy="304800"/>
            </a:xfrm>
            <a:prstGeom prst="ellipse">
              <a:avLst/>
            </a:prstGeom>
            <a:solidFill>
              <a:srgbClr val="4FAC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 name="Google Shape;137;p16"/>
            <p:cNvSpPr txBox="1"/>
            <p:nvPr/>
          </p:nvSpPr>
          <p:spPr>
            <a:xfrm>
              <a:off x="2000250" y="3095625"/>
              <a:ext cx="18096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4FACFE"/>
                  </a:solidFill>
                  <a:latin typeface="Roboto"/>
                  <a:ea typeface="Roboto"/>
                  <a:cs typeface="Roboto"/>
                  <a:sym typeface="Roboto"/>
                </a:rPr>
                <a:t>Digital Solutions</a:t>
              </a:r>
              <a:endParaRPr b="1" sz="1200">
                <a:solidFill>
                  <a:srgbClr val="4FACFE"/>
                </a:solidFill>
                <a:latin typeface="Roboto"/>
                <a:ea typeface="Roboto"/>
                <a:cs typeface="Roboto"/>
                <a:sym typeface="Roboto"/>
              </a:endParaRPr>
            </a:p>
            <a:p>
              <a:pPr indent="0" lvl="0" marL="0" rtl="0" algn="l">
                <a:spcBef>
                  <a:spcPts val="450"/>
                </a:spcBef>
                <a:spcAft>
                  <a:spcPts val="0"/>
                </a:spcAft>
                <a:buNone/>
              </a:pPr>
              <a:r>
                <a:rPr b="0" lang="en" sz="1050">
                  <a:solidFill>
                    <a:srgbClr val="FFFFFF"/>
                  </a:solidFill>
                  <a:latin typeface="Roboto"/>
                  <a:ea typeface="Roboto"/>
                  <a:cs typeface="Roboto"/>
                  <a:sym typeface="Roboto"/>
                </a:rPr>
                <a:t>Modern cloud tools offer automated features and highly effective management.</a:t>
              </a:r>
              <a:endParaRPr b="0" sz="1050">
                <a:solidFill>
                  <a:srgbClr val="FFFFFF"/>
                </a:solidFill>
                <a:latin typeface="Roboto"/>
                <a:ea typeface="Roboto"/>
                <a:cs typeface="Roboto"/>
                <a:sym typeface="Roboto"/>
              </a:endParaRPr>
            </a:p>
          </p:txBody>
        </p:sp>
      </p:grpSp>
      <p:grpSp>
        <p:nvGrpSpPr>
          <p:cNvPr id="138" name="Google Shape;138;p16"/>
          <p:cNvGrpSpPr/>
          <p:nvPr/>
        </p:nvGrpSpPr>
        <p:grpSpPr>
          <a:xfrm>
            <a:off x="5143500" y="2952750"/>
            <a:ext cx="2667000" cy="1143000"/>
            <a:chOff x="5143500" y="2952750"/>
            <a:chExt cx="2667000" cy="1143000"/>
          </a:xfrm>
        </p:grpSpPr>
        <p:sp>
          <p:nvSpPr>
            <p:cNvPr id="139" name="Google Shape;139;p16"/>
            <p:cNvSpPr/>
            <p:nvPr/>
          </p:nvSpPr>
          <p:spPr>
            <a:xfrm>
              <a:off x="5143500" y="2952750"/>
              <a:ext cx="2667000" cy="1143000"/>
            </a:xfrm>
            <a:prstGeom prst="roundRect">
              <a:avLst>
                <a:gd fmla="val 10000" name="adj"/>
              </a:avLst>
            </a:prstGeom>
            <a:solidFill>
              <a:srgbClr val="1A2638">
                <a:alpha val="80000"/>
              </a:srgbClr>
            </a:solidFill>
            <a:ln cap="flat" cmpd="sng" w="9525">
              <a:solidFill>
                <a:srgbClr val="00F2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 name="Google Shape;140;p16"/>
            <p:cNvSpPr/>
            <p:nvPr/>
          </p:nvSpPr>
          <p:spPr>
            <a:xfrm>
              <a:off x="5372100" y="3133725"/>
              <a:ext cx="304800" cy="304800"/>
            </a:xfrm>
            <a:prstGeom prst="ellipse">
              <a:avLst/>
            </a:prstGeom>
            <a:solidFill>
              <a:srgbClr val="00F2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16"/>
            <p:cNvSpPr txBox="1"/>
            <p:nvPr/>
          </p:nvSpPr>
          <p:spPr>
            <a:xfrm>
              <a:off x="5810250" y="3095625"/>
              <a:ext cx="18096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00F2FE"/>
                  </a:solidFill>
                  <a:latin typeface="Roboto"/>
                  <a:ea typeface="Roboto"/>
                  <a:cs typeface="Roboto"/>
                  <a:sym typeface="Roboto"/>
                </a:rPr>
                <a:t>Old Methods</a:t>
              </a:r>
              <a:endParaRPr b="1" sz="1200">
                <a:solidFill>
                  <a:srgbClr val="00F2FE"/>
                </a:solidFill>
                <a:latin typeface="Roboto"/>
                <a:ea typeface="Roboto"/>
                <a:cs typeface="Roboto"/>
                <a:sym typeface="Roboto"/>
              </a:endParaRPr>
            </a:p>
            <a:p>
              <a:pPr indent="0" lvl="0" marL="0" rtl="0" algn="l">
                <a:spcBef>
                  <a:spcPts val="450"/>
                </a:spcBef>
                <a:spcAft>
                  <a:spcPts val="0"/>
                </a:spcAft>
                <a:buNone/>
              </a:pPr>
              <a:r>
                <a:rPr b="0" lang="en" sz="1050">
                  <a:solidFill>
                    <a:srgbClr val="FFFFFF"/>
                  </a:solidFill>
                  <a:latin typeface="Roboto"/>
                  <a:ea typeface="Roboto"/>
                  <a:cs typeface="Roboto"/>
                  <a:sym typeface="Roboto"/>
                </a:rPr>
                <a:t>Legacy systems typically lack streamlined data analytics and easy accessibility.</a:t>
              </a:r>
              <a:endParaRPr b="0" sz="1050">
                <a:solidFill>
                  <a:srgbClr val="FFFFFF"/>
                </a:solidFill>
                <a:latin typeface="Roboto"/>
                <a:ea typeface="Roboto"/>
                <a:cs typeface="Roboto"/>
                <a:sym typeface="Robot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5" name="Shape 145"/>
        <p:cNvGrpSpPr/>
        <p:nvPr/>
      </p:nvGrpSpPr>
      <p:grpSpPr>
        <a:xfrm>
          <a:off x="0" y="0"/>
          <a:ext cx="0" cy="0"/>
          <a:chOff x="0" y="0"/>
          <a:chExt cx="0" cy="0"/>
        </a:xfrm>
      </p:grpSpPr>
      <p:sp>
        <p:nvSpPr>
          <p:cNvPr id="146" name="Google Shape;146;p17"/>
          <p:cNvSpPr txBox="1"/>
          <p:nvPr/>
        </p:nvSpPr>
        <p:spPr>
          <a:xfrm>
            <a:off x="571500" y="381000"/>
            <a:ext cx="8001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400">
                <a:solidFill>
                  <a:srgbClr val="00F2FE"/>
                </a:solidFill>
                <a:latin typeface="Roboto ExtraBold"/>
                <a:ea typeface="Roboto ExtraBold"/>
                <a:cs typeface="Roboto ExtraBold"/>
                <a:sym typeface="Roboto ExtraBold"/>
              </a:rPr>
              <a:t>Overview of Project</a:t>
            </a:r>
            <a:endParaRPr b="0" sz="2400">
              <a:solidFill>
                <a:srgbClr val="00F2FE"/>
              </a:solidFill>
              <a:latin typeface="Roboto ExtraBold"/>
              <a:ea typeface="Roboto ExtraBold"/>
              <a:cs typeface="Roboto ExtraBold"/>
              <a:sym typeface="Roboto ExtraBold"/>
            </a:endParaRPr>
          </a:p>
        </p:txBody>
      </p:sp>
      <p:grpSp>
        <p:nvGrpSpPr>
          <p:cNvPr id="147" name="Google Shape;147;p17"/>
          <p:cNvGrpSpPr/>
          <p:nvPr/>
        </p:nvGrpSpPr>
        <p:grpSpPr>
          <a:xfrm>
            <a:off x="561975" y="990600"/>
            <a:ext cx="8020200" cy="2257500"/>
            <a:chOff x="-9525" y="-9525"/>
            <a:chExt cx="8020200" cy="2257500"/>
          </a:xfrm>
        </p:grpSpPr>
        <p:pic>
          <p:nvPicPr>
            <p:cNvPr id="148" name="Google Shape;148;p17"/>
            <p:cNvPicPr preferRelativeResize="0"/>
            <p:nvPr/>
          </p:nvPicPr>
          <p:blipFill rotWithShape="1">
            <a:blip r:embed="rId4">
              <a:alphaModFix/>
            </a:blip>
            <a:srcRect b="0" l="0" r="0" t="0"/>
            <a:stretch/>
          </p:blipFill>
          <p:spPr>
            <a:xfrm>
              <a:off x="-9525" y="-9525"/>
              <a:ext cx="8020200" cy="2257500"/>
            </a:xfrm>
            <a:prstGeom prst="rect">
              <a:avLst/>
            </a:prstGeom>
            <a:noFill/>
            <a:ln>
              <a:noFill/>
            </a:ln>
          </p:spPr>
        </p:pic>
        <p:sp>
          <p:nvSpPr>
            <p:cNvPr id="149" name="Google Shape;149;p17"/>
            <p:cNvSpPr txBox="1"/>
            <p:nvPr/>
          </p:nvSpPr>
          <p:spPr>
            <a:xfrm>
              <a:off x="0" y="0"/>
              <a:ext cx="8001000" cy="223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00">
                  <a:solidFill>
                    <a:srgbClr val="8592A6"/>
                  </a:solidFill>
                  <a:latin typeface="Roboto"/>
                  <a:ea typeface="Roboto"/>
                  <a:cs typeface="Roboto"/>
                  <a:sym typeface="Roboto"/>
                </a:rPr>
                <a:t>[ Placeholder for Project Screenshot ]</a:t>
              </a:r>
              <a:endParaRPr b="1" sz="1400">
                <a:solidFill>
                  <a:srgbClr val="8592A6"/>
                </a:solidFill>
                <a:latin typeface="Roboto"/>
                <a:ea typeface="Roboto"/>
                <a:cs typeface="Roboto"/>
                <a:sym typeface="Roboto"/>
              </a:endParaRPr>
            </a:p>
            <a:p>
              <a:pPr indent="0" lvl="0" marL="0" rtl="0" algn="ctr">
                <a:spcBef>
                  <a:spcPts val="450"/>
                </a:spcBef>
                <a:spcAft>
                  <a:spcPts val="0"/>
                </a:spcAft>
                <a:buNone/>
              </a:pPr>
              <a:r>
                <a:rPr b="0" lang="en" sz="1000">
                  <a:solidFill>
                    <a:srgbClr val="506075"/>
                  </a:solidFill>
                  <a:latin typeface="Roboto"/>
                  <a:ea typeface="Roboto"/>
                  <a:cs typeface="Roboto"/>
                  <a:sym typeface="Roboto"/>
                </a:rPr>
                <a:t>Insert your system dashboard screenshot here</a:t>
              </a:r>
              <a:endParaRPr b="0" sz="1000">
                <a:solidFill>
                  <a:srgbClr val="506075"/>
                </a:solidFill>
                <a:latin typeface="Roboto"/>
                <a:ea typeface="Roboto"/>
                <a:cs typeface="Roboto"/>
                <a:sym typeface="Roboto"/>
              </a:endParaRPr>
            </a:p>
          </p:txBody>
        </p:sp>
      </p:grpSp>
      <p:grpSp>
        <p:nvGrpSpPr>
          <p:cNvPr id="150" name="Google Shape;150;p17"/>
          <p:cNvGrpSpPr/>
          <p:nvPr/>
        </p:nvGrpSpPr>
        <p:grpSpPr>
          <a:xfrm>
            <a:off x="566738" y="3424238"/>
            <a:ext cx="2486100" cy="1247700"/>
            <a:chOff x="-4762" y="-4762"/>
            <a:chExt cx="2486100" cy="1247700"/>
          </a:xfrm>
        </p:grpSpPr>
        <p:pic>
          <p:nvPicPr>
            <p:cNvPr id="151" name="Google Shape;151;p17"/>
            <p:cNvPicPr preferRelativeResize="0"/>
            <p:nvPr/>
          </p:nvPicPr>
          <p:blipFill rotWithShape="1">
            <a:blip r:embed="rId5">
              <a:alphaModFix/>
            </a:blip>
            <a:srcRect b="0" l="0" r="0" t="0"/>
            <a:stretch/>
          </p:blipFill>
          <p:spPr>
            <a:xfrm>
              <a:off x="-4762" y="-4762"/>
              <a:ext cx="2486100" cy="1247700"/>
            </a:xfrm>
            <a:prstGeom prst="rect">
              <a:avLst/>
            </a:prstGeom>
            <a:noFill/>
            <a:ln>
              <a:noFill/>
            </a:ln>
          </p:spPr>
        </p:pic>
        <p:sp>
          <p:nvSpPr>
            <p:cNvPr id="152" name="Google Shape;152;p17"/>
            <p:cNvSpPr/>
            <p:nvPr/>
          </p:nvSpPr>
          <p:spPr>
            <a:xfrm>
              <a:off x="190500" y="190500"/>
              <a:ext cx="38100" cy="381000"/>
            </a:xfrm>
            <a:prstGeom prst="rect">
              <a:avLst/>
            </a:prstGeom>
            <a:solidFill>
              <a:srgbClr val="00F2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 name="Google Shape;153;p17"/>
            <p:cNvSpPr txBox="1"/>
            <p:nvPr/>
          </p:nvSpPr>
          <p:spPr>
            <a:xfrm>
              <a:off x="333375" y="152400"/>
              <a:ext cx="20001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0F2FE"/>
                  </a:solidFill>
                  <a:latin typeface="Roboto"/>
                  <a:ea typeface="Roboto"/>
                  <a:cs typeface="Roboto"/>
                  <a:sym typeface="Roboto"/>
                </a:rPr>
                <a:t>Backend Architecture</a:t>
              </a:r>
              <a:endParaRPr b="1" sz="1200">
                <a:solidFill>
                  <a:srgbClr val="00F2FE"/>
                </a:solidFill>
                <a:latin typeface="Roboto"/>
                <a:ea typeface="Roboto"/>
                <a:cs typeface="Roboto"/>
                <a:sym typeface="Roboto"/>
              </a:endParaRPr>
            </a:p>
            <a:p>
              <a:pPr indent="0" lvl="0" marL="0" rtl="0" algn="l">
                <a:spcBef>
                  <a:spcPts val="450"/>
                </a:spcBef>
                <a:spcAft>
                  <a:spcPts val="0"/>
                </a:spcAft>
                <a:buNone/>
              </a:pPr>
              <a:r>
                <a:rPr b="0" lang="en" sz="950">
                  <a:solidFill>
                    <a:srgbClr val="E0E6ED"/>
                  </a:solidFill>
                  <a:latin typeface="Roboto"/>
                  <a:ea typeface="Roboto"/>
                  <a:cs typeface="Roboto"/>
                  <a:sym typeface="Roboto"/>
                </a:rPr>
                <a:t>Powered by Node.js runtime environment with Express.js framework, providing a robust and scalable server-side solution.</a:t>
              </a:r>
              <a:endParaRPr b="0" sz="950">
                <a:solidFill>
                  <a:srgbClr val="E0E6ED"/>
                </a:solidFill>
                <a:latin typeface="Roboto"/>
                <a:ea typeface="Roboto"/>
                <a:cs typeface="Roboto"/>
                <a:sym typeface="Roboto"/>
              </a:endParaRPr>
            </a:p>
          </p:txBody>
        </p:sp>
      </p:grpSp>
      <p:grpSp>
        <p:nvGrpSpPr>
          <p:cNvPr id="154" name="Google Shape;154;p17"/>
          <p:cNvGrpSpPr/>
          <p:nvPr/>
        </p:nvGrpSpPr>
        <p:grpSpPr>
          <a:xfrm>
            <a:off x="3328988" y="3424238"/>
            <a:ext cx="2486100" cy="1247700"/>
            <a:chOff x="-4762" y="-4762"/>
            <a:chExt cx="2486100" cy="1247700"/>
          </a:xfrm>
        </p:grpSpPr>
        <p:pic>
          <p:nvPicPr>
            <p:cNvPr id="155" name="Google Shape;155;p17"/>
            <p:cNvPicPr preferRelativeResize="0"/>
            <p:nvPr/>
          </p:nvPicPr>
          <p:blipFill rotWithShape="1">
            <a:blip r:embed="rId5">
              <a:alphaModFix/>
            </a:blip>
            <a:srcRect b="0" l="0" r="0" t="0"/>
            <a:stretch/>
          </p:blipFill>
          <p:spPr>
            <a:xfrm>
              <a:off x="-4762" y="-4762"/>
              <a:ext cx="2486100" cy="1247700"/>
            </a:xfrm>
            <a:prstGeom prst="rect">
              <a:avLst/>
            </a:prstGeom>
            <a:noFill/>
            <a:ln>
              <a:noFill/>
            </a:ln>
          </p:spPr>
        </p:pic>
        <p:sp>
          <p:nvSpPr>
            <p:cNvPr id="156" name="Google Shape;156;p17"/>
            <p:cNvSpPr/>
            <p:nvPr/>
          </p:nvSpPr>
          <p:spPr>
            <a:xfrm>
              <a:off x="190500" y="190500"/>
              <a:ext cx="38100" cy="381000"/>
            </a:xfrm>
            <a:prstGeom prst="rect">
              <a:avLst/>
            </a:prstGeom>
            <a:solidFill>
              <a:srgbClr val="4FAC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 name="Google Shape;157;p17"/>
            <p:cNvSpPr txBox="1"/>
            <p:nvPr/>
          </p:nvSpPr>
          <p:spPr>
            <a:xfrm>
              <a:off x="333375" y="152400"/>
              <a:ext cx="20001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4FACFE"/>
                  </a:solidFill>
                  <a:latin typeface="Roboto"/>
                  <a:ea typeface="Roboto"/>
                  <a:cs typeface="Roboto"/>
                  <a:sym typeface="Roboto"/>
                </a:rPr>
                <a:t>Database &amp; Modeling</a:t>
              </a:r>
              <a:endParaRPr b="1" sz="1200">
                <a:solidFill>
                  <a:srgbClr val="4FACFE"/>
                </a:solidFill>
                <a:latin typeface="Roboto"/>
                <a:ea typeface="Roboto"/>
                <a:cs typeface="Roboto"/>
                <a:sym typeface="Roboto"/>
              </a:endParaRPr>
            </a:p>
            <a:p>
              <a:pPr indent="0" lvl="0" marL="0" rtl="0" algn="l">
                <a:spcBef>
                  <a:spcPts val="450"/>
                </a:spcBef>
                <a:spcAft>
                  <a:spcPts val="0"/>
                </a:spcAft>
                <a:buNone/>
              </a:pPr>
              <a:r>
                <a:rPr b="0" lang="en" sz="950">
                  <a:solidFill>
                    <a:srgbClr val="E0E6ED"/>
                  </a:solidFill>
                  <a:latin typeface="Roboto"/>
                  <a:ea typeface="Roboto"/>
                  <a:cs typeface="Roboto"/>
                  <a:sym typeface="Roboto"/>
                </a:rPr>
                <a:t>MongoDB serves as the database, managed through Mongoose for smooth interaction and efficient data management.</a:t>
              </a:r>
              <a:endParaRPr b="0" sz="950">
                <a:solidFill>
                  <a:srgbClr val="E0E6ED"/>
                </a:solidFill>
                <a:latin typeface="Roboto"/>
                <a:ea typeface="Roboto"/>
                <a:cs typeface="Roboto"/>
                <a:sym typeface="Roboto"/>
              </a:endParaRPr>
            </a:p>
          </p:txBody>
        </p:sp>
      </p:grpSp>
      <p:grpSp>
        <p:nvGrpSpPr>
          <p:cNvPr id="158" name="Google Shape;158;p17"/>
          <p:cNvGrpSpPr/>
          <p:nvPr/>
        </p:nvGrpSpPr>
        <p:grpSpPr>
          <a:xfrm>
            <a:off x="6091238" y="3424238"/>
            <a:ext cx="2486100" cy="1247700"/>
            <a:chOff x="-4762" y="-4762"/>
            <a:chExt cx="2486100" cy="1247700"/>
          </a:xfrm>
        </p:grpSpPr>
        <p:pic>
          <p:nvPicPr>
            <p:cNvPr id="159" name="Google Shape;159;p17"/>
            <p:cNvPicPr preferRelativeResize="0"/>
            <p:nvPr/>
          </p:nvPicPr>
          <p:blipFill rotWithShape="1">
            <a:blip r:embed="rId5">
              <a:alphaModFix/>
            </a:blip>
            <a:srcRect b="0" l="0" r="0" t="0"/>
            <a:stretch/>
          </p:blipFill>
          <p:spPr>
            <a:xfrm>
              <a:off x="-4762" y="-4762"/>
              <a:ext cx="2486100" cy="1247700"/>
            </a:xfrm>
            <a:prstGeom prst="rect">
              <a:avLst/>
            </a:prstGeom>
            <a:noFill/>
            <a:ln>
              <a:noFill/>
            </a:ln>
          </p:spPr>
        </p:pic>
        <p:sp>
          <p:nvSpPr>
            <p:cNvPr id="160" name="Google Shape;160;p17"/>
            <p:cNvSpPr/>
            <p:nvPr/>
          </p:nvSpPr>
          <p:spPr>
            <a:xfrm>
              <a:off x="190500" y="190500"/>
              <a:ext cx="38100" cy="381000"/>
            </a:xfrm>
            <a:prstGeom prst="rect">
              <a:avLst/>
            </a:prstGeom>
            <a:solidFill>
              <a:srgbClr val="00F2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1" name="Google Shape;161;p17"/>
            <p:cNvSpPr txBox="1"/>
            <p:nvPr/>
          </p:nvSpPr>
          <p:spPr>
            <a:xfrm>
              <a:off x="333375" y="152400"/>
              <a:ext cx="20001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0F2FE"/>
                  </a:solidFill>
                  <a:latin typeface="Roboto"/>
                  <a:ea typeface="Roboto"/>
                  <a:cs typeface="Roboto"/>
                  <a:sym typeface="Roboto"/>
                </a:rPr>
                <a:t>Frontend &amp; UI Design</a:t>
              </a:r>
              <a:endParaRPr b="1" sz="1200">
                <a:solidFill>
                  <a:srgbClr val="00F2FE"/>
                </a:solidFill>
                <a:latin typeface="Roboto"/>
                <a:ea typeface="Roboto"/>
                <a:cs typeface="Roboto"/>
                <a:sym typeface="Roboto"/>
              </a:endParaRPr>
            </a:p>
            <a:p>
              <a:pPr indent="0" lvl="0" marL="0" rtl="0" algn="l">
                <a:spcBef>
                  <a:spcPts val="450"/>
                </a:spcBef>
                <a:spcAft>
                  <a:spcPts val="0"/>
                </a:spcAft>
                <a:buNone/>
              </a:pPr>
              <a:r>
                <a:rPr b="0" lang="en" sz="950">
                  <a:solidFill>
                    <a:srgbClr val="E0E6ED"/>
                  </a:solidFill>
                  <a:latin typeface="Roboto"/>
                  <a:ea typeface="Roboto"/>
                  <a:cs typeface="Roboto"/>
                  <a:sym typeface="Roboto"/>
                </a:rPr>
                <a:t>Uses EJS templating, Bootstrap and CSS for visual styling, plus client-side JavaScript and Chart.js for data visualization.</a:t>
              </a:r>
              <a:endParaRPr b="0" sz="950">
                <a:solidFill>
                  <a:srgbClr val="E0E6ED"/>
                </a:solidFill>
                <a:latin typeface="Roboto"/>
                <a:ea typeface="Roboto"/>
                <a:cs typeface="Roboto"/>
                <a:sym typeface="Roboto"/>
              </a:endParaRPr>
            </a:p>
          </p:txBody>
        </p:sp>
      </p:grpSp>
      <p:pic>
        <p:nvPicPr>
          <p:cNvPr id="162" name="Google Shape;162;p17"/>
          <p:cNvPicPr preferRelativeResize="0"/>
          <p:nvPr/>
        </p:nvPicPr>
        <p:blipFill>
          <a:blip r:embed="rId6">
            <a:alphaModFix/>
          </a:blip>
          <a:stretch>
            <a:fillRect/>
          </a:stretch>
        </p:blipFill>
        <p:spPr>
          <a:xfrm>
            <a:off x="841000" y="857400"/>
            <a:ext cx="7693201" cy="24854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726"/>
        </a:solidFill>
      </p:bgPr>
    </p:bg>
    <p:spTree>
      <p:nvGrpSpPr>
        <p:cNvPr id="166" name="Shape 166"/>
        <p:cNvGrpSpPr/>
        <p:nvPr/>
      </p:nvGrpSpPr>
      <p:grpSpPr>
        <a:xfrm>
          <a:off x="0" y="0"/>
          <a:ext cx="0" cy="0"/>
          <a:chOff x="0" y="0"/>
          <a:chExt cx="0" cy="0"/>
        </a:xfrm>
      </p:grpSpPr>
      <p:grpSp>
        <p:nvGrpSpPr>
          <p:cNvPr id="167" name="Google Shape;167;p18"/>
          <p:cNvGrpSpPr/>
          <p:nvPr/>
        </p:nvGrpSpPr>
        <p:grpSpPr>
          <a:xfrm>
            <a:off x="571500" y="381000"/>
            <a:ext cx="8001000" cy="742950"/>
            <a:chOff x="0" y="0"/>
            <a:chExt cx="8001000" cy="742950"/>
          </a:xfrm>
        </p:grpSpPr>
        <p:sp>
          <p:nvSpPr>
            <p:cNvPr id="168" name="Google Shape;168;p18"/>
            <p:cNvSpPr txBox="1"/>
            <p:nvPr/>
          </p:nvSpPr>
          <p:spPr>
            <a:xfrm>
              <a:off x="0" y="0"/>
              <a:ext cx="80010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400">
                  <a:solidFill>
                    <a:srgbClr val="00F2FE"/>
                  </a:solidFill>
                  <a:latin typeface="Roboto ExtraBold"/>
                  <a:ea typeface="Roboto ExtraBold"/>
                  <a:cs typeface="Roboto ExtraBold"/>
                  <a:sym typeface="Roboto ExtraBold"/>
                </a:rPr>
                <a:t>System Architecture &amp; Workflow</a:t>
              </a:r>
              <a:endParaRPr b="0" sz="2400">
                <a:solidFill>
                  <a:srgbClr val="00F2FE"/>
                </a:solidFill>
                <a:latin typeface="Roboto ExtraBold"/>
                <a:ea typeface="Roboto ExtraBold"/>
                <a:cs typeface="Roboto ExtraBold"/>
                <a:sym typeface="Roboto ExtraBold"/>
              </a:endParaRPr>
            </a:p>
          </p:txBody>
        </p:sp>
        <p:sp>
          <p:nvSpPr>
            <p:cNvPr id="169" name="Google Shape;169;p18"/>
            <p:cNvSpPr txBox="1"/>
            <p:nvPr/>
          </p:nvSpPr>
          <p:spPr>
            <a:xfrm>
              <a:off x="0" y="428625"/>
              <a:ext cx="80010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95">
                  <a:solidFill>
                    <a:srgbClr val="E0E6ED"/>
                  </a:solidFill>
                  <a:latin typeface="Roboto"/>
                  <a:ea typeface="Roboto"/>
                  <a:cs typeface="Roboto"/>
                  <a:sym typeface="Roboto"/>
                </a:rPr>
                <a:t>End-to-End Request Lifecycle &amp; Data Persistence Pipeline</a:t>
              </a:r>
              <a:endParaRPr b="0" sz="1295">
                <a:solidFill>
                  <a:srgbClr val="E0E6ED"/>
                </a:solidFill>
                <a:latin typeface="Roboto"/>
                <a:ea typeface="Roboto"/>
                <a:cs typeface="Roboto"/>
                <a:sym typeface="Roboto"/>
              </a:endParaRPr>
            </a:p>
          </p:txBody>
        </p:sp>
        <p:cxnSp>
          <p:nvCxnSpPr>
            <p:cNvPr id="170" name="Google Shape;170;p18"/>
            <p:cNvCxnSpPr/>
            <p:nvPr/>
          </p:nvCxnSpPr>
          <p:spPr>
            <a:xfrm>
              <a:off x="0" y="742950"/>
              <a:ext cx="1714500" cy="0"/>
            </a:xfrm>
            <a:prstGeom prst="straightConnector1">
              <a:avLst/>
            </a:prstGeom>
            <a:solidFill>
              <a:srgbClr val="FFFFFF"/>
            </a:solidFill>
            <a:ln cap="flat" cmpd="sng" w="28575">
              <a:solidFill>
                <a:srgbClr val="00F2FE"/>
              </a:solidFill>
              <a:prstDash val="solid"/>
              <a:round/>
              <a:headEnd len="sm" w="sm" type="none"/>
              <a:tailEnd len="sm" w="sm" type="none"/>
            </a:ln>
          </p:spPr>
        </p:cxnSp>
      </p:grpSp>
      <p:grpSp>
        <p:nvGrpSpPr>
          <p:cNvPr id="171" name="Google Shape;171;p18"/>
          <p:cNvGrpSpPr/>
          <p:nvPr/>
        </p:nvGrpSpPr>
        <p:grpSpPr>
          <a:xfrm>
            <a:off x="571500" y="1428750"/>
            <a:ext cx="2381400" cy="1428900"/>
            <a:chOff x="0" y="0"/>
            <a:chExt cx="2381400" cy="1428900"/>
          </a:xfrm>
        </p:grpSpPr>
        <p:sp>
          <p:nvSpPr>
            <p:cNvPr id="172" name="Google Shape;172;p18"/>
            <p:cNvSpPr/>
            <p:nvPr/>
          </p:nvSpPr>
          <p:spPr>
            <a:xfrm>
              <a:off x="0" y="0"/>
              <a:ext cx="2381400" cy="1428900"/>
            </a:xfrm>
            <a:prstGeom prst="roundRect">
              <a:avLst>
                <a:gd fmla="val 8000" name="adj"/>
              </a:avLst>
            </a:prstGeom>
            <a:solidFill>
              <a:srgbClr val="1A2638">
                <a:alpha val="80000"/>
              </a:srgbClr>
            </a:solidFill>
            <a:ln cap="flat" cmpd="sng" w="14300">
              <a:solidFill>
                <a:srgbClr val="00F2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8"/>
            <p:cNvSpPr txBox="1"/>
            <p:nvPr/>
          </p:nvSpPr>
          <p:spPr>
            <a:xfrm>
              <a:off x="190500" y="190500"/>
              <a:ext cx="20001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10">
                  <a:solidFill>
                    <a:srgbClr val="00F2FE"/>
                  </a:solidFill>
                  <a:latin typeface="Roboto"/>
                  <a:ea typeface="Roboto"/>
                  <a:cs typeface="Roboto"/>
                  <a:sym typeface="Roboto"/>
                </a:rPr>
                <a:t>Frontend Interface</a:t>
              </a:r>
              <a:endParaRPr b="1" sz="1110">
                <a:solidFill>
                  <a:srgbClr val="00F2FE"/>
                </a:solidFill>
                <a:latin typeface="Roboto"/>
                <a:ea typeface="Roboto"/>
                <a:cs typeface="Roboto"/>
                <a:sym typeface="Roboto"/>
              </a:endParaRPr>
            </a:p>
            <a:p>
              <a:pPr indent="0" lvl="0" marL="0" rtl="0" algn="l">
                <a:spcBef>
                  <a:spcPts val="450"/>
                </a:spcBef>
                <a:spcAft>
                  <a:spcPts val="0"/>
                </a:spcAft>
                <a:buNone/>
              </a:pPr>
              <a:r>
                <a:rPr b="0" lang="en" sz="925">
                  <a:solidFill>
                    <a:srgbClr val="E0E6ED"/>
                  </a:solidFill>
                  <a:latin typeface="Roboto"/>
                  <a:ea typeface="Roboto"/>
                  <a:cs typeface="Roboto"/>
                  <a:sym typeface="Roboto"/>
                </a:rPr>
                <a:t>Built with EJS templates, Bootstrap, and dynamic CSS to enable clean user interactions.</a:t>
              </a:r>
              <a:endParaRPr b="0" sz="925">
                <a:solidFill>
                  <a:srgbClr val="E0E6ED"/>
                </a:solidFill>
                <a:latin typeface="Roboto"/>
                <a:ea typeface="Roboto"/>
                <a:cs typeface="Roboto"/>
                <a:sym typeface="Roboto"/>
              </a:endParaRPr>
            </a:p>
            <a:p>
              <a:pPr indent="0" lvl="0" marL="0" rtl="0" algn="l">
                <a:spcBef>
                  <a:spcPts val="450"/>
                </a:spcBef>
                <a:spcAft>
                  <a:spcPts val="450"/>
                </a:spcAft>
                <a:buNone/>
              </a:pPr>
              <a:r>
                <a:rPr b="0" lang="en" sz="925">
                  <a:solidFill>
                    <a:srgbClr val="E0E6ED"/>
                  </a:solidFill>
                  <a:latin typeface="Roboto"/>
                  <a:ea typeface="Roboto"/>
                  <a:cs typeface="Roboto"/>
                  <a:sym typeface="Roboto"/>
                </a:rPr>
                <a:t>Captures daily expense inputs and renders real-time budget views.</a:t>
              </a:r>
              <a:endParaRPr b="0" sz="925">
                <a:solidFill>
                  <a:srgbClr val="E0E6ED"/>
                </a:solidFill>
                <a:latin typeface="Roboto"/>
                <a:ea typeface="Roboto"/>
                <a:cs typeface="Roboto"/>
                <a:sym typeface="Roboto"/>
              </a:endParaRPr>
            </a:p>
          </p:txBody>
        </p:sp>
      </p:grpSp>
      <p:grpSp>
        <p:nvGrpSpPr>
          <p:cNvPr id="174" name="Google Shape;174;p18"/>
          <p:cNvGrpSpPr/>
          <p:nvPr/>
        </p:nvGrpSpPr>
        <p:grpSpPr>
          <a:xfrm>
            <a:off x="3095625" y="1428750"/>
            <a:ext cx="2952900" cy="1428900"/>
            <a:chOff x="0" y="0"/>
            <a:chExt cx="2952900" cy="1428900"/>
          </a:xfrm>
        </p:grpSpPr>
        <p:sp>
          <p:nvSpPr>
            <p:cNvPr id="175" name="Google Shape;175;p18"/>
            <p:cNvSpPr/>
            <p:nvPr/>
          </p:nvSpPr>
          <p:spPr>
            <a:xfrm>
              <a:off x="0" y="0"/>
              <a:ext cx="2952900" cy="1428900"/>
            </a:xfrm>
            <a:prstGeom prst="roundRect">
              <a:avLst>
                <a:gd fmla="val 8000" name="adj"/>
              </a:avLst>
            </a:prstGeom>
            <a:solidFill>
              <a:srgbClr val="1A2638">
                <a:alpha val="80000"/>
              </a:srgbClr>
            </a:solidFill>
            <a:ln cap="flat" cmpd="sng" w="9525">
              <a:solidFill>
                <a:srgbClr val="4FAC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 name="Google Shape;176;p18"/>
            <p:cNvSpPr txBox="1"/>
            <p:nvPr/>
          </p:nvSpPr>
          <p:spPr>
            <a:xfrm>
              <a:off x="190500" y="190500"/>
              <a:ext cx="25719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10">
                  <a:solidFill>
                    <a:srgbClr val="00F2FE"/>
                  </a:solidFill>
                  <a:latin typeface="Roboto"/>
                  <a:ea typeface="Roboto"/>
                  <a:cs typeface="Roboto"/>
                  <a:sym typeface="Roboto"/>
                </a:rPr>
                <a:t>Express.js Router &amp; Controllers</a:t>
              </a:r>
              <a:endParaRPr b="1" sz="1110">
                <a:solidFill>
                  <a:srgbClr val="00F2FE"/>
                </a:solidFill>
                <a:latin typeface="Roboto"/>
                <a:ea typeface="Roboto"/>
                <a:cs typeface="Roboto"/>
                <a:sym typeface="Roboto"/>
              </a:endParaRPr>
            </a:p>
            <a:p>
              <a:pPr indent="0" lvl="0" marL="0" rtl="0" algn="l">
                <a:spcBef>
                  <a:spcPts val="450"/>
                </a:spcBef>
                <a:spcAft>
                  <a:spcPts val="0"/>
                </a:spcAft>
                <a:buNone/>
              </a:pPr>
              <a:r>
                <a:rPr b="0" lang="en" sz="925">
                  <a:solidFill>
                    <a:srgbClr val="E0E6ED"/>
                  </a:solidFill>
                  <a:latin typeface="Roboto"/>
                  <a:ea typeface="Roboto"/>
                  <a:cs typeface="Roboto"/>
                  <a:sym typeface="Roboto"/>
                </a:rPr>
                <a:t>Handles incoming HTTP requests, orchestrating security and data extraction.</a:t>
              </a:r>
              <a:endParaRPr b="0" sz="925">
                <a:solidFill>
                  <a:srgbClr val="E0E6ED"/>
                </a:solidFill>
                <a:latin typeface="Roboto"/>
                <a:ea typeface="Roboto"/>
                <a:cs typeface="Roboto"/>
                <a:sym typeface="Roboto"/>
              </a:endParaRPr>
            </a:p>
            <a:p>
              <a:pPr indent="0" lvl="0" marL="0" rtl="0" algn="l">
                <a:spcBef>
                  <a:spcPts val="450"/>
                </a:spcBef>
                <a:spcAft>
                  <a:spcPts val="450"/>
                </a:spcAft>
                <a:buNone/>
              </a:pPr>
              <a:r>
                <a:rPr b="0" lang="en" sz="925">
                  <a:solidFill>
                    <a:srgbClr val="E0E6ED"/>
                  </a:solidFill>
                  <a:latin typeface="Roboto"/>
                  <a:ea typeface="Roboto"/>
                  <a:cs typeface="Roboto"/>
                  <a:sym typeface="Roboto"/>
                </a:rPr>
                <a:t>Controller logic maps user inputs into strictly validated data transfer payloads.</a:t>
              </a:r>
              <a:endParaRPr b="0" sz="925">
                <a:solidFill>
                  <a:srgbClr val="E0E6ED"/>
                </a:solidFill>
                <a:latin typeface="Roboto"/>
                <a:ea typeface="Roboto"/>
                <a:cs typeface="Roboto"/>
                <a:sym typeface="Roboto"/>
              </a:endParaRPr>
            </a:p>
          </p:txBody>
        </p:sp>
      </p:grpSp>
      <p:grpSp>
        <p:nvGrpSpPr>
          <p:cNvPr id="177" name="Google Shape;177;p18"/>
          <p:cNvGrpSpPr/>
          <p:nvPr/>
        </p:nvGrpSpPr>
        <p:grpSpPr>
          <a:xfrm>
            <a:off x="6191250" y="1428750"/>
            <a:ext cx="2381400" cy="1428900"/>
            <a:chOff x="0" y="0"/>
            <a:chExt cx="2381400" cy="1428900"/>
          </a:xfrm>
        </p:grpSpPr>
        <p:sp>
          <p:nvSpPr>
            <p:cNvPr id="178" name="Google Shape;178;p18"/>
            <p:cNvSpPr/>
            <p:nvPr/>
          </p:nvSpPr>
          <p:spPr>
            <a:xfrm>
              <a:off x="0" y="0"/>
              <a:ext cx="2381400" cy="1428900"/>
            </a:xfrm>
            <a:prstGeom prst="roundRect">
              <a:avLst>
                <a:gd fmla="val 8000" name="adj"/>
              </a:avLst>
            </a:prstGeom>
            <a:solidFill>
              <a:srgbClr val="1A2638">
                <a:alpha val="80000"/>
              </a:srgbClr>
            </a:solidFill>
            <a:ln cap="flat" cmpd="sng" w="9525">
              <a:solidFill>
                <a:srgbClr val="4FAC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18"/>
            <p:cNvSpPr txBox="1"/>
            <p:nvPr/>
          </p:nvSpPr>
          <p:spPr>
            <a:xfrm>
              <a:off x="190500" y="190500"/>
              <a:ext cx="20001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10">
                  <a:solidFill>
                    <a:srgbClr val="00F2FE"/>
                  </a:solidFill>
                  <a:latin typeface="Roboto"/>
                  <a:ea typeface="Roboto"/>
                  <a:cs typeface="Roboto"/>
                  <a:sym typeface="Roboto"/>
                </a:rPr>
                <a:t>MongoDB &amp; Mongoose</a:t>
              </a:r>
              <a:endParaRPr b="1" sz="1110">
                <a:solidFill>
                  <a:srgbClr val="00F2FE"/>
                </a:solidFill>
                <a:latin typeface="Roboto"/>
                <a:ea typeface="Roboto"/>
                <a:cs typeface="Roboto"/>
                <a:sym typeface="Roboto"/>
              </a:endParaRPr>
            </a:p>
            <a:p>
              <a:pPr indent="0" lvl="0" marL="0" rtl="0" algn="l">
                <a:spcBef>
                  <a:spcPts val="450"/>
                </a:spcBef>
                <a:spcAft>
                  <a:spcPts val="0"/>
                </a:spcAft>
                <a:buNone/>
              </a:pPr>
              <a:r>
                <a:rPr b="0" lang="en" sz="925">
                  <a:solidFill>
                    <a:srgbClr val="E0E6ED"/>
                  </a:solidFill>
                  <a:latin typeface="Roboto"/>
                  <a:ea typeface="Roboto"/>
                  <a:cs typeface="Roboto"/>
                  <a:sym typeface="Roboto"/>
                </a:rPr>
                <a:t>NoSQL database storing reliable expense schema documents.</a:t>
              </a:r>
              <a:endParaRPr b="0" sz="925">
                <a:solidFill>
                  <a:srgbClr val="E0E6ED"/>
                </a:solidFill>
                <a:latin typeface="Roboto"/>
                <a:ea typeface="Roboto"/>
                <a:cs typeface="Roboto"/>
                <a:sym typeface="Roboto"/>
              </a:endParaRPr>
            </a:p>
            <a:p>
              <a:pPr indent="0" lvl="0" marL="0" rtl="0" algn="l">
                <a:spcBef>
                  <a:spcPts val="450"/>
                </a:spcBef>
                <a:spcAft>
                  <a:spcPts val="450"/>
                </a:spcAft>
                <a:buNone/>
              </a:pPr>
              <a:r>
                <a:rPr b="0" lang="en" sz="925">
                  <a:solidFill>
                    <a:srgbClr val="E0E6ED"/>
                  </a:solidFill>
                  <a:latin typeface="Roboto"/>
                  <a:ea typeface="Roboto"/>
                  <a:cs typeface="Roboto"/>
                  <a:sym typeface="Roboto"/>
                </a:rPr>
                <a:t>Mongoose ensures precise structural enforcement and query execution.</a:t>
              </a:r>
              <a:endParaRPr b="0" sz="925">
                <a:solidFill>
                  <a:srgbClr val="E0E6ED"/>
                </a:solidFill>
                <a:latin typeface="Roboto"/>
                <a:ea typeface="Roboto"/>
                <a:cs typeface="Roboto"/>
                <a:sym typeface="Roboto"/>
              </a:endParaRPr>
            </a:p>
          </p:txBody>
        </p:sp>
      </p:grpSp>
      <p:grpSp>
        <p:nvGrpSpPr>
          <p:cNvPr id="180" name="Google Shape;180;p18"/>
          <p:cNvGrpSpPr/>
          <p:nvPr/>
        </p:nvGrpSpPr>
        <p:grpSpPr>
          <a:xfrm>
            <a:off x="2952750" y="2009775"/>
            <a:ext cx="200175" cy="76200"/>
            <a:chOff x="0" y="-38100"/>
            <a:chExt cx="200175" cy="76200"/>
          </a:xfrm>
        </p:grpSpPr>
        <p:pic>
          <p:nvPicPr>
            <p:cNvPr id="181" name="Google Shape;181;p18"/>
            <p:cNvPicPr preferRelativeResize="0"/>
            <p:nvPr/>
          </p:nvPicPr>
          <p:blipFill rotWithShape="1">
            <a:blip r:embed="rId3">
              <a:alphaModFix/>
            </a:blip>
            <a:srcRect b="0" l="0" r="0" t="0"/>
            <a:stretch/>
          </p:blipFill>
          <p:spPr>
            <a:xfrm>
              <a:off x="0" y="-9525"/>
              <a:ext cx="114300" cy="19200"/>
            </a:xfrm>
            <a:prstGeom prst="rect">
              <a:avLst/>
            </a:prstGeom>
            <a:noFill/>
            <a:ln>
              <a:noFill/>
            </a:ln>
          </p:spPr>
        </p:pic>
        <p:sp>
          <p:nvSpPr>
            <p:cNvPr id="182" name="Google Shape;182;p18"/>
            <p:cNvSpPr/>
            <p:nvPr/>
          </p:nvSpPr>
          <p:spPr>
            <a:xfrm>
              <a:off x="142875" y="-38100"/>
              <a:ext cx="57300" cy="76200"/>
            </a:xfrm>
            <a:custGeom>
              <a:rect b="b" l="l" r="r" t="t"/>
              <a:pathLst>
                <a:path extrusionOk="0" h="120000" w="120000">
                  <a:moveTo>
                    <a:pt x="0" y="0"/>
                  </a:moveTo>
                  <a:lnTo>
                    <a:pt x="0" y="120000"/>
                  </a:lnTo>
                  <a:lnTo>
                    <a:pt x="120000" y="60000"/>
                  </a:lnTo>
                  <a:close/>
                </a:path>
              </a:pathLst>
            </a:custGeom>
            <a:solidFill>
              <a:srgbClr val="00F2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83" name="Google Shape;183;p18"/>
          <p:cNvGrpSpPr/>
          <p:nvPr/>
        </p:nvGrpSpPr>
        <p:grpSpPr>
          <a:xfrm>
            <a:off x="6048375" y="2009775"/>
            <a:ext cx="200175" cy="76200"/>
            <a:chOff x="0" y="-38100"/>
            <a:chExt cx="200175" cy="76200"/>
          </a:xfrm>
        </p:grpSpPr>
        <p:pic>
          <p:nvPicPr>
            <p:cNvPr id="184" name="Google Shape;184;p18"/>
            <p:cNvPicPr preferRelativeResize="0"/>
            <p:nvPr/>
          </p:nvPicPr>
          <p:blipFill rotWithShape="1">
            <a:blip r:embed="rId3">
              <a:alphaModFix/>
            </a:blip>
            <a:srcRect b="0" l="0" r="0" t="0"/>
            <a:stretch/>
          </p:blipFill>
          <p:spPr>
            <a:xfrm>
              <a:off x="0" y="-9525"/>
              <a:ext cx="114300" cy="19200"/>
            </a:xfrm>
            <a:prstGeom prst="rect">
              <a:avLst/>
            </a:prstGeom>
            <a:noFill/>
            <a:ln>
              <a:noFill/>
            </a:ln>
          </p:spPr>
        </p:pic>
        <p:sp>
          <p:nvSpPr>
            <p:cNvPr id="185" name="Google Shape;185;p18"/>
            <p:cNvSpPr/>
            <p:nvPr/>
          </p:nvSpPr>
          <p:spPr>
            <a:xfrm>
              <a:off x="142875" y="-38100"/>
              <a:ext cx="57300" cy="76200"/>
            </a:xfrm>
            <a:custGeom>
              <a:rect b="b" l="l" r="r" t="t"/>
              <a:pathLst>
                <a:path extrusionOk="0" h="120000" w="120000">
                  <a:moveTo>
                    <a:pt x="0" y="0"/>
                  </a:moveTo>
                  <a:lnTo>
                    <a:pt x="0" y="120000"/>
                  </a:lnTo>
                  <a:lnTo>
                    <a:pt x="120000" y="60000"/>
                  </a:lnTo>
                  <a:close/>
                </a:path>
              </a:pathLst>
            </a:custGeom>
            <a:solidFill>
              <a:srgbClr val="00F2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86" name="Google Shape;186;p18"/>
          <p:cNvGrpSpPr/>
          <p:nvPr/>
        </p:nvGrpSpPr>
        <p:grpSpPr>
          <a:xfrm>
            <a:off x="571500" y="3095625"/>
            <a:ext cx="8001000" cy="1047900"/>
            <a:chOff x="0" y="0"/>
            <a:chExt cx="8001000" cy="1047900"/>
          </a:xfrm>
        </p:grpSpPr>
        <p:cxnSp>
          <p:nvCxnSpPr>
            <p:cNvPr id="187" name="Google Shape;187;p18"/>
            <p:cNvCxnSpPr/>
            <p:nvPr/>
          </p:nvCxnSpPr>
          <p:spPr>
            <a:xfrm>
              <a:off x="0" y="190500"/>
              <a:ext cx="8001000" cy="0"/>
            </a:xfrm>
            <a:prstGeom prst="straightConnector1">
              <a:avLst/>
            </a:prstGeom>
            <a:solidFill>
              <a:srgbClr val="FFFFFF"/>
            </a:solidFill>
            <a:ln cap="flat" cmpd="sng" w="19050">
              <a:solidFill>
                <a:srgbClr val="1A2638"/>
              </a:solidFill>
              <a:prstDash val="solid"/>
              <a:round/>
              <a:headEnd len="sm" w="sm" type="none"/>
              <a:tailEnd len="sm" w="sm" type="none"/>
            </a:ln>
          </p:spPr>
        </p:cxnSp>
        <p:grpSp>
          <p:nvGrpSpPr>
            <p:cNvPr id="188" name="Google Shape;188;p18"/>
            <p:cNvGrpSpPr/>
            <p:nvPr/>
          </p:nvGrpSpPr>
          <p:grpSpPr>
            <a:xfrm>
              <a:off x="95250" y="0"/>
              <a:ext cx="2190750" cy="1047900"/>
              <a:chOff x="0" y="0"/>
              <a:chExt cx="2190750" cy="1047900"/>
            </a:xfrm>
          </p:grpSpPr>
          <p:sp>
            <p:nvSpPr>
              <p:cNvPr id="189" name="Google Shape;189;p18"/>
              <p:cNvSpPr/>
              <p:nvPr/>
            </p:nvSpPr>
            <p:spPr>
              <a:xfrm>
                <a:off x="0" y="0"/>
                <a:ext cx="381000" cy="381000"/>
              </a:xfrm>
              <a:prstGeom prst="ellipse">
                <a:avLst/>
              </a:prstGeom>
              <a:solidFill>
                <a:srgbClr val="1A2638"/>
              </a:solidFill>
              <a:ln cap="flat" cmpd="sng" w="19050">
                <a:solidFill>
                  <a:srgbClr val="4FAC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18"/>
              <p:cNvSpPr txBox="1"/>
              <p:nvPr/>
            </p:nvSpPr>
            <p:spPr>
              <a:xfrm>
                <a:off x="0" y="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110">
                    <a:solidFill>
                      <a:srgbClr val="00F2FE"/>
                    </a:solidFill>
                    <a:latin typeface="Roboto ExtraBold"/>
                    <a:ea typeface="Roboto ExtraBold"/>
                    <a:cs typeface="Roboto ExtraBold"/>
                    <a:sym typeface="Roboto ExtraBold"/>
                  </a:rPr>
                  <a:t>1</a:t>
                </a:r>
                <a:endParaRPr b="0" sz="1110">
                  <a:solidFill>
                    <a:srgbClr val="00F2FE"/>
                  </a:solidFill>
                  <a:latin typeface="Roboto ExtraBold"/>
                  <a:ea typeface="Roboto ExtraBold"/>
                  <a:cs typeface="Roboto ExtraBold"/>
                  <a:sym typeface="Roboto ExtraBold"/>
                </a:endParaRPr>
              </a:p>
            </p:txBody>
          </p:sp>
          <p:sp>
            <p:nvSpPr>
              <p:cNvPr id="191" name="Google Shape;191;p18"/>
              <p:cNvSpPr txBox="1"/>
              <p:nvPr/>
            </p:nvSpPr>
            <p:spPr>
              <a:xfrm>
                <a:off x="476250" y="0"/>
                <a:ext cx="1714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4FACFE"/>
                    </a:solidFill>
                    <a:latin typeface="Roboto ExtraBold"/>
                    <a:ea typeface="Roboto ExtraBold"/>
                    <a:cs typeface="Roboto ExtraBold"/>
                    <a:sym typeface="Roboto ExtraBold"/>
                  </a:rPr>
                  <a:t>STEP 01</a:t>
                </a:r>
                <a:endParaRPr b="0" sz="1100">
                  <a:solidFill>
                    <a:srgbClr val="4FACFE"/>
                  </a:solidFill>
                  <a:latin typeface="Roboto ExtraBold"/>
                  <a:ea typeface="Roboto ExtraBold"/>
                  <a:cs typeface="Roboto ExtraBold"/>
                  <a:sym typeface="Roboto ExtraBold"/>
                </a:endParaRPr>
              </a:p>
              <a:p>
                <a:pPr indent="0" lvl="0" marL="0" rtl="0" algn="l">
                  <a:spcBef>
                    <a:spcPts val="150"/>
                  </a:spcBef>
                  <a:spcAft>
                    <a:spcPts val="0"/>
                  </a:spcAft>
                  <a:buNone/>
                </a:pPr>
                <a:r>
                  <a:rPr b="1" lang="en" sz="1050">
                    <a:solidFill>
                      <a:srgbClr val="00F2FE"/>
                    </a:solidFill>
                    <a:latin typeface="Roboto"/>
                    <a:ea typeface="Roboto"/>
                    <a:cs typeface="Roboto"/>
                    <a:sym typeface="Roboto"/>
                  </a:rPr>
                  <a:t>User Submission</a:t>
                </a:r>
                <a:endParaRPr b="1" sz="1050">
                  <a:solidFill>
                    <a:srgbClr val="00F2FE"/>
                  </a:solidFill>
                  <a:latin typeface="Roboto"/>
                  <a:ea typeface="Roboto"/>
                  <a:cs typeface="Roboto"/>
                  <a:sym typeface="Roboto"/>
                </a:endParaRPr>
              </a:p>
              <a:p>
                <a:pPr indent="0" lvl="0" marL="0" rtl="0" algn="l">
                  <a:spcBef>
                    <a:spcPts val="300"/>
                  </a:spcBef>
                  <a:spcAft>
                    <a:spcPts val="450"/>
                  </a:spcAft>
                  <a:buNone/>
                </a:pPr>
                <a:r>
                  <a:rPr b="0" lang="en" sz="950">
                    <a:solidFill>
                      <a:srgbClr val="E0E6ED"/>
                    </a:solidFill>
                    <a:latin typeface="Roboto"/>
                    <a:ea typeface="Roboto"/>
                    <a:cs typeface="Roboto"/>
                    <a:sym typeface="Roboto"/>
                  </a:rPr>
                  <a:t>User records expense details on the EJS client view interface.</a:t>
                </a:r>
                <a:endParaRPr b="0" sz="950">
                  <a:solidFill>
                    <a:srgbClr val="E0E6ED"/>
                  </a:solidFill>
                  <a:latin typeface="Roboto"/>
                  <a:ea typeface="Roboto"/>
                  <a:cs typeface="Roboto"/>
                  <a:sym typeface="Roboto"/>
                </a:endParaRPr>
              </a:p>
            </p:txBody>
          </p:sp>
        </p:grpSp>
        <p:grpSp>
          <p:nvGrpSpPr>
            <p:cNvPr id="192" name="Google Shape;192;p18"/>
            <p:cNvGrpSpPr/>
            <p:nvPr/>
          </p:nvGrpSpPr>
          <p:grpSpPr>
            <a:xfrm>
              <a:off x="2762250" y="0"/>
              <a:ext cx="2190750" cy="1047900"/>
              <a:chOff x="0" y="0"/>
              <a:chExt cx="2190750" cy="1047900"/>
            </a:xfrm>
          </p:grpSpPr>
          <p:sp>
            <p:nvSpPr>
              <p:cNvPr id="193" name="Google Shape;193;p18"/>
              <p:cNvSpPr/>
              <p:nvPr/>
            </p:nvSpPr>
            <p:spPr>
              <a:xfrm>
                <a:off x="0" y="0"/>
                <a:ext cx="381000" cy="381000"/>
              </a:xfrm>
              <a:prstGeom prst="ellipse">
                <a:avLst/>
              </a:prstGeom>
              <a:solidFill>
                <a:srgbClr val="1A2638"/>
              </a:solidFill>
              <a:ln cap="flat" cmpd="sng" w="19050">
                <a:solidFill>
                  <a:srgbClr val="4FAC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p18"/>
              <p:cNvSpPr txBox="1"/>
              <p:nvPr/>
            </p:nvSpPr>
            <p:spPr>
              <a:xfrm>
                <a:off x="0" y="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110">
                    <a:solidFill>
                      <a:srgbClr val="00F2FE"/>
                    </a:solidFill>
                    <a:latin typeface="Roboto ExtraBold"/>
                    <a:ea typeface="Roboto ExtraBold"/>
                    <a:cs typeface="Roboto ExtraBold"/>
                    <a:sym typeface="Roboto ExtraBold"/>
                  </a:rPr>
                  <a:t>2</a:t>
                </a:r>
                <a:endParaRPr b="0" sz="1110">
                  <a:solidFill>
                    <a:srgbClr val="00F2FE"/>
                  </a:solidFill>
                  <a:latin typeface="Roboto ExtraBold"/>
                  <a:ea typeface="Roboto ExtraBold"/>
                  <a:cs typeface="Roboto ExtraBold"/>
                  <a:sym typeface="Roboto ExtraBold"/>
                </a:endParaRPr>
              </a:p>
            </p:txBody>
          </p:sp>
          <p:sp>
            <p:nvSpPr>
              <p:cNvPr id="195" name="Google Shape;195;p18"/>
              <p:cNvSpPr txBox="1"/>
              <p:nvPr/>
            </p:nvSpPr>
            <p:spPr>
              <a:xfrm>
                <a:off x="476250" y="0"/>
                <a:ext cx="1714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4FACFE"/>
                    </a:solidFill>
                    <a:latin typeface="Roboto ExtraBold"/>
                    <a:ea typeface="Roboto ExtraBold"/>
                    <a:cs typeface="Roboto ExtraBold"/>
                    <a:sym typeface="Roboto ExtraBold"/>
                  </a:rPr>
                  <a:t>STEP 02</a:t>
                </a:r>
                <a:endParaRPr b="0" sz="1100">
                  <a:solidFill>
                    <a:srgbClr val="4FACFE"/>
                  </a:solidFill>
                  <a:latin typeface="Roboto ExtraBold"/>
                  <a:ea typeface="Roboto ExtraBold"/>
                  <a:cs typeface="Roboto ExtraBold"/>
                  <a:sym typeface="Roboto ExtraBold"/>
                </a:endParaRPr>
              </a:p>
              <a:p>
                <a:pPr indent="0" lvl="0" marL="0" rtl="0" algn="l">
                  <a:spcBef>
                    <a:spcPts val="150"/>
                  </a:spcBef>
                  <a:spcAft>
                    <a:spcPts val="0"/>
                  </a:spcAft>
                  <a:buNone/>
                </a:pPr>
                <a:r>
                  <a:rPr b="1" lang="en" sz="1050">
                    <a:solidFill>
                      <a:srgbClr val="00F2FE"/>
                    </a:solidFill>
                    <a:latin typeface="Roboto"/>
                    <a:ea typeface="Roboto"/>
                    <a:cs typeface="Roboto"/>
                    <a:sym typeface="Roboto"/>
                  </a:rPr>
                  <a:t>Route Processing</a:t>
                </a:r>
                <a:endParaRPr b="1" sz="1050">
                  <a:solidFill>
                    <a:srgbClr val="00F2FE"/>
                  </a:solidFill>
                  <a:latin typeface="Roboto"/>
                  <a:ea typeface="Roboto"/>
                  <a:cs typeface="Roboto"/>
                  <a:sym typeface="Roboto"/>
                </a:endParaRPr>
              </a:p>
              <a:p>
                <a:pPr indent="0" lvl="0" marL="0" rtl="0" algn="l">
                  <a:spcBef>
                    <a:spcPts val="300"/>
                  </a:spcBef>
                  <a:spcAft>
                    <a:spcPts val="450"/>
                  </a:spcAft>
                  <a:buNone/>
                </a:pPr>
                <a:r>
                  <a:rPr b="0" lang="en" sz="950">
                    <a:solidFill>
                      <a:srgbClr val="E0E6ED"/>
                    </a:solidFill>
                    <a:latin typeface="Roboto"/>
                    <a:ea typeface="Roboto"/>
                    <a:cs typeface="Roboto"/>
                    <a:sym typeface="Roboto"/>
                  </a:rPr>
                  <a:t>Express server catches the routing path and runs controllers.</a:t>
                </a:r>
                <a:endParaRPr b="0" sz="950">
                  <a:solidFill>
                    <a:srgbClr val="E0E6ED"/>
                  </a:solidFill>
                  <a:latin typeface="Roboto"/>
                  <a:ea typeface="Roboto"/>
                  <a:cs typeface="Roboto"/>
                  <a:sym typeface="Roboto"/>
                </a:endParaRPr>
              </a:p>
            </p:txBody>
          </p:sp>
        </p:grpSp>
        <p:grpSp>
          <p:nvGrpSpPr>
            <p:cNvPr id="196" name="Google Shape;196;p18"/>
            <p:cNvGrpSpPr/>
            <p:nvPr/>
          </p:nvGrpSpPr>
          <p:grpSpPr>
            <a:xfrm>
              <a:off x="5429250" y="0"/>
              <a:ext cx="2476350" cy="1047900"/>
              <a:chOff x="0" y="0"/>
              <a:chExt cx="2476350" cy="1047900"/>
            </a:xfrm>
          </p:grpSpPr>
          <p:sp>
            <p:nvSpPr>
              <p:cNvPr id="197" name="Google Shape;197;p18"/>
              <p:cNvSpPr/>
              <p:nvPr/>
            </p:nvSpPr>
            <p:spPr>
              <a:xfrm>
                <a:off x="0" y="0"/>
                <a:ext cx="381000" cy="381000"/>
              </a:xfrm>
              <a:prstGeom prst="ellipse">
                <a:avLst/>
              </a:prstGeom>
              <a:solidFill>
                <a:srgbClr val="1A2638"/>
              </a:solidFill>
              <a:ln cap="flat" cmpd="sng" w="19050">
                <a:solidFill>
                  <a:srgbClr val="4FAC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18"/>
              <p:cNvSpPr txBox="1"/>
              <p:nvPr/>
            </p:nvSpPr>
            <p:spPr>
              <a:xfrm>
                <a:off x="0" y="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110">
                    <a:solidFill>
                      <a:srgbClr val="00F2FE"/>
                    </a:solidFill>
                    <a:latin typeface="Roboto ExtraBold"/>
                    <a:ea typeface="Roboto ExtraBold"/>
                    <a:cs typeface="Roboto ExtraBold"/>
                    <a:sym typeface="Roboto ExtraBold"/>
                  </a:rPr>
                  <a:t>3</a:t>
                </a:r>
                <a:endParaRPr b="0" sz="1110">
                  <a:solidFill>
                    <a:srgbClr val="00F2FE"/>
                  </a:solidFill>
                  <a:latin typeface="Roboto ExtraBold"/>
                  <a:ea typeface="Roboto ExtraBold"/>
                  <a:cs typeface="Roboto ExtraBold"/>
                  <a:sym typeface="Roboto ExtraBold"/>
                </a:endParaRPr>
              </a:p>
            </p:txBody>
          </p:sp>
          <p:sp>
            <p:nvSpPr>
              <p:cNvPr id="199" name="Google Shape;199;p18"/>
              <p:cNvSpPr txBox="1"/>
              <p:nvPr/>
            </p:nvSpPr>
            <p:spPr>
              <a:xfrm>
                <a:off x="476250" y="0"/>
                <a:ext cx="20001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4FACFE"/>
                    </a:solidFill>
                    <a:latin typeface="Roboto ExtraBold"/>
                    <a:ea typeface="Roboto ExtraBold"/>
                    <a:cs typeface="Roboto ExtraBold"/>
                    <a:sym typeface="Roboto ExtraBold"/>
                  </a:rPr>
                  <a:t>STEP 03</a:t>
                </a:r>
                <a:endParaRPr b="0" sz="1100">
                  <a:solidFill>
                    <a:srgbClr val="4FACFE"/>
                  </a:solidFill>
                  <a:latin typeface="Roboto ExtraBold"/>
                  <a:ea typeface="Roboto ExtraBold"/>
                  <a:cs typeface="Roboto ExtraBold"/>
                  <a:sym typeface="Roboto ExtraBold"/>
                </a:endParaRPr>
              </a:p>
              <a:p>
                <a:pPr indent="0" lvl="0" marL="0" rtl="0" algn="l">
                  <a:spcBef>
                    <a:spcPts val="150"/>
                  </a:spcBef>
                  <a:spcAft>
                    <a:spcPts val="0"/>
                  </a:spcAft>
                  <a:buNone/>
                </a:pPr>
                <a:r>
                  <a:rPr b="1" lang="en" sz="1050">
                    <a:solidFill>
                      <a:srgbClr val="00F2FE"/>
                    </a:solidFill>
                    <a:latin typeface="Roboto"/>
                    <a:ea typeface="Roboto"/>
                    <a:cs typeface="Roboto"/>
                    <a:sym typeface="Roboto"/>
                  </a:rPr>
                  <a:t>Data Storage &amp; Sync</a:t>
                </a:r>
                <a:endParaRPr b="1" sz="1050">
                  <a:solidFill>
                    <a:srgbClr val="00F2FE"/>
                  </a:solidFill>
                  <a:latin typeface="Roboto"/>
                  <a:ea typeface="Roboto"/>
                  <a:cs typeface="Roboto"/>
                  <a:sym typeface="Roboto"/>
                </a:endParaRPr>
              </a:p>
              <a:p>
                <a:pPr indent="0" lvl="0" marL="0" rtl="0" algn="l">
                  <a:spcBef>
                    <a:spcPts val="300"/>
                  </a:spcBef>
                  <a:spcAft>
                    <a:spcPts val="450"/>
                  </a:spcAft>
                  <a:buNone/>
                </a:pPr>
                <a:r>
                  <a:rPr b="0" lang="en" sz="950">
                    <a:solidFill>
                      <a:srgbClr val="E0E6ED"/>
                    </a:solidFill>
                    <a:latin typeface="Roboto"/>
                    <a:ea typeface="Roboto"/>
                    <a:cs typeface="Roboto"/>
                    <a:sym typeface="Roboto"/>
                  </a:rPr>
                  <a:t>Mongoose schema writes entry to MongoDB, resolving UI visual states.</a:t>
                </a:r>
                <a:endParaRPr b="0" sz="950">
                  <a:solidFill>
                    <a:srgbClr val="E0E6ED"/>
                  </a:solidFill>
                  <a:latin typeface="Roboto"/>
                  <a:ea typeface="Roboto"/>
                  <a:cs typeface="Roboto"/>
                  <a:sym typeface="Roboto"/>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9"/>
          <p:cNvSpPr/>
          <p:nvPr/>
        </p:nvSpPr>
        <p:spPr>
          <a:xfrm>
            <a:off x="0" y="0"/>
            <a:ext cx="9144000" cy="5143500"/>
          </a:xfrm>
          <a:prstGeom prst="rect">
            <a:avLst/>
          </a:prstGeom>
          <a:solidFill>
            <a:srgbClr val="0E17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05" name="Google Shape;205;p19"/>
          <p:cNvGrpSpPr/>
          <p:nvPr/>
        </p:nvGrpSpPr>
        <p:grpSpPr>
          <a:xfrm>
            <a:off x="571500" y="381000"/>
            <a:ext cx="8001000" cy="742950"/>
            <a:chOff x="0" y="0"/>
            <a:chExt cx="8001000" cy="742950"/>
          </a:xfrm>
        </p:grpSpPr>
        <p:sp>
          <p:nvSpPr>
            <p:cNvPr id="206" name="Google Shape;206;p19"/>
            <p:cNvSpPr txBox="1"/>
            <p:nvPr/>
          </p:nvSpPr>
          <p:spPr>
            <a:xfrm>
              <a:off x="0" y="0"/>
              <a:ext cx="8001000" cy="4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400">
                  <a:solidFill>
                    <a:srgbClr val="00F2FE"/>
                  </a:solidFill>
                  <a:latin typeface="Roboto ExtraBold"/>
                  <a:ea typeface="Roboto ExtraBold"/>
                  <a:cs typeface="Roboto ExtraBold"/>
                  <a:sym typeface="Roboto ExtraBold"/>
                </a:rPr>
                <a:t>Database Design for Expense Collection</a:t>
              </a:r>
              <a:endParaRPr b="0" sz="2400">
                <a:solidFill>
                  <a:srgbClr val="00F2FE"/>
                </a:solidFill>
                <a:latin typeface="Roboto ExtraBold"/>
                <a:ea typeface="Roboto ExtraBold"/>
                <a:cs typeface="Roboto ExtraBold"/>
                <a:sym typeface="Roboto ExtraBold"/>
              </a:endParaRPr>
            </a:p>
          </p:txBody>
        </p:sp>
        <p:sp>
          <p:nvSpPr>
            <p:cNvPr id="207" name="Google Shape;207;p19"/>
            <p:cNvSpPr txBox="1"/>
            <p:nvPr/>
          </p:nvSpPr>
          <p:spPr>
            <a:xfrm>
              <a:off x="0" y="400050"/>
              <a:ext cx="8001000" cy="26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50">
                  <a:solidFill>
                    <a:srgbClr val="E0E6ED"/>
                  </a:solidFill>
                  <a:latin typeface="Roboto"/>
                  <a:ea typeface="Roboto"/>
                  <a:cs typeface="Roboto"/>
                  <a:sym typeface="Roboto"/>
                </a:rPr>
                <a:t>Overview of Expense Collection Database &amp; Schema Architecture</a:t>
              </a:r>
              <a:endParaRPr b="0" sz="1250">
                <a:solidFill>
                  <a:srgbClr val="E0E6ED"/>
                </a:solidFill>
                <a:latin typeface="Roboto"/>
                <a:ea typeface="Roboto"/>
                <a:cs typeface="Roboto"/>
                <a:sym typeface="Roboto"/>
              </a:endParaRPr>
            </a:p>
          </p:txBody>
        </p:sp>
        <p:cxnSp>
          <p:nvCxnSpPr>
            <p:cNvPr id="208" name="Google Shape;208;p19"/>
            <p:cNvCxnSpPr/>
            <p:nvPr/>
          </p:nvCxnSpPr>
          <p:spPr>
            <a:xfrm>
              <a:off x="0" y="742950"/>
              <a:ext cx="1714500" cy="0"/>
            </a:xfrm>
            <a:prstGeom prst="straightConnector1">
              <a:avLst/>
            </a:prstGeom>
            <a:solidFill>
              <a:srgbClr val="FFFFFF"/>
            </a:solidFill>
            <a:ln cap="flat" cmpd="sng" w="28575">
              <a:solidFill>
                <a:srgbClr val="00F2FE"/>
              </a:solidFill>
              <a:prstDash val="solid"/>
              <a:round/>
              <a:headEnd len="sm" w="sm" type="none"/>
              <a:tailEnd len="sm" w="sm" type="none"/>
            </a:ln>
          </p:spPr>
        </p:cxnSp>
      </p:grpSp>
      <p:grpSp>
        <p:nvGrpSpPr>
          <p:cNvPr id="209" name="Google Shape;209;p19"/>
          <p:cNvGrpSpPr/>
          <p:nvPr/>
        </p:nvGrpSpPr>
        <p:grpSpPr>
          <a:xfrm>
            <a:off x="571500" y="1428750"/>
            <a:ext cx="3619500" cy="1428900"/>
            <a:chOff x="0" y="0"/>
            <a:chExt cx="3619500" cy="1428900"/>
          </a:xfrm>
        </p:grpSpPr>
        <p:sp>
          <p:nvSpPr>
            <p:cNvPr id="210" name="Google Shape;210;p19"/>
            <p:cNvSpPr/>
            <p:nvPr/>
          </p:nvSpPr>
          <p:spPr>
            <a:xfrm>
              <a:off x="0" y="0"/>
              <a:ext cx="3619500" cy="1428900"/>
            </a:xfrm>
            <a:prstGeom prst="roundRect">
              <a:avLst>
                <a:gd fmla="val 8000" name="adj"/>
              </a:avLst>
            </a:prstGeom>
            <a:solidFill>
              <a:srgbClr val="1A2638">
                <a:alpha val="80000"/>
              </a:srgbClr>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1" name="Google Shape;211;p19"/>
            <p:cNvSpPr txBox="1"/>
            <p:nvPr/>
          </p:nvSpPr>
          <p:spPr>
            <a:xfrm>
              <a:off x="190500" y="190500"/>
              <a:ext cx="3238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40">
                  <a:solidFill>
                    <a:srgbClr val="00F2FE"/>
                  </a:solidFill>
                  <a:latin typeface="Roboto"/>
                  <a:ea typeface="Roboto"/>
                  <a:cs typeface="Roboto"/>
                  <a:sym typeface="Roboto"/>
                </a:rPr>
                <a:t>Key Fields Explained</a:t>
              </a:r>
              <a:endParaRPr b="1" sz="840">
                <a:solidFill>
                  <a:srgbClr val="00F2FE"/>
                </a:solidFill>
                <a:latin typeface="Roboto"/>
                <a:ea typeface="Roboto"/>
                <a:cs typeface="Roboto"/>
                <a:sym typeface="Roboto"/>
              </a:endParaRPr>
            </a:p>
            <a:p>
              <a:pPr indent="0" lvl="0" marL="0" rtl="0" algn="l">
                <a:spcBef>
                  <a:spcPts val="450"/>
                </a:spcBef>
                <a:spcAft>
                  <a:spcPts val="0"/>
                </a:spcAft>
                <a:buNone/>
              </a:pPr>
              <a:r>
                <a:rPr b="0" lang="en" sz="735">
                  <a:solidFill>
                    <a:srgbClr val="E0E6ED"/>
                  </a:solidFill>
                  <a:latin typeface="Roboto"/>
                  <a:ea typeface="Roboto"/>
                  <a:cs typeface="Roboto"/>
                  <a:sym typeface="Roboto"/>
                </a:rPr>
                <a:t>Each expense entry contains essential fields designed to capture comprehensive expense details for organized storage and easy retrieval:</a:t>
              </a:r>
              <a:endParaRPr b="0" sz="735">
                <a:solidFill>
                  <a:srgbClr val="E0E6ED"/>
                </a:solidFill>
                <a:latin typeface="Roboto"/>
                <a:ea typeface="Roboto"/>
                <a:cs typeface="Roboto"/>
                <a:sym typeface="Roboto"/>
              </a:endParaRPr>
            </a:p>
            <a:p>
              <a:pPr indent="-275273" lvl="0" marL="457200" rtl="0" algn="l">
                <a:spcBef>
                  <a:spcPts val="600"/>
                </a:spcBef>
                <a:spcAft>
                  <a:spcPts val="0"/>
                </a:spcAft>
                <a:buClr>
                  <a:srgbClr val="E0E6ED"/>
                </a:buClr>
                <a:buSzPts val="735"/>
                <a:buFont typeface="Roboto"/>
                <a:buChar char="●"/>
              </a:pPr>
              <a:r>
                <a:rPr b="1" lang="en" sz="735">
                  <a:solidFill>
                    <a:srgbClr val="00F2FE"/>
                  </a:solidFill>
                  <a:latin typeface="Roboto"/>
                  <a:ea typeface="Roboto"/>
                  <a:cs typeface="Roboto"/>
                  <a:sym typeface="Roboto"/>
                </a:rPr>
                <a:t>Title &amp; Category:</a:t>
              </a:r>
              <a:r>
                <a:rPr b="0" lang="en" sz="735">
                  <a:solidFill>
                    <a:srgbClr val="E0E6ED"/>
                  </a:solidFill>
                  <a:latin typeface="Roboto"/>
                  <a:ea typeface="Roboto"/>
                  <a:cs typeface="Roboto"/>
                  <a:sym typeface="Roboto"/>
                </a:rPr>
                <a:t> String types for classification</a:t>
              </a:r>
              <a:endParaRPr b="0" sz="735">
                <a:solidFill>
                  <a:srgbClr val="E0E6ED"/>
                </a:solidFill>
                <a:latin typeface="Roboto"/>
                <a:ea typeface="Roboto"/>
                <a:cs typeface="Roboto"/>
                <a:sym typeface="Roboto"/>
              </a:endParaRPr>
            </a:p>
            <a:p>
              <a:pPr indent="-275273" lvl="0" marL="457200" rtl="0" algn="l">
                <a:spcBef>
                  <a:spcPts val="450"/>
                </a:spcBef>
                <a:spcAft>
                  <a:spcPts val="0"/>
                </a:spcAft>
                <a:buClr>
                  <a:srgbClr val="E0E6ED"/>
                </a:buClr>
                <a:buSzPts val="735"/>
                <a:buFont typeface="Roboto"/>
                <a:buChar char="●"/>
              </a:pPr>
              <a:r>
                <a:rPr b="1" lang="en" sz="735">
                  <a:solidFill>
                    <a:srgbClr val="4FACFE"/>
                  </a:solidFill>
                  <a:latin typeface="Roboto"/>
                  <a:ea typeface="Roboto"/>
                  <a:cs typeface="Roboto"/>
                  <a:sym typeface="Roboto"/>
                </a:rPr>
                <a:t>Amount &amp; Date:</a:t>
              </a:r>
              <a:r>
                <a:rPr b="0" lang="en" sz="735">
                  <a:solidFill>
                    <a:srgbClr val="E0E6ED"/>
                  </a:solidFill>
                  <a:latin typeface="Roboto"/>
                  <a:ea typeface="Roboto"/>
                  <a:cs typeface="Roboto"/>
                  <a:sym typeface="Roboto"/>
                </a:rPr>
                <a:t> Numeric and Date types</a:t>
              </a:r>
              <a:endParaRPr b="0" sz="735">
                <a:solidFill>
                  <a:srgbClr val="E0E6ED"/>
                </a:solidFill>
                <a:latin typeface="Roboto"/>
                <a:ea typeface="Roboto"/>
                <a:cs typeface="Roboto"/>
                <a:sym typeface="Roboto"/>
              </a:endParaRPr>
            </a:p>
            <a:p>
              <a:pPr indent="-275273" lvl="0" marL="457200" rtl="0" algn="l">
                <a:spcBef>
                  <a:spcPts val="450"/>
                </a:spcBef>
                <a:spcAft>
                  <a:spcPts val="450"/>
                </a:spcAft>
                <a:buClr>
                  <a:srgbClr val="E0E6ED"/>
                </a:buClr>
                <a:buSzPts val="735"/>
                <a:buFont typeface="Roboto"/>
                <a:buChar char="●"/>
              </a:pPr>
              <a:r>
                <a:rPr b="1" lang="en" sz="735">
                  <a:solidFill>
                    <a:srgbClr val="E0E6ED"/>
                  </a:solidFill>
                  <a:latin typeface="Roboto"/>
                  <a:ea typeface="Roboto"/>
                  <a:cs typeface="Roboto"/>
                  <a:sym typeface="Roboto"/>
                </a:rPr>
                <a:t>Description:</a:t>
              </a:r>
              <a:r>
                <a:rPr b="0" lang="en" sz="735">
                  <a:solidFill>
                    <a:srgbClr val="E0E6ED"/>
                  </a:solidFill>
                  <a:latin typeface="Roboto"/>
                  <a:ea typeface="Roboto"/>
                  <a:cs typeface="Roboto"/>
                  <a:sym typeface="Roboto"/>
                </a:rPr>
                <a:t> Optional string for context</a:t>
              </a:r>
              <a:endParaRPr b="0" sz="735">
                <a:solidFill>
                  <a:srgbClr val="E0E6ED"/>
                </a:solidFill>
                <a:latin typeface="Roboto"/>
                <a:ea typeface="Roboto"/>
                <a:cs typeface="Roboto"/>
                <a:sym typeface="Roboto"/>
              </a:endParaRPr>
            </a:p>
          </p:txBody>
        </p:sp>
      </p:grpSp>
      <p:grpSp>
        <p:nvGrpSpPr>
          <p:cNvPr id="212" name="Google Shape;212;p19"/>
          <p:cNvGrpSpPr/>
          <p:nvPr/>
        </p:nvGrpSpPr>
        <p:grpSpPr>
          <a:xfrm>
            <a:off x="571500" y="3048000"/>
            <a:ext cx="3619500" cy="1428900"/>
            <a:chOff x="0" y="0"/>
            <a:chExt cx="3619500" cy="1428900"/>
          </a:xfrm>
        </p:grpSpPr>
        <p:sp>
          <p:nvSpPr>
            <p:cNvPr id="213" name="Google Shape;213;p19"/>
            <p:cNvSpPr/>
            <p:nvPr/>
          </p:nvSpPr>
          <p:spPr>
            <a:xfrm>
              <a:off x="0" y="0"/>
              <a:ext cx="3619500" cy="1428900"/>
            </a:xfrm>
            <a:prstGeom prst="roundRect">
              <a:avLst>
                <a:gd fmla="val 8000" name="adj"/>
              </a:avLst>
            </a:prstGeom>
            <a:solidFill>
              <a:srgbClr val="1A2638">
                <a:alpha val="80000"/>
              </a:srgbClr>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4" name="Google Shape;214;p19"/>
            <p:cNvSpPr txBox="1"/>
            <p:nvPr/>
          </p:nvSpPr>
          <p:spPr>
            <a:xfrm>
              <a:off x="190500" y="190500"/>
              <a:ext cx="3238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40">
                  <a:solidFill>
                    <a:srgbClr val="4FACFE"/>
                  </a:solidFill>
                  <a:latin typeface="Roboto"/>
                  <a:ea typeface="Roboto"/>
                  <a:cs typeface="Roboto"/>
                  <a:sym typeface="Roboto"/>
                </a:rPr>
                <a:t>Practical Example Schema</a:t>
              </a:r>
              <a:endParaRPr b="1" sz="840">
                <a:solidFill>
                  <a:srgbClr val="4FACFE"/>
                </a:solidFill>
                <a:latin typeface="Roboto"/>
                <a:ea typeface="Roboto"/>
                <a:cs typeface="Roboto"/>
                <a:sym typeface="Roboto"/>
              </a:endParaRPr>
            </a:p>
            <a:p>
              <a:pPr indent="0" lvl="0" marL="0" rtl="0" algn="l">
                <a:spcBef>
                  <a:spcPts val="450"/>
                </a:spcBef>
                <a:spcAft>
                  <a:spcPts val="0"/>
                </a:spcAft>
                <a:buNone/>
              </a:pPr>
              <a:r>
                <a:rPr b="0" lang="en" sz="735">
                  <a:solidFill>
                    <a:srgbClr val="E0E6ED"/>
                  </a:solidFill>
                  <a:latin typeface="Roboto"/>
                  <a:ea typeface="Roboto"/>
                  <a:cs typeface="Roboto"/>
                  <a:sym typeface="Roboto"/>
                </a:rPr>
                <a:t>A standard JSON representation highlights how real expense data fits into our structured MongoDB schema:</a:t>
              </a:r>
              <a:endParaRPr b="0" sz="735">
                <a:solidFill>
                  <a:srgbClr val="E0E6ED"/>
                </a:solidFill>
                <a:latin typeface="Roboto"/>
                <a:ea typeface="Roboto"/>
                <a:cs typeface="Roboto"/>
                <a:sym typeface="Roboto"/>
              </a:endParaRPr>
            </a:p>
            <a:p>
              <a:pPr indent="0" lvl="0" marL="0" rtl="0" algn="l">
                <a:spcBef>
                  <a:spcPts val="600"/>
                </a:spcBef>
                <a:spcAft>
                  <a:spcPts val="0"/>
                </a:spcAft>
                <a:buNone/>
              </a:pPr>
              <a:r>
                <a:rPr b="0" lang="en" sz="665">
                  <a:solidFill>
                    <a:srgbClr val="38BDF8"/>
                  </a:solidFill>
                  <a:latin typeface="Arial"/>
                  <a:ea typeface="Arial"/>
                  <a:cs typeface="Arial"/>
                  <a:sym typeface="Arial"/>
                </a:rPr>
                <a:t>{</a:t>
              </a:r>
              <a:endParaRPr b="0" sz="665">
                <a:solidFill>
                  <a:srgbClr val="38BDF8"/>
                </a:solidFill>
                <a:latin typeface="Arial"/>
                <a:ea typeface="Arial"/>
                <a:cs typeface="Arial"/>
                <a:sym typeface="Arial"/>
              </a:endParaRPr>
            </a:p>
            <a:p>
              <a:pPr indent="0" lvl="0" marL="0" rtl="0" algn="l">
                <a:spcBef>
                  <a:spcPts val="0"/>
                </a:spcBef>
                <a:spcAft>
                  <a:spcPts val="0"/>
                </a:spcAft>
                <a:buNone/>
              </a:pPr>
              <a:r>
                <a:rPr b="0" lang="en" sz="665">
                  <a:solidFill>
                    <a:srgbClr val="A0AEC0"/>
                  </a:solidFill>
                  <a:latin typeface="Arial"/>
                  <a:ea typeface="Arial"/>
                  <a:cs typeface="Arial"/>
                  <a:sym typeface="Arial"/>
                </a:rPr>
                <a:t>"title": </a:t>
              </a:r>
              <a:r>
                <a:rPr b="0" lang="en" sz="665">
                  <a:solidFill>
                    <a:srgbClr val="F43F5E"/>
                  </a:solidFill>
                  <a:latin typeface="Arial"/>
                  <a:ea typeface="Arial"/>
                  <a:cs typeface="Arial"/>
                  <a:sym typeface="Arial"/>
                </a:rPr>
                <a:t>"Pizza"</a:t>
              </a:r>
              <a:r>
                <a:rPr b="0" lang="en" sz="665">
                  <a:solidFill>
                    <a:srgbClr val="A0AEC0"/>
                  </a:solidFill>
                  <a:latin typeface="Arial"/>
                  <a:ea typeface="Arial"/>
                  <a:cs typeface="Arial"/>
                  <a:sym typeface="Arial"/>
                </a:rPr>
                <a:t>, "amount": </a:t>
              </a:r>
              <a:r>
                <a:rPr b="0" lang="en" sz="665">
                  <a:solidFill>
                    <a:srgbClr val="34D399"/>
                  </a:solidFill>
                  <a:latin typeface="Arial"/>
                  <a:ea typeface="Arial"/>
                  <a:cs typeface="Arial"/>
                  <a:sym typeface="Arial"/>
                </a:rPr>
                <a:t>450</a:t>
              </a:r>
              <a:r>
                <a:rPr b="0" lang="en" sz="665">
                  <a:solidFill>
                    <a:srgbClr val="A0AEC0"/>
                  </a:solidFill>
                  <a:latin typeface="Arial"/>
                  <a:ea typeface="Arial"/>
                  <a:cs typeface="Arial"/>
                  <a:sym typeface="Arial"/>
                </a:rPr>
                <a:t>,</a:t>
              </a:r>
              <a:endParaRPr b="0" sz="665">
                <a:solidFill>
                  <a:srgbClr val="A0AEC0"/>
                </a:solidFill>
                <a:latin typeface="Arial"/>
                <a:ea typeface="Arial"/>
                <a:cs typeface="Arial"/>
                <a:sym typeface="Arial"/>
              </a:endParaRPr>
            </a:p>
            <a:p>
              <a:pPr indent="0" lvl="0" marL="0" rtl="0" algn="l">
                <a:spcBef>
                  <a:spcPts val="0"/>
                </a:spcBef>
                <a:spcAft>
                  <a:spcPts val="0"/>
                </a:spcAft>
                <a:buNone/>
              </a:pPr>
              <a:r>
                <a:rPr b="0" lang="en" sz="665">
                  <a:solidFill>
                    <a:srgbClr val="A0AEC0"/>
                  </a:solidFill>
                  <a:latin typeface="Arial"/>
                  <a:ea typeface="Arial"/>
                  <a:cs typeface="Arial"/>
                  <a:sym typeface="Arial"/>
                </a:rPr>
                <a:t>"category": </a:t>
              </a:r>
              <a:r>
                <a:rPr b="0" lang="en" sz="665">
                  <a:solidFill>
                    <a:srgbClr val="F43F5E"/>
                  </a:solidFill>
                  <a:latin typeface="Arial"/>
                  <a:ea typeface="Arial"/>
                  <a:cs typeface="Arial"/>
                  <a:sym typeface="Arial"/>
                </a:rPr>
                <a:t>"Food"</a:t>
              </a:r>
              <a:r>
                <a:rPr b="0" lang="en" sz="665">
                  <a:solidFill>
                    <a:srgbClr val="A0AEC0"/>
                  </a:solidFill>
                  <a:latin typeface="Arial"/>
                  <a:ea typeface="Arial"/>
                  <a:cs typeface="Arial"/>
                  <a:sym typeface="Arial"/>
                </a:rPr>
                <a:t>, "date": </a:t>
              </a:r>
              <a:r>
                <a:rPr b="0" lang="en" sz="665">
                  <a:solidFill>
                    <a:srgbClr val="FBBF24"/>
                  </a:solidFill>
                  <a:latin typeface="Arial"/>
                  <a:ea typeface="Arial"/>
                  <a:cs typeface="Arial"/>
                  <a:sym typeface="Arial"/>
                </a:rPr>
                <a:t>"2026-07-15"</a:t>
              </a:r>
              <a:r>
                <a:rPr b="0" lang="en" sz="665">
                  <a:solidFill>
                    <a:srgbClr val="A0AEC0"/>
                  </a:solidFill>
                  <a:latin typeface="Arial"/>
                  <a:ea typeface="Arial"/>
                  <a:cs typeface="Arial"/>
                  <a:sym typeface="Arial"/>
                </a:rPr>
                <a:t>,</a:t>
              </a:r>
              <a:endParaRPr b="0" sz="665">
                <a:solidFill>
                  <a:srgbClr val="A0AEC0"/>
                </a:solidFill>
                <a:latin typeface="Arial"/>
                <a:ea typeface="Arial"/>
                <a:cs typeface="Arial"/>
                <a:sym typeface="Arial"/>
              </a:endParaRPr>
            </a:p>
            <a:p>
              <a:pPr indent="0" lvl="0" marL="0" rtl="0" algn="l">
                <a:spcBef>
                  <a:spcPts val="0"/>
                </a:spcBef>
                <a:spcAft>
                  <a:spcPts val="0"/>
                </a:spcAft>
                <a:buNone/>
              </a:pPr>
              <a:r>
                <a:rPr b="0" lang="en" sz="665">
                  <a:solidFill>
                    <a:srgbClr val="A0AEC0"/>
                  </a:solidFill>
                  <a:latin typeface="Arial"/>
                  <a:ea typeface="Arial"/>
                  <a:cs typeface="Arial"/>
                  <a:sym typeface="Arial"/>
                </a:rPr>
                <a:t>"description": </a:t>
              </a:r>
              <a:r>
                <a:rPr b="0" lang="en" sz="665">
                  <a:solidFill>
                    <a:srgbClr val="A7F3D0"/>
                  </a:solidFill>
                  <a:latin typeface="Arial"/>
                  <a:ea typeface="Arial"/>
                  <a:cs typeface="Arial"/>
                  <a:sym typeface="Arial"/>
                </a:rPr>
                <a:t>"Dinner team gathering"</a:t>
              </a:r>
              <a:endParaRPr b="0" sz="665">
                <a:solidFill>
                  <a:srgbClr val="A0AEC0"/>
                </a:solidFill>
                <a:latin typeface="Arial"/>
                <a:ea typeface="Arial"/>
                <a:cs typeface="Arial"/>
                <a:sym typeface="Arial"/>
              </a:endParaRPr>
            </a:p>
            <a:p>
              <a:pPr indent="0" lvl="0" marL="0" rtl="0" algn="l">
                <a:spcBef>
                  <a:spcPts val="0"/>
                </a:spcBef>
                <a:spcAft>
                  <a:spcPts val="0"/>
                </a:spcAft>
                <a:buNone/>
              </a:pPr>
              <a:r>
                <a:rPr b="0" lang="en" sz="665">
                  <a:solidFill>
                    <a:srgbClr val="A0AEC0"/>
                  </a:solidFill>
                  <a:latin typeface="Arial"/>
                  <a:ea typeface="Arial"/>
                  <a:cs typeface="Arial"/>
                  <a:sym typeface="Arial"/>
                </a:rPr>
                <a:t>}</a:t>
              </a:r>
              <a:endParaRPr b="0" sz="665">
                <a:solidFill>
                  <a:srgbClr val="A0AEC0"/>
                </a:solidFill>
                <a:latin typeface="Arial"/>
                <a:ea typeface="Arial"/>
                <a:cs typeface="Arial"/>
                <a:sym typeface="Arial"/>
              </a:endParaRPr>
            </a:p>
          </p:txBody>
        </p:sp>
      </p:grpSp>
      <p:grpSp>
        <p:nvGrpSpPr>
          <p:cNvPr id="215" name="Google Shape;215;p19"/>
          <p:cNvGrpSpPr/>
          <p:nvPr/>
        </p:nvGrpSpPr>
        <p:grpSpPr>
          <a:xfrm>
            <a:off x="4476750" y="1428750"/>
            <a:ext cx="4095900" cy="952500"/>
            <a:chOff x="0" y="0"/>
            <a:chExt cx="4095900" cy="952500"/>
          </a:xfrm>
        </p:grpSpPr>
        <p:sp>
          <p:nvSpPr>
            <p:cNvPr id="216" name="Google Shape;216;p19"/>
            <p:cNvSpPr/>
            <p:nvPr/>
          </p:nvSpPr>
          <p:spPr>
            <a:xfrm>
              <a:off x="0" y="0"/>
              <a:ext cx="4095900" cy="952500"/>
            </a:xfrm>
            <a:prstGeom prst="roundRect">
              <a:avLst>
                <a:gd fmla="val 12000" name="adj"/>
              </a:avLst>
            </a:prstGeom>
            <a:solidFill>
              <a:srgbClr val="1A2638">
                <a:alpha val="80000"/>
              </a:srgbClr>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7" name="Google Shape;217;p19"/>
            <p:cNvSpPr txBox="1"/>
            <p:nvPr/>
          </p:nvSpPr>
          <p:spPr>
            <a:xfrm>
              <a:off x="190500" y="142875"/>
              <a:ext cx="8574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200">
                  <a:solidFill>
                    <a:srgbClr val="00F2FE"/>
                  </a:solidFill>
                  <a:latin typeface="Roboto ExtraBold"/>
                  <a:ea typeface="Roboto ExtraBold"/>
                  <a:cs typeface="Roboto ExtraBold"/>
                  <a:sym typeface="Roboto ExtraBold"/>
                </a:rPr>
                <a:t>40%</a:t>
              </a:r>
              <a:endParaRPr b="0" sz="3200">
                <a:solidFill>
                  <a:srgbClr val="00F2FE"/>
                </a:solidFill>
                <a:latin typeface="Roboto ExtraBold"/>
                <a:ea typeface="Roboto ExtraBold"/>
                <a:cs typeface="Roboto ExtraBold"/>
                <a:sym typeface="Roboto ExtraBold"/>
              </a:endParaRPr>
            </a:p>
            <a:p>
              <a:pPr indent="0" lvl="0" marL="0" rtl="0" algn="l">
                <a:spcBef>
                  <a:spcPts val="0"/>
                </a:spcBef>
                <a:spcAft>
                  <a:spcPts val="0"/>
                </a:spcAft>
                <a:buNone/>
              </a:pPr>
              <a:r>
                <a:rPr b="1" lang="en" sz="1000">
                  <a:solidFill>
                    <a:srgbClr val="4FACFE"/>
                  </a:solidFill>
                  <a:latin typeface="Roboto"/>
                  <a:ea typeface="Roboto"/>
                  <a:cs typeface="Roboto"/>
                  <a:sym typeface="Roboto"/>
                </a:rPr>
                <a:t>WEIGHT</a:t>
              </a:r>
              <a:endParaRPr b="1" sz="1000">
                <a:solidFill>
                  <a:srgbClr val="4FACFE"/>
                </a:solidFill>
                <a:latin typeface="Roboto"/>
                <a:ea typeface="Roboto"/>
                <a:cs typeface="Roboto"/>
                <a:sym typeface="Roboto"/>
              </a:endParaRPr>
            </a:p>
          </p:txBody>
        </p:sp>
        <p:sp>
          <p:nvSpPr>
            <p:cNvPr id="218" name="Google Shape;218;p19"/>
            <p:cNvSpPr txBox="1"/>
            <p:nvPr/>
          </p:nvSpPr>
          <p:spPr>
            <a:xfrm>
              <a:off x="1238250" y="142875"/>
              <a:ext cx="2667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735">
                  <a:solidFill>
                    <a:srgbClr val="00F2FE"/>
                  </a:solidFill>
                  <a:latin typeface="Roboto"/>
                  <a:ea typeface="Roboto"/>
                  <a:cs typeface="Roboto"/>
                  <a:sym typeface="Roboto"/>
                </a:rPr>
                <a:t>Classification Focus</a:t>
              </a:r>
              <a:endParaRPr b="1" sz="735">
                <a:solidFill>
                  <a:srgbClr val="00F2FE"/>
                </a:solidFill>
                <a:latin typeface="Roboto"/>
                <a:ea typeface="Roboto"/>
                <a:cs typeface="Roboto"/>
                <a:sym typeface="Roboto"/>
              </a:endParaRPr>
            </a:p>
            <a:p>
              <a:pPr indent="0" lvl="0" marL="0" rtl="0" algn="l">
                <a:spcBef>
                  <a:spcPts val="300"/>
                </a:spcBef>
                <a:spcAft>
                  <a:spcPts val="0"/>
                </a:spcAft>
                <a:buNone/>
              </a:pPr>
              <a:r>
                <a:rPr b="0" lang="en" sz="665">
                  <a:solidFill>
                    <a:srgbClr val="A0AEC0"/>
                  </a:solidFill>
                  <a:latin typeface="Roboto"/>
                  <a:ea typeface="Roboto"/>
                  <a:cs typeface="Roboto"/>
                  <a:sym typeface="Roboto"/>
                </a:rPr>
                <a:t>Title and Category fields cater directly to classification needs, representing 40% of the core meta attributes.</a:t>
              </a:r>
              <a:endParaRPr b="0" sz="665">
                <a:solidFill>
                  <a:srgbClr val="A0AEC0"/>
                </a:solidFill>
                <a:latin typeface="Roboto"/>
                <a:ea typeface="Roboto"/>
                <a:cs typeface="Roboto"/>
                <a:sym typeface="Roboto"/>
              </a:endParaRPr>
            </a:p>
          </p:txBody>
        </p:sp>
      </p:grpSp>
      <p:grpSp>
        <p:nvGrpSpPr>
          <p:cNvPr id="219" name="Google Shape;219;p19"/>
          <p:cNvGrpSpPr/>
          <p:nvPr/>
        </p:nvGrpSpPr>
        <p:grpSpPr>
          <a:xfrm>
            <a:off x="4476750" y="2571750"/>
            <a:ext cx="4095900" cy="952500"/>
            <a:chOff x="0" y="0"/>
            <a:chExt cx="4095900" cy="952500"/>
          </a:xfrm>
        </p:grpSpPr>
        <p:sp>
          <p:nvSpPr>
            <p:cNvPr id="220" name="Google Shape;220;p19"/>
            <p:cNvSpPr/>
            <p:nvPr/>
          </p:nvSpPr>
          <p:spPr>
            <a:xfrm>
              <a:off x="0" y="0"/>
              <a:ext cx="4095900" cy="952500"/>
            </a:xfrm>
            <a:prstGeom prst="roundRect">
              <a:avLst>
                <a:gd fmla="val 12000" name="adj"/>
              </a:avLst>
            </a:prstGeom>
            <a:solidFill>
              <a:srgbClr val="1A2638">
                <a:alpha val="80000"/>
              </a:srgbClr>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1" name="Google Shape;221;p19"/>
            <p:cNvSpPr txBox="1"/>
            <p:nvPr/>
          </p:nvSpPr>
          <p:spPr>
            <a:xfrm>
              <a:off x="190500" y="142875"/>
              <a:ext cx="8574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200">
                  <a:solidFill>
                    <a:srgbClr val="4FACFE"/>
                  </a:solidFill>
                  <a:latin typeface="Roboto ExtraBold"/>
                  <a:ea typeface="Roboto ExtraBold"/>
                  <a:cs typeface="Roboto ExtraBold"/>
                  <a:sym typeface="Roboto ExtraBold"/>
                </a:rPr>
                <a:t>30%</a:t>
              </a:r>
              <a:endParaRPr b="0" sz="3200">
                <a:solidFill>
                  <a:srgbClr val="4FACFE"/>
                </a:solidFill>
                <a:latin typeface="Roboto ExtraBold"/>
                <a:ea typeface="Roboto ExtraBold"/>
                <a:cs typeface="Roboto ExtraBold"/>
                <a:sym typeface="Roboto ExtraBold"/>
              </a:endParaRPr>
            </a:p>
            <a:p>
              <a:pPr indent="0" lvl="0" marL="0" rtl="0" algn="l">
                <a:spcBef>
                  <a:spcPts val="0"/>
                </a:spcBef>
                <a:spcAft>
                  <a:spcPts val="0"/>
                </a:spcAft>
                <a:buNone/>
              </a:pPr>
              <a:r>
                <a:rPr b="1" lang="en" sz="1000">
                  <a:solidFill>
                    <a:srgbClr val="00F2FE"/>
                  </a:solidFill>
                  <a:latin typeface="Roboto"/>
                  <a:ea typeface="Roboto"/>
                  <a:cs typeface="Roboto"/>
                  <a:sym typeface="Roboto"/>
                </a:rPr>
                <a:t>WEIGHT</a:t>
              </a:r>
              <a:endParaRPr b="1" sz="1000">
                <a:solidFill>
                  <a:srgbClr val="00F2FE"/>
                </a:solidFill>
                <a:latin typeface="Roboto"/>
                <a:ea typeface="Roboto"/>
                <a:cs typeface="Roboto"/>
                <a:sym typeface="Roboto"/>
              </a:endParaRPr>
            </a:p>
          </p:txBody>
        </p:sp>
        <p:sp>
          <p:nvSpPr>
            <p:cNvPr id="222" name="Google Shape;222;p19"/>
            <p:cNvSpPr txBox="1"/>
            <p:nvPr/>
          </p:nvSpPr>
          <p:spPr>
            <a:xfrm>
              <a:off x="1238250" y="142875"/>
              <a:ext cx="2667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735">
                  <a:solidFill>
                    <a:srgbClr val="4FACFE"/>
                  </a:solidFill>
                  <a:latin typeface="Roboto"/>
                  <a:ea typeface="Roboto"/>
                  <a:cs typeface="Roboto"/>
                  <a:sym typeface="Roboto"/>
                </a:rPr>
                <a:t>Financial Tracking</a:t>
              </a:r>
              <a:endParaRPr b="1" sz="735">
                <a:solidFill>
                  <a:srgbClr val="4FACFE"/>
                </a:solidFill>
                <a:latin typeface="Roboto"/>
                <a:ea typeface="Roboto"/>
                <a:cs typeface="Roboto"/>
                <a:sym typeface="Roboto"/>
              </a:endParaRPr>
            </a:p>
            <a:p>
              <a:pPr indent="0" lvl="0" marL="0" rtl="0" algn="l">
                <a:spcBef>
                  <a:spcPts val="300"/>
                </a:spcBef>
                <a:spcAft>
                  <a:spcPts val="0"/>
                </a:spcAft>
                <a:buNone/>
              </a:pPr>
              <a:r>
                <a:rPr b="0" lang="en" sz="665">
                  <a:solidFill>
                    <a:srgbClr val="A0AEC0"/>
                  </a:solidFill>
                  <a:latin typeface="Roboto"/>
                  <a:ea typeface="Roboto"/>
                  <a:cs typeface="Roboto"/>
                  <a:sym typeface="Roboto"/>
                </a:rPr>
                <a:t>The Amount field is strictly numeric, serving as the foundation for budgeting metrics and statistical calculations.</a:t>
              </a:r>
              <a:endParaRPr b="0" sz="665">
                <a:solidFill>
                  <a:srgbClr val="A0AEC0"/>
                </a:solidFill>
                <a:latin typeface="Roboto"/>
                <a:ea typeface="Roboto"/>
                <a:cs typeface="Roboto"/>
                <a:sym typeface="Roboto"/>
              </a:endParaRPr>
            </a:p>
          </p:txBody>
        </p:sp>
      </p:grpSp>
      <p:grpSp>
        <p:nvGrpSpPr>
          <p:cNvPr id="223" name="Google Shape;223;p19"/>
          <p:cNvGrpSpPr/>
          <p:nvPr/>
        </p:nvGrpSpPr>
        <p:grpSpPr>
          <a:xfrm>
            <a:off x="4476750" y="3714750"/>
            <a:ext cx="4095900" cy="962100"/>
            <a:chOff x="0" y="0"/>
            <a:chExt cx="4095900" cy="962100"/>
          </a:xfrm>
        </p:grpSpPr>
        <p:sp>
          <p:nvSpPr>
            <p:cNvPr id="224" name="Google Shape;224;p19"/>
            <p:cNvSpPr/>
            <p:nvPr/>
          </p:nvSpPr>
          <p:spPr>
            <a:xfrm>
              <a:off x="0" y="0"/>
              <a:ext cx="4095900" cy="962100"/>
            </a:xfrm>
            <a:prstGeom prst="roundRect">
              <a:avLst>
                <a:gd fmla="val 11881" name="adj"/>
              </a:avLst>
            </a:prstGeom>
            <a:solidFill>
              <a:srgbClr val="1A2638">
                <a:alpha val="80000"/>
              </a:srgbClr>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19"/>
            <p:cNvSpPr txBox="1"/>
            <p:nvPr/>
          </p:nvSpPr>
          <p:spPr>
            <a:xfrm>
              <a:off x="190500" y="142875"/>
              <a:ext cx="8574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200">
                  <a:solidFill>
                    <a:srgbClr val="00F2FE"/>
                  </a:solidFill>
                  <a:latin typeface="Roboto ExtraBold"/>
                  <a:ea typeface="Roboto ExtraBold"/>
                  <a:cs typeface="Roboto ExtraBold"/>
                  <a:sym typeface="Roboto ExtraBold"/>
                </a:rPr>
                <a:t>30%</a:t>
              </a:r>
              <a:endParaRPr b="0" sz="3200">
                <a:solidFill>
                  <a:srgbClr val="00F2FE"/>
                </a:solidFill>
                <a:latin typeface="Roboto ExtraBold"/>
                <a:ea typeface="Roboto ExtraBold"/>
                <a:cs typeface="Roboto ExtraBold"/>
                <a:sym typeface="Roboto ExtraBold"/>
              </a:endParaRPr>
            </a:p>
            <a:p>
              <a:pPr indent="0" lvl="0" marL="0" rtl="0" algn="l">
                <a:spcBef>
                  <a:spcPts val="0"/>
                </a:spcBef>
                <a:spcAft>
                  <a:spcPts val="0"/>
                </a:spcAft>
                <a:buNone/>
              </a:pPr>
              <a:r>
                <a:rPr b="1" lang="en" sz="1000">
                  <a:solidFill>
                    <a:srgbClr val="4FACFE"/>
                  </a:solidFill>
                  <a:latin typeface="Roboto"/>
                  <a:ea typeface="Roboto"/>
                  <a:cs typeface="Roboto"/>
                  <a:sym typeface="Roboto"/>
                </a:rPr>
                <a:t>WEIGHT</a:t>
              </a:r>
              <a:endParaRPr b="1" sz="1000">
                <a:solidFill>
                  <a:srgbClr val="4FACFE"/>
                </a:solidFill>
                <a:latin typeface="Roboto"/>
                <a:ea typeface="Roboto"/>
                <a:cs typeface="Roboto"/>
                <a:sym typeface="Roboto"/>
              </a:endParaRPr>
            </a:p>
          </p:txBody>
        </p:sp>
        <p:sp>
          <p:nvSpPr>
            <p:cNvPr id="226" name="Google Shape;226;p19"/>
            <p:cNvSpPr txBox="1"/>
            <p:nvPr/>
          </p:nvSpPr>
          <p:spPr>
            <a:xfrm>
              <a:off x="1238250" y="142875"/>
              <a:ext cx="2667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735">
                  <a:solidFill>
                    <a:srgbClr val="00F2FE"/>
                  </a:solidFill>
                  <a:latin typeface="Roboto"/>
                  <a:ea typeface="Roboto"/>
                  <a:cs typeface="Roboto"/>
                  <a:sym typeface="Roboto"/>
                </a:rPr>
                <a:t>Temporal Context</a:t>
              </a:r>
              <a:endParaRPr b="1" sz="735">
                <a:solidFill>
                  <a:srgbClr val="00F2FE"/>
                </a:solidFill>
                <a:latin typeface="Roboto"/>
                <a:ea typeface="Roboto"/>
                <a:cs typeface="Roboto"/>
                <a:sym typeface="Roboto"/>
              </a:endParaRPr>
            </a:p>
            <a:p>
              <a:pPr indent="0" lvl="0" marL="0" rtl="0" algn="l">
                <a:spcBef>
                  <a:spcPts val="300"/>
                </a:spcBef>
                <a:spcAft>
                  <a:spcPts val="0"/>
                </a:spcAft>
                <a:buNone/>
              </a:pPr>
              <a:r>
                <a:rPr b="0" lang="en" sz="665">
                  <a:solidFill>
                    <a:srgbClr val="A0AEC0"/>
                  </a:solidFill>
                  <a:latin typeface="Roboto"/>
                  <a:ea typeface="Roboto"/>
                  <a:cs typeface="Roboto"/>
                  <a:sym typeface="Roboto"/>
                </a:rPr>
                <a:t>Date and Description keys complete the document pattern, allowing timeline query sorting and user notes.</a:t>
              </a:r>
              <a:endParaRPr b="0" sz="665">
                <a:solidFill>
                  <a:srgbClr val="A0AEC0"/>
                </a:solidFill>
                <a:latin typeface="Roboto"/>
                <a:ea typeface="Roboto"/>
                <a:cs typeface="Roboto"/>
                <a:sym typeface="Roboto"/>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0"/>
          <p:cNvSpPr/>
          <p:nvPr/>
        </p:nvSpPr>
        <p:spPr>
          <a:xfrm>
            <a:off x="0" y="0"/>
            <a:ext cx="9144000" cy="5143500"/>
          </a:xfrm>
          <a:prstGeom prst="rect">
            <a:avLst/>
          </a:prstGeom>
          <a:solidFill>
            <a:srgbClr val="0E17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32" name="Google Shape;232;p20"/>
          <p:cNvGrpSpPr/>
          <p:nvPr/>
        </p:nvGrpSpPr>
        <p:grpSpPr>
          <a:xfrm>
            <a:off x="571500" y="381000"/>
            <a:ext cx="8001000" cy="742950"/>
            <a:chOff x="0" y="0"/>
            <a:chExt cx="8001000" cy="742950"/>
          </a:xfrm>
        </p:grpSpPr>
        <p:sp>
          <p:nvSpPr>
            <p:cNvPr id="233" name="Google Shape;233;p20"/>
            <p:cNvSpPr txBox="1"/>
            <p:nvPr/>
          </p:nvSpPr>
          <p:spPr>
            <a:xfrm>
              <a:off x="0" y="0"/>
              <a:ext cx="8001000" cy="4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400">
                  <a:solidFill>
                    <a:srgbClr val="00F2FE"/>
                  </a:solidFill>
                  <a:latin typeface="Roboto ExtraBold"/>
                  <a:ea typeface="Roboto ExtraBold"/>
                  <a:cs typeface="Roboto ExtraBold"/>
                  <a:sym typeface="Roboto ExtraBold"/>
                </a:rPr>
                <a:t>Expense Tracking System: CRUD &amp; Features</a:t>
              </a:r>
              <a:endParaRPr b="0" sz="2400">
                <a:solidFill>
                  <a:srgbClr val="00F2FE"/>
                </a:solidFill>
                <a:latin typeface="Roboto ExtraBold"/>
                <a:ea typeface="Roboto ExtraBold"/>
                <a:cs typeface="Roboto ExtraBold"/>
                <a:sym typeface="Roboto ExtraBold"/>
              </a:endParaRPr>
            </a:p>
          </p:txBody>
        </p:sp>
        <p:sp>
          <p:nvSpPr>
            <p:cNvPr id="234" name="Google Shape;234;p20"/>
            <p:cNvSpPr txBox="1"/>
            <p:nvPr/>
          </p:nvSpPr>
          <p:spPr>
            <a:xfrm>
              <a:off x="0" y="400050"/>
              <a:ext cx="8001000" cy="26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50">
                  <a:solidFill>
                    <a:srgbClr val="E0E6ED"/>
                  </a:solidFill>
                  <a:latin typeface="Roboto"/>
                  <a:ea typeface="Roboto"/>
                  <a:cs typeface="Roboto"/>
                  <a:sym typeface="Roboto"/>
                </a:rPr>
                <a:t>Core Operations, Enhanced Functionalities &amp; Educational Insights</a:t>
              </a:r>
              <a:endParaRPr b="0" sz="1250">
                <a:solidFill>
                  <a:srgbClr val="E0E6ED"/>
                </a:solidFill>
                <a:latin typeface="Roboto"/>
                <a:ea typeface="Roboto"/>
                <a:cs typeface="Roboto"/>
                <a:sym typeface="Roboto"/>
              </a:endParaRPr>
            </a:p>
          </p:txBody>
        </p:sp>
        <p:cxnSp>
          <p:nvCxnSpPr>
            <p:cNvPr id="235" name="Google Shape;235;p20"/>
            <p:cNvCxnSpPr/>
            <p:nvPr/>
          </p:nvCxnSpPr>
          <p:spPr>
            <a:xfrm>
              <a:off x="0" y="742950"/>
              <a:ext cx="1714500" cy="0"/>
            </a:xfrm>
            <a:prstGeom prst="straightConnector1">
              <a:avLst/>
            </a:prstGeom>
            <a:solidFill>
              <a:srgbClr val="FFFFFF"/>
            </a:solidFill>
            <a:ln cap="flat" cmpd="sng" w="28575">
              <a:solidFill>
                <a:srgbClr val="00F2FE"/>
              </a:solidFill>
              <a:prstDash val="solid"/>
              <a:round/>
              <a:headEnd len="sm" w="sm" type="none"/>
              <a:tailEnd len="sm" w="sm" type="none"/>
            </a:ln>
          </p:spPr>
        </p:cxnSp>
      </p:grpSp>
      <p:grpSp>
        <p:nvGrpSpPr>
          <p:cNvPr id="236" name="Google Shape;236;p20"/>
          <p:cNvGrpSpPr/>
          <p:nvPr/>
        </p:nvGrpSpPr>
        <p:grpSpPr>
          <a:xfrm>
            <a:off x="571500" y="1428750"/>
            <a:ext cx="3619500" cy="1428900"/>
            <a:chOff x="0" y="0"/>
            <a:chExt cx="3619500" cy="1428900"/>
          </a:xfrm>
        </p:grpSpPr>
        <p:sp>
          <p:nvSpPr>
            <p:cNvPr id="237" name="Google Shape;237;p20"/>
            <p:cNvSpPr/>
            <p:nvPr/>
          </p:nvSpPr>
          <p:spPr>
            <a:xfrm>
              <a:off x="0" y="0"/>
              <a:ext cx="3619500" cy="1428900"/>
            </a:xfrm>
            <a:prstGeom prst="roundRect">
              <a:avLst>
                <a:gd fmla="val 8000" name="adj"/>
              </a:avLst>
            </a:prstGeom>
            <a:solidFill>
              <a:srgbClr val="1A2638">
                <a:alpha val="80000"/>
              </a:srgbClr>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8" name="Google Shape;238;p20"/>
            <p:cNvSpPr txBox="1"/>
            <p:nvPr/>
          </p:nvSpPr>
          <p:spPr>
            <a:xfrm>
              <a:off x="190500" y="190500"/>
              <a:ext cx="3238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00F2FE"/>
                  </a:solidFill>
                  <a:latin typeface="Roboto"/>
                  <a:ea typeface="Roboto"/>
                  <a:cs typeface="Roboto"/>
                  <a:sym typeface="Roboto"/>
                </a:rPr>
                <a:t>Core CRUD Operations Overview</a:t>
              </a:r>
              <a:endParaRPr b="1" sz="1100">
                <a:solidFill>
                  <a:srgbClr val="00F2FE"/>
                </a:solidFill>
                <a:latin typeface="Roboto"/>
                <a:ea typeface="Roboto"/>
                <a:cs typeface="Roboto"/>
                <a:sym typeface="Roboto"/>
              </a:endParaRPr>
            </a:p>
            <a:p>
              <a:pPr indent="0" lvl="0" marL="0" rtl="0" algn="l">
                <a:spcBef>
                  <a:spcPts val="450"/>
                </a:spcBef>
                <a:spcAft>
                  <a:spcPts val="0"/>
                </a:spcAft>
                <a:buNone/>
              </a:pPr>
              <a:r>
                <a:rPr b="0" lang="en" sz="850">
                  <a:solidFill>
                    <a:srgbClr val="E0E6ED"/>
                  </a:solidFill>
                  <a:latin typeface="Roboto"/>
                  <a:ea typeface="Roboto"/>
                  <a:cs typeface="Roboto"/>
                  <a:sym typeface="Roboto"/>
                </a:rPr>
                <a:t>The system supports fundamental CRUD operations essential for managing expenses: creating new entries, viewing the expense list, updating existing records, and deleting unwanted items.</a:t>
              </a:r>
              <a:endParaRPr b="0" sz="850">
                <a:solidFill>
                  <a:srgbClr val="E0E6ED"/>
                </a:solidFill>
                <a:latin typeface="Roboto"/>
                <a:ea typeface="Roboto"/>
                <a:cs typeface="Roboto"/>
                <a:sym typeface="Roboto"/>
              </a:endParaRPr>
            </a:p>
            <a:p>
              <a:pPr indent="0" lvl="0" marL="0" rtl="0" algn="l">
                <a:spcBef>
                  <a:spcPts val="600"/>
                </a:spcBef>
                <a:spcAft>
                  <a:spcPts val="0"/>
                </a:spcAft>
                <a:buNone/>
              </a:pPr>
              <a:r>
                <a:rPr b="0" lang="en" sz="800">
                  <a:solidFill>
                    <a:srgbClr val="A0AEC0"/>
                  </a:solidFill>
                  <a:latin typeface="Roboto"/>
                  <a:ea typeface="Roboto"/>
                  <a:cs typeface="Roboto"/>
                  <a:sym typeface="Roboto"/>
                </a:rPr>
                <a:t>These basics ensure smooth, real-time handling of user financial data stored in the underlying database.</a:t>
              </a:r>
              <a:endParaRPr b="0" sz="800">
                <a:solidFill>
                  <a:srgbClr val="A0AEC0"/>
                </a:solidFill>
                <a:latin typeface="Roboto"/>
                <a:ea typeface="Roboto"/>
                <a:cs typeface="Roboto"/>
                <a:sym typeface="Roboto"/>
              </a:endParaRPr>
            </a:p>
          </p:txBody>
        </p:sp>
      </p:grpSp>
      <p:grpSp>
        <p:nvGrpSpPr>
          <p:cNvPr id="239" name="Google Shape;239;p20"/>
          <p:cNvGrpSpPr/>
          <p:nvPr/>
        </p:nvGrpSpPr>
        <p:grpSpPr>
          <a:xfrm>
            <a:off x="571500" y="3048000"/>
            <a:ext cx="3619500" cy="1428900"/>
            <a:chOff x="0" y="0"/>
            <a:chExt cx="3619500" cy="1428900"/>
          </a:xfrm>
        </p:grpSpPr>
        <p:sp>
          <p:nvSpPr>
            <p:cNvPr id="240" name="Google Shape;240;p20"/>
            <p:cNvSpPr/>
            <p:nvPr/>
          </p:nvSpPr>
          <p:spPr>
            <a:xfrm>
              <a:off x="0" y="0"/>
              <a:ext cx="3619500" cy="1428900"/>
            </a:xfrm>
            <a:prstGeom prst="roundRect">
              <a:avLst>
                <a:gd fmla="val 8000" name="adj"/>
              </a:avLst>
            </a:prstGeom>
            <a:solidFill>
              <a:srgbClr val="1A2638">
                <a:alpha val="80000"/>
              </a:srgbClr>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20"/>
            <p:cNvSpPr txBox="1"/>
            <p:nvPr/>
          </p:nvSpPr>
          <p:spPr>
            <a:xfrm>
              <a:off x="190500" y="190500"/>
              <a:ext cx="3238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4FACFE"/>
                  </a:solidFill>
                  <a:latin typeface="Roboto"/>
                  <a:ea typeface="Roboto"/>
                  <a:cs typeface="Roboto"/>
                  <a:sym typeface="Roboto"/>
                </a:rPr>
                <a:t>Enhanced Functionalities for Better Control</a:t>
              </a:r>
              <a:endParaRPr b="1" sz="1100">
                <a:solidFill>
                  <a:srgbClr val="4FACFE"/>
                </a:solidFill>
                <a:latin typeface="Roboto"/>
                <a:ea typeface="Roboto"/>
                <a:cs typeface="Roboto"/>
                <a:sym typeface="Roboto"/>
              </a:endParaRPr>
            </a:p>
            <a:p>
              <a:pPr indent="0" lvl="0" marL="0" rtl="0" algn="l">
                <a:spcBef>
                  <a:spcPts val="450"/>
                </a:spcBef>
                <a:spcAft>
                  <a:spcPts val="0"/>
                </a:spcAft>
                <a:buNone/>
              </a:pPr>
              <a:r>
                <a:rPr b="0" lang="en" sz="850">
                  <a:solidFill>
                    <a:srgbClr val="E0E6ED"/>
                  </a:solidFill>
                  <a:latin typeface="Roboto"/>
                  <a:ea typeface="Roboto"/>
                  <a:cs typeface="Roboto"/>
                  <a:sym typeface="Roboto"/>
                </a:rPr>
                <a:t>Apart from core operations, the system includes advanced features such as searching expenses, filtering by category or date, and exporting data to CSV files.</a:t>
              </a:r>
              <a:endParaRPr b="0" sz="850">
                <a:solidFill>
                  <a:srgbClr val="E0E6ED"/>
                </a:solidFill>
                <a:latin typeface="Roboto"/>
                <a:ea typeface="Roboto"/>
                <a:cs typeface="Roboto"/>
                <a:sym typeface="Roboto"/>
              </a:endParaRPr>
            </a:p>
            <a:p>
              <a:pPr indent="0" lvl="0" marL="0" rtl="0" algn="l">
                <a:spcBef>
                  <a:spcPts val="600"/>
                </a:spcBef>
                <a:spcAft>
                  <a:spcPts val="0"/>
                </a:spcAft>
                <a:buNone/>
              </a:pPr>
              <a:r>
                <a:rPr b="0" lang="en" sz="800">
                  <a:solidFill>
                    <a:srgbClr val="A0AEC0"/>
                  </a:solidFill>
                  <a:latin typeface="Roboto"/>
                  <a:ea typeface="Roboto"/>
                  <a:cs typeface="Roboto"/>
                  <a:sym typeface="Roboto"/>
                </a:rPr>
                <a:t>Visual analysis tools like dashboard cards and dynamic charts provide a comprehensive look into spend habits.</a:t>
              </a:r>
              <a:endParaRPr b="0" sz="800">
                <a:solidFill>
                  <a:srgbClr val="A0AEC0"/>
                </a:solidFill>
                <a:latin typeface="Roboto"/>
                <a:ea typeface="Roboto"/>
                <a:cs typeface="Roboto"/>
                <a:sym typeface="Roboto"/>
              </a:endParaRPr>
            </a:p>
          </p:txBody>
        </p:sp>
      </p:grpSp>
      <p:grpSp>
        <p:nvGrpSpPr>
          <p:cNvPr id="242" name="Google Shape;242;p20"/>
          <p:cNvGrpSpPr/>
          <p:nvPr/>
        </p:nvGrpSpPr>
        <p:grpSpPr>
          <a:xfrm>
            <a:off x="4476750" y="1428750"/>
            <a:ext cx="4095900" cy="952500"/>
            <a:chOff x="0" y="0"/>
            <a:chExt cx="4095900" cy="952500"/>
          </a:xfrm>
        </p:grpSpPr>
        <p:sp>
          <p:nvSpPr>
            <p:cNvPr id="243" name="Google Shape;243;p20"/>
            <p:cNvSpPr/>
            <p:nvPr/>
          </p:nvSpPr>
          <p:spPr>
            <a:xfrm>
              <a:off x="0" y="0"/>
              <a:ext cx="4095900" cy="952500"/>
            </a:xfrm>
            <a:prstGeom prst="roundRect">
              <a:avLst>
                <a:gd fmla="val 12000" name="adj"/>
              </a:avLst>
            </a:prstGeom>
            <a:solidFill>
              <a:srgbClr val="1A2638">
                <a:alpha val="80000"/>
              </a:srgbClr>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20"/>
            <p:cNvSpPr txBox="1"/>
            <p:nvPr/>
          </p:nvSpPr>
          <p:spPr>
            <a:xfrm>
              <a:off x="190500" y="133350"/>
              <a:ext cx="8574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200">
                  <a:solidFill>
                    <a:srgbClr val="00F2FE"/>
                  </a:solidFill>
                  <a:latin typeface="Roboto ExtraBold"/>
                  <a:ea typeface="Roboto ExtraBold"/>
                  <a:cs typeface="Roboto ExtraBold"/>
                  <a:sym typeface="Roboto ExtraBold"/>
                </a:rPr>
                <a:t>85%</a:t>
              </a:r>
              <a:endParaRPr b="0" sz="3200">
                <a:solidFill>
                  <a:srgbClr val="00F2FE"/>
                </a:solidFill>
                <a:latin typeface="Roboto ExtraBold"/>
                <a:ea typeface="Roboto ExtraBold"/>
                <a:cs typeface="Roboto ExtraBold"/>
                <a:sym typeface="Roboto ExtraBold"/>
              </a:endParaRPr>
            </a:p>
            <a:p>
              <a:pPr indent="0" lvl="0" marL="0" rtl="0" algn="l">
                <a:spcBef>
                  <a:spcPts val="150"/>
                </a:spcBef>
                <a:spcAft>
                  <a:spcPts val="0"/>
                </a:spcAft>
                <a:buNone/>
              </a:pPr>
              <a:r>
                <a:rPr b="1" lang="en" sz="950">
                  <a:solidFill>
                    <a:srgbClr val="4FACFE"/>
                  </a:solidFill>
                  <a:latin typeface="Roboto"/>
                  <a:ea typeface="Roboto"/>
                  <a:cs typeface="Roboto"/>
                  <a:sym typeface="Roboto"/>
                </a:rPr>
                <a:t>DAILY CRUD</a:t>
              </a:r>
              <a:endParaRPr b="1" sz="950">
                <a:solidFill>
                  <a:srgbClr val="4FACFE"/>
                </a:solidFill>
                <a:latin typeface="Roboto"/>
                <a:ea typeface="Roboto"/>
                <a:cs typeface="Roboto"/>
                <a:sym typeface="Roboto"/>
              </a:endParaRPr>
            </a:p>
          </p:txBody>
        </p:sp>
        <p:sp>
          <p:nvSpPr>
            <p:cNvPr id="245" name="Google Shape;245;p20"/>
            <p:cNvSpPr txBox="1"/>
            <p:nvPr/>
          </p:nvSpPr>
          <p:spPr>
            <a:xfrm>
              <a:off x="1238250" y="133350"/>
              <a:ext cx="26670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00F2FE"/>
                  </a:solidFill>
                  <a:latin typeface="Roboto"/>
                  <a:ea typeface="Roboto"/>
                  <a:cs typeface="Roboto"/>
                  <a:sym typeface="Roboto"/>
                </a:rPr>
                <a:t>User Interaction with CRUD Features</a:t>
              </a:r>
              <a:endParaRPr b="1" sz="1100">
                <a:solidFill>
                  <a:srgbClr val="00F2FE"/>
                </a:solidFill>
                <a:latin typeface="Roboto"/>
                <a:ea typeface="Roboto"/>
                <a:cs typeface="Roboto"/>
                <a:sym typeface="Roboto"/>
              </a:endParaRPr>
            </a:p>
            <a:p>
              <a:pPr indent="0" lvl="0" marL="0" rtl="0" algn="l">
                <a:spcBef>
                  <a:spcPts val="450"/>
                </a:spcBef>
                <a:spcAft>
                  <a:spcPts val="0"/>
                </a:spcAft>
                <a:buNone/>
              </a:pPr>
              <a:r>
                <a:rPr b="0" lang="en" sz="800">
                  <a:solidFill>
                    <a:srgbClr val="A0AEC0"/>
                  </a:solidFill>
                  <a:latin typeface="Roboto"/>
                  <a:ea typeface="Roboto"/>
                  <a:cs typeface="Roboto"/>
                  <a:sym typeface="Roboto"/>
                </a:rPr>
                <a:t>Studies show over 85% of users actively perform Create, Read, Update, and Delete actions daily within modern expense management tools.</a:t>
              </a:r>
              <a:endParaRPr b="0" sz="800">
                <a:solidFill>
                  <a:srgbClr val="A0AEC0"/>
                </a:solidFill>
                <a:latin typeface="Roboto"/>
                <a:ea typeface="Roboto"/>
                <a:cs typeface="Roboto"/>
                <a:sym typeface="Roboto"/>
              </a:endParaRPr>
            </a:p>
          </p:txBody>
        </p:sp>
      </p:grpSp>
      <p:grpSp>
        <p:nvGrpSpPr>
          <p:cNvPr id="246" name="Google Shape;246;p20"/>
          <p:cNvGrpSpPr/>
          <p:nvPr/>
        </p:nvGrpSpPr>
        <p:grpSpPr>
          <a:xfrm>
            <a:off x="4476750" y="2571750"/>
            <a:ext cx="4095900" cy="952500"/>
            <a:chOff x="0" y="0"/>
            <a:chExt cx="4095900" cy="952500"/>
          </a:xfrm>
        </p:grpSpPr>
        <p:sp>
          <p:nvSpPr>
            <p:cNvPr id="247" name="Google Shape;247;p20"/>
            <p:cNvSpPr/>
            <p:nvPr/>
          </p:nvSpPr>
          <p:spPr>
            <a:xfrm>
              <a:off x="0" y="0"/>
              <a:ext cx="4095900" cy="952500"/>
            </a:xfrm>
            <a:prstGeom prst="roundRect">
              <a:avLst>
                <a:gd fmla="val 12000" name="adj"/>
              </a:avLst>
            </a:prstGeom>
            <a:solidFill>
              <a:srgbClr val="1A2638">
                <a:alpha val="80000"/>
              </a:srgbClr>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8" name="Google Shape;248;p20"/>
            <p:cNvSpPr txBox="1"/>
            <p:nvPr/>
          </p:nvSpPr>
          <p:spPr>
            <a:xfrm>
              <a:off x="190500" y="133350"/>
              <a:ext cx="8574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200">
                  <a:solidFill>
                    <a:srgbClr val="4FACFE"/>
                  </a:solidFill>
                  <a:latin typeface="Roboto ExtraBold"/>
                  <a:ea typeface="Roboto ExtraBold"/>
                  <a:cs typeface="Roboto ExtraBold"/>
                  <a:sym typeface="Roboto ExtraBold"/>
                </a:rPr>
                <a:t>70%</a:t>
              </a:r>
              <a:endParaRPr b="0" sz="3200">
                <a:solidFill>
                  <a:srgbClr val="4FACFE"/>
                </a:solidFill>
                <a:latin typeface="Roboto ExtraBold"/>
                <a:ea typeface="Roboto ExtraBold"/>
                <a:cs typeface="Roboto ExtraBold"/>
                <a:sym typeface="Roboto ExtraBold"/>
              </a:endParaRPr>
            </a:p>
            <a:p>
              <a:pPr indent="0" lvl="0" marL="0" rtl="0" algn="l">
                <a:spcBef>
                  <a:spcPts val="150"/>
                </a:spcBef>
                <a:spcAft>
                  <a:spcPts val="0"/>
                </a:spcAft>
                <a:buNone/>
              </a:pPr>
              <a:r>
                <a:rPr b="1" lang="en" sz="950">
                  <a:solidFill>
                    <a:srgbClr val="00F2FE"/>
                  </a:solidFill>
                  <a:latin typeface="Roboto"/>
                  <a:ea typeface="Roboto"/>
                  <a:cs typeface="Roboto"/>
                  <a:sym typeface="Roboto"/>
                </a:rPr>
                <a:t>ENHANCED</a:t>
              </a:r>
              <a:endParaRPr b="1" sz="950">
                <a:solidFill>
                  <a:srgbClr val="00F2FE"/>
                </a:solidFill>
                <a:latin typeface="Roboto"/>
                <a:ea typeface="Roboto"/>
                <a:cs typeface="Roboto"/>
                <a:sym typeface="Roboto"/>
              </a:endParaRPr>
            </a:p>
          </p:txBody>
        </p:sp>
        <p:sp>
          <p:nvSpPr>
            <p:cNvPr id="249" name="Google Shape;249;p20"/>
            <p:cNvSpPr txBox="1"/>
            <p:nvPr/>
          </p:nvSpPr>
          <p:spPr>
            <a:xfrm>
              <a:off x="1238250" y="133350"/>
              <a:ext cx="26670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4FACFE"/>
                  </a:solidFill>
                  <a:latin typeface="Roboto"/>
                  <a:ea typeface="Roboto"/>
                  <a:cs typeface="Roboto"/>
                  <a:sym typeface="Roboto"/>
                </a:rPr>
                <a:t>Usage of Additional Features</a:t>
              </a:r>
              <a:endParaRPr b="1" sz="1100">
                <a:solidFill>
                  <a:srgbClr val="4FACFE"/>
                </a:solidFill>
                <a:latin typeface="Roboto"/>
                <a:ea typeface="Roboto"/>
                <a:cs typeface="Roboto"/>
                <a:sym typeface="Roboto"/>
              </a:endParaRPr>
            </a:p>
            <a:p>
              <a:pPr indent="0" lvl="0" marL="0" rtl="0" algn="l">
                <a:spcBef>
                  <a:spcPts val="450"/>
                </a:spcBef>
                <a:spcAft>
                  <a:spcPts val="0"/>
                </a:spcAft>
                <a:buNone/>
              </a:pPr>
              <a:r>
                <a:rPr b="0" lang="en" sz="800">
                  <a:solidFill>
                    <a:srgbClr val="A0AEC0"/>
                  </a:solidFill>
                  <a:latin typeface="Roboto"/>
                  <a:ea typeface="Roboto"/>
                  <a:cs typeface="Roboto"/>
                  <a:sym typeface="Roboto"/>
                </a:rPr>
                <a:t>Around 70% of users regularly utilize enhanced features such as search, filters, and export options, indicating high value in advanced tools.</a:t>
              </a:r>
              <a:endParaRPr b="0" sz="800">
                <a:solidFill>
                  <a:srgbClr val="A0AEC0"/>
                </a:solidFill>
                <a:latin typeface="Roboto"/>
                <a:ea typeface="Roboto"/>
                <a:cs typeface="Roboto"/>
                <a:sym typeface="Roboto"/>
              </a:endParaRPr>
            </a:p>
          </p:txBody>
        </p:sp>
      </p:grpSp>
      <p:grpSp>
        <p:nvGrpSpPr>
          <p:cNvPr id="250" name="Google Shape;250;p20"/>
          <p:cNvGrpSpPr/>
          <p:nvPr/>
        </p:nvGrpSpPr>
        <p:grpSpPr>
          <a:xfrm>
            <a:off x="4476750" y="3714750"/>
            <a:ext cx="4095900" cy="952500"/>
            <a:chOff x="0" y="0"/>
            <a:chExt cx="4095900" cy="952500"/>
          </a:xfrm>
        </p:grpSpPr>
        <p:sp>
          <p:nvSpPr>
            <p:cNvPr id="251" name="Google Shape;251;p20"/>
            <p:cNvSpPr/>
            <p:nvPr/>
          </p:nvSpPr>
          <p:spPr>
            <a:xfrm>
              <a:off x="0" y="0"/>
              <a:ext cx="4095900" cy="952500"/>
            </a:xfrm>
            <a:prstGeom prst="roundRect">
              <a:avLst>
                <a:gd fmla="val 12000" name="adj"/>
              </a:avLst>
            </a:prstGeom>
            <a:solidFill>
              <a:srgbClr val="1A2638">
                <a:alpha val="80000"/>
              </a:srgbClr>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2" name="Google Shape;252;p20"/>
            <p:cNvSpPr txBox="1"/>
            <p:nvPr/>
          </p:nvSpPr>
          <p:spPr>
            <a:xfrm>
              <a:off x="190500" y="133350"/>
              <a:ext cx="8574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200">
                  <a:solidFill>
                    <a:srgbClr val="00F2FE"/>
                  </a:solidFill>
                  <a:latin typeface="Roboto ExtraBold"/>
                  <a:ea typeface="Roboto ExtraBold"/>
                  <a:cs typeface="Roboto ExtraBold"/>
                  <a:sym typeface="Roboto ExtraBold"/>
                </a:rPr>
                <a:t>60%</a:t>
              </a:r>
              <a:endParaRPr b="0" sz="3200">
                <a:solidFill>
                  <a:srgbClr val="00F2FE"/>
                </a:solidFill>
                <a:latin typeface="Roboto ExtraBold"/>
                <a:ea typeface="Roboto ExtraBold"/>
                <a:cs typeface="Roboto ExtraBold"/>
                <a:sym typeface="Roboto ExtraBold"/>
              </a:endParaRPr>
            </a:p>
            <a:p>
              <a:pPr indent="0" lvl="0" marL="0" rtl="0" algn="l">
                <a:spcBef>
                  <a:spcPts val="150"/>
                </a:spcBef>
                <a:spcAft>
                  <a:spcPts val="0"/>
                </a:spcAft>
                <a:buNone/>
              </a:pPr>
              <a:r>
                <a:rPr b="1" lang="en" sz="950">
                  <a:solidFill>
                    <a:srgbClr val="4FACFE"/>
                  </a:solidFill>
                  <a:latin typeface="Roboto"/>
                  <a:ea typeface="Roboto"/>
                  <a:cs typeface="Roboto"/>
                  <a:sym typeface="Roboto"/>
                </a:rPr>
                <a:t>EDUCATIONAL</a:t>
              </a:r>
              <a:endParaRPr b="1" sz="950">
                <a:solidFill>
                  <a:srgbClr val="4FACFE"/>
                </a:solidFill>
                <a:latin typeface="Roboto"/>
                <a:ea typeface="Roboto"/>
                <a:cs typeface="Roboto"/>
                <a:sym typeface="Roboto"/>
              </a:endParaRPr>
            </a:p>
          </p:txBody>
        </p:sp>
        <p:sp>
          <p:nvSpPr>
            <p:cNvPr id="253" name="Google Shape;253;p20"/>
            <p:cNvSpPr txBox="1"/>
            <p:nvPr/>
          </p:nvSpPr>
          <p:spPr>
            <a:xfrm>
              <a:off x="1238250" y="133350"/>
              <a:ext cx="26670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00F2FE"/>
                  </a:solidFill>
                  <a:latin typeface="Roboto"/>
                  <a:ea typeface="Roboto"/>
                  <a:cs typeface="Roboto"/>
                  <a:sym typeface="Roboto"/>
                </a:rPr>
                <a:t>Teaching Application Insights</a:t>
              </a:r>
              <a:endParaRPr b="1" sz="1100">
                <a:solidFill>
                  <a:srgbClr val="00F2FE"/>
                </a:solidFill>
                <a:latin typeface="Roboto"/>
                <a:ea typeface="Roboto"/>
                <a:cs typeface="Roboto"/>
                <a:sym typeface="Roboto"/>
              </a:endParaRPr>
            </a:p>
            <a:p>
              <a:pPr indent="0" lvl="0" marL="0" rtl="0" algn="l">
                <a:spcBef>
                  <a:spcPts val="450"/>
                </a:spcBef>
                <a:spcAft>
                  <a:spcPts val="0"/>
                </a:spcAft>
                <a:buNone/>
              </a:pPr>
              <a:r>
                <a:rPr b="0" lang="en" sz="800">
                  <a:solidFill>
                    <a:srgbClr val="A0AEC0"/>
                  </a:solidFill>
                  <a:latin typeface="Roboto"/>
                  <a:ea typeface="Roboto"/>
                  <a:cs typeface="Roboto"/>
                  <a:sym typeface="Roboto"/>
                </a:rPr>
                <a:t>More than 60% of educators emphasize dashboards and charts for teaching, citing improved comprehension of complex database workflows.</a:t>
              </a:r>
              <a:endParaRPr b="0" sz="800">
                <a:solidFill>
                  <a:srgbClr val="A0AEC0"/>
                </a:solidFill>
                <a:latin typeface="Roboto"/>
                <a:ea typeface="Roboto"/>
                <a:cs typeface="Roboto"/>
                <a:sym typeface="Roboto"/>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726"/>
        </a:solidFill>
      </p:bgPr>
    </p:bg>
    <p:spTree>
      <p:nvGrpSpPr>
        <p:cNvPr id="257" name="Shape 257"/>
        <p:cNvGrpSpPr/>
        <p:nvPr/>
      </p:nvGrpSpPr>
      <p:grpSpPr>
        <a:xfrm>
          <a:off x="0" y="0"/>
          <a:ext cx="0" cy="0"/>
          <a:chOff x="0" y="0"/>
          <a:chExt cx="0" cy="0"/>
        </a:xfrm>
      </p:grpSpPr>
      <p:sp>
        <p:nvSpPr>
          <p:cNvPr id="258" name="Google Shape;258;p21"/>
          <p:cNvSpPr txBox="1"/>
          <p:nvPr/>
        </p:nvSpPr>
        <p:spPr>
          <a:xfrm>
            <a:off x="571500" y="381000"/>
            <a:ext cx="8001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400">
                <a:solidFill>
                  <a:srgbClr val="00F2FE"/>
                </a:solidFill>
                <a:latin typeface="Roboto ExtraBold"/>
                <a:ea typeface="Roboto ExtraBold"/>
                <a:cs typeface="Roboto ExtraBold"/>
                <a:sym typeface="Roboto ExtraBold"/>
              </a:rPr>
              <a:t>Key Features of the Expense Tracking Project</a:t>
            </a:r>
            <a:endParaRPr b="0" sz="2400">
              <a:solidFill>
                <a:srgbClr val="00F2FE"/>
              </a:solidFill>
              <a:latin typeface="Roboto ExtraBold"/>
              <a:ea typeface="Roboto ExtraBold"/>
              <a:cs typeface="Roboto ExtraBold"/>
              <a:sym typeface="Roboto ExtraBold"/>
            </a:endParaRPr>
          </a:p>
        </p:txBody>
      </p:sp>
      <p:grpSp>
        <p:nvGrpSpPr>
          <p:cNvPr id="259" name="Google Shape;259;p21"/>
          <p:cNvGrpSpPr/>
          <p:nvPr/>
        </p:nvGrpSpPr>
        <p:grpSpPr>
          <a:xfrm>
            <a:off x="571500" y="1047750"/>
            <a:ext cx="2476500" cy="1428900"/>
            <a:chOff x="0" y="0"/>
            <a:chExt cx="2476500" cy="1428900"/>
          </a:xfrm>
        </p:grpSpPr>
        <p:sp>
          <p:nvSpPr>
            <p:cNvPr id="260" name="Google Shape;260;p21"/>
            <p:cNvSpPr/>
            <p:nvPr/>
          </p:nvSpPr>
          <p:spPr>
            <a:xfrm>
              <a:off x="0" y="0"/>
              <a:ext cx="2476500" cy="1428900"/>
            </a:xfrm>
            <a:prstGeom prst="roundRect">
              <a:avLst>
                <a:gd fmla="val 8000" name="adj"/>
              </a:avLst>
            </a:prstGeom>
            <a:solidFill>
              <a:srgbClr val="1A2638"/>
            </a:solidFill>
            <a:ln cap="flat" cmpd="sng" w="14300">
              <a:solidFill>
                <a:srgbClr val="00F2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1" name="Google Shape;261;p21"/>
            <p:cNvSpPr txBox="1"/>
            <p:nvPr/>
          </p:nvSpPr>
          <p:spPr>
            <a:xfrm>
              <a:off x="190500" y="190500"/>
              <a:ext cx="2095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0F2FE"/>
                  </a:solidFill>
                  <a:latin typeface="Roboto"/>
                  <a:ea typeface="Roboto"/>
                  <a:cs typeface="Roboto"/>
                  <a:sym typeface="Roboto"/>
                </a:rPr>
                <a:t>Intuitive &amp; Modern Design</a:t>
              </a:r>
              <a:endParaRPr b="1" sz="1200">
                <a:solidFill>
                  <a:srgbClr val="00F2FE"/>
                </a:solidFill>
                <a:latin typeface="Roboto"/>
                <a:ea typeface="Roboto"/>
                <a:cs typeface="Roboto"/>
                <a:sym typeface="Roboto"/>
              </a:endParaRPr>
            </a:p>
            <a:p>
              <a:pPr indent="0" lvl="0" marL="0" rtl="0" algn="l">
                <a:spcBef>
                  <a:spcPts val="450"/>
                </a:spcBef>
                <a:spcAft>
                  <a:spcPts val="0"/>
                </a:spcAft>
                <a:buNone/>
              </a:pPr>
              <a:r>
                <a:rPr b="0" lang="en" sz="950">
                  <a:solidFill>
                    <a:srgbClr val="E0E6ED"/>
                  </a:solidFill>
                  <a:latin typeface="Roboto"/>
                  <a:ea typeface="Roboto"/>
                  <a:cs typeface="Roboto"/>
                  <a:sym typeface="Roboto"/>
                </a:rPr>
                <a:t>The project boasts a user-friendly dashboard combined with a sleek, modern user interface, ensuring ease of navigation and a pleasant user experience for all users.</a:t>
              </a:r>
              <a:endParaRPr b="0" sz="950">
                <a:solidFill>
                  <a:srgbClr val="E0E6ED"/>
                </a:solidFill>
                <a:latin typeface="Roboto"/>
                <a:ea typeface="Roboto"/>
                <a:cs typeface="Roboto"/>
                <a:sym typeface="Roboto"/>
              </a:endParaRPr>
            </a:p>
          </p:txBody>
        </p:sp>
      </p:grpSp>
      <p:grpSp>
        <p:nvGrpSpPr>
          <p:cNvPr id="262" name="Google Shape;262;p21"/>
          <p:cNvGrpSpPr/>
          <p:nvPr/>
        </p:nvGrpSpPr>
        <p:grpSpPr>
          <a:xfrm>
            <a:off x="3333750" y="1047750"/>
            <a:ext cx="2476500" cy="1428900"/>
            <a:chOff x="0" y="0"/>
            <a:chExt cx="2476500" cy="1428900"/>
          </a:xfrm>
        </p:grpSpPr>
        <p:sp>
          <p:nvSpPr>
            <p:cNvPr id="263" name="Google Shape;263;p21"/>
            <p:cNvSpPr/>
            <p:nvPr/>
          </p:nvSpPr>
          <p:spPr>
            <a:xfrm>
              <a:off x="0" y="0"/>
              <a:ext cx="2476500" cy="1428900"/>
            </a:xfrm>
            <a:prstGeom prst="roundRect">
              <a:avLst>
                <a:gd fmla="val 8000" name="adj"/>
              </a:avLst>
            </a:prstGeom>
            <a:solidFill>
              <a:srgbClr val="1A2638"/>
            </a:solidFill>
            <a:ln cap="flat" cmpd="sng" w="9525">
              <a:solidFill>
                <a:srgbClr val="4FAC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4" name="Google Shape;264;p21"/>
            <p:cNvSpPr txBox="1"/>
            <p:nvPr/>
          </p:nvSpPr>
          <p:spPr>
            <a:xfrm>
              <a:off x="190500" y="190500"/>
              <a:ext cx="2095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4FACFE"/>
                  </a:solidFill>
                  <a:latin typeface="Roboto"/>
                  <a:ea typeface="Roboto"/>
                  <a:cs typeface="Roboto"/>
                  <a:sym typeface="Roboto"/>
                </a:rPr>
                <a:t>Comprehensive Tracking</a:t>
              </a:r>
              <a:endParaRPr b="1" sz="1200">
                <a:solidFill>
                  <a:srgbClr val="4FACFE"/>
                </a:solidFill>
                <a:latin typeface="Roboto"/>
                <a:ea typeface="Roboto"/>
                <a:cs typeface="Roboto"/>
                <a:sym typeface="Roboto"/>
              </a:endParaRPr>
            </a:p>
            <a:p>
              <a:pPr indent="0" lvl="0" marL="0" rtl="0" algn="l">
                <a:spcBef>
                  <a:spcPts val="450"/>
                </a:spcBef>
                <a:spcAft>
                  <a:spcPts val="0"/>
                </a:spcAft>
                <a:buNone/>
              </a:pPr>
              <a:r>
                <a:rPr b="0" lang="en" sz="950">
                  <a:solidFill>
                    <a:srgbClr val="E0E6ED"/>
                  </a:solidFill>
                  <a:latin typeface="Roboto"/>
                  <a:ea typeface="Roboto"/>
                  <a:cs typeface="Roboto"/>
                  <a:sym typeface="Roboto"/>
                </a:rPr>
                <a:t>It offers robust expense management tools, including the ability to view expenses categorized by type, track monthly expenditures through charts, and apply custom filters.</a:t>
              </a:r>
              <a:endParaRPr b="0" sz="950">
                <a:solidFill>
                  <a:srgbClr val="E0E6ED"/>
                </a:solidFill>
                <a:latin typeface="Roboto"/>
                <a:ea typeface="Roboto"/>
                <a:cs typeface="Roboto"/>
                <a:sym typeface="Roboto"/>
              </a:endParaRPr>
            </a:p>
          </p:txBody>
        </p:sp>
      </p:grpSp>
      <p:grpSp>
        <p:nvGrpSpPr>
          <p:cNvPr id="265" name="Google Shape;265;p21"/>
          <p:cNvGrpSpPr/>
          <p:nvPr/>
        </p:nvGrpSpPr>
        <p:grpSpPr>
          <a:xfrm>
            <a:off x="6096000" y="1047750"/>
            <a:ext cx="2476500" cy="1428900"/>
            <a:chOff x="0" y="0"/>
            <a:chExt cx="2476500" cy="1428900"/>
          </a:xfrm>
        </p:grpSpPr>
        <p:sp>
          <p:nvSpPr>
            <p:cNvPr id="266" name="Google Shape;266;p21"/>
            <p:cNvSpPr/>
            <p:nvPr/>
          </p:nvSpPr>
          <p:spPr>
            <a:xfrm>
              <a:off x="0" y="0"/>
              <a:ext cx="2476500" cy="1428900"/>
            </a:xfrm>
            <a:prstGeom prst="roundRect">
              <a:avLst>
                <a:gd fmla="val 8000" name="adj"/>
              </a:avLst>
            </a:prstGeom>
            <a:solidFill>
              <a:srgbClr val="1A2638"/>
            </a:solidFill>
            <a:ln cap="flat" cmpd="sng" w="9525">
              <a:solidFill>
                <a:srgbClr val="00F2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7" name="Google Shape;267;p21"/>
            <p:cNvSpPr txBox="1"/>
            <p:nvPr/>
          </p:nvSpPr>
          <p:spPr>
            <a:xfrm>
              <a:off x="190500" y="190500"/>
              <a:ext cx="2095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0F2FE"/>
                  </a:solidFill>
                  <a:latin typeface="Roboto"/>
                  <a:ea typeface="Roboto"/>
                  <a:cs typeface="Roboto"/>
                  <a:sym typeface="Roboto"/>
                </a:rPr>
                <a:t>Enhanced Functionality</a:t>
              </a:r>
              <a:endParaRPr b="1" sz="1200">
                <a:solidFill>
                  <a:srgbClr val="00F2FE"/>
                </a:solidFill>
                <a:latin typeface="Roboto"/>
                <a:ea typeface="Roboto"/>
                <a:cs typeface="Roboto"/>
                <a:sym typeface="Roboto"/>
              </a:endParaRPr>
            </a:p>
            <a:p>
              <a:pPr indent="0" lvl="0" marL="0" rtl="0" algn="l">
                <a:spcBef>
                  <a:spcPts val="450"/>
                </a:spcBef>
                <a:spcAft>
                  <a:spcPts val="0"/>
                </a:spcAft>
                <a:buNone/>
              </a:pPr>
              <a:r>
                <a:rPr b="0" lang="en" sz="950">
                  <a:solidFill>
                    <a:srgbClr val="E0E6ED"/>
                  </a:solidFill>
                  <a:latin typeface="Roboto"/>
                  <a:ea typeface="Roboto"/>
                  <a:cs typeface="Roboto"/>
                  <a:sym typeface="Roboto"/>
                </a:rPr>
                <a:t>Additional features such as search functionality, export options to CSV format, and a responsive design make the project flexible and accessible across a range of devices.</a:t>
              </a:r>
              <a:endParaRPr b="0" sz="950">
                <a:solidFill>
                  <a:srgbClr val="E0E6ED"/>
                </a:solidFill>
                <a:latin typeface="Roboto"/>
                <a:ea typeface="Roboto"/>
                <a:cs typeface="Roboto"/>
                <a:sym typeface="Roboto"/>
              </a:endParaRPr>
            </a:p>
          </p:txBody>
        </p:sp>
      </p:grpSp>
      <p:grpSp>
        <p:nvGrpSpPr>
          <p:cNvPr id="268" name="Google Shape;268;p21"/>
          <p:cNvGrpSpPr/>
          <p:nvPr/>
        </p:nvGrpSpPr>
        <p:grpSpPr>
          <a:xfrm>
            <a:off x="566738" y="2757488"/>
            <a:ext cx="3819600" cy="2009700"/>
            <a:chOff x="-4762" y="-4762"/>
            <a:chExt cx="3819600" cy="2009700"/>
          </a:xfrm>
        </p:grpSpPr>
        <p:pic>
          <p:nvPicPr>
            <p:cNvPr id="269" name="Google Shape;269;p21"/>
            <p:cNvPicPr preferRelativeResize="0"/>
            <p:nvPr/>
          </p:nvPicPr>
          <p:blipFill rotWithShape="1">
            <a:blip r:embed="rId3">
              <a:alphaModFix/>
            </a:blip>
            <a:srcRect b="0" l="0" r="0" t="0"/>
            <a:stretch/>
          </p:blipFill>
          <p:spPr>
            <a:xfrm>
              <a:off x="-4762" y="-4762"/>
              <a:ext cx="3819600" cy="2009700"/>
            </a:xfrm>
            <a:prstGeom prst="rect">
              <a:avLst/>
            </a:prstGeom>
            <a:noFill/>
            <a:ln>
              <a:noFill/>
            </a:ln>
          </p:spPr>
        </p:pic>
        <p:sp>
          <p:nvSpPr>
            <p:cNvPr id="270" name="Google Shape;270;p21"/>
            <p:cNvSpPr txBox="1"/>
            <p:nvPr/>
          </p:nvSpPr>
          <p:spPr>
            <a:xfrm>
              <a:off x="190500" y="190500"/>
              <a:ext cx="3429000" cy="16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00F2FE"/>
                  </a:solidFill>
                  <a:latin typeface="Roboto"/>
                  <a:ea typeface="Roboto"/>
                  <a:cs typeface="Roboto"/>
                  <a:sym typeface="Roboto"/>
                </a:rPr>
                <a:t>Placeholder for Screenshot 1</a:t>
              </a:r>
              <a:endParaRPr b="1" sz="1200">
                <a:solidFill>
                  <a:srgbClr val="00F2FE"/>
                </a:solidFill>
                <a:latin typeface="Roboto"/>
                <a:ea typeface="Roboto"/>
                <a:cs typeface="Roboto"/>
                <a:sym typeface="Roboto"/>
              </a:endParaRPr>
            </a:p>
            <a:p>
              <a:pPr indent="0" lvl="0" marL="0" rtl="0" algn="ctr">
                <a:spcBef>
                  <a:spcPts val="450"/>
                </a:spcBef>
                <a:spcAft>
                  <a:spcPts val="0"/>
                </a:spcAft>
                <a:buNone/>
              </a:pPr>
              <a:r>
                <a:rPr b="0" lang="en" sz="950">
                  <a:solidFill>
                    <a:srgbClr val="E0E6ED"/>
                  </a:solidFill>
                  <a:latin typeface="Roboto"/>
                  <a:ea typeface="Roboto"/>
                  <a:cs typeface="Roboto"/>
                  <a:sym typeface="Roboto"/>
                </a:rPr>
                <a:t>[ Insert Add Expense Screen Here ]</a:t>
              </a:r>
              <a:endParaRPr b="0" sz="950">
                <a:solidFill>
                  <a:srgbClr val="E0E6ED"/>
                </a:solidFill>
                <a:latin typeface="Roboto"/>
                <a:ea typeface="Roboto"/>
                <a:cs typeface="Roboto"/>
                <a:sym typeface="Roboto"/>
              </a:endParaRPr>
            </a:p>
          </p:txBody>
        </p:sp>
      </p:grpSp>
      <p:grpSp>
        <p:nvGrpSpPr>
          <p:cNvPr id="271" name="Google Shape;271;p21"/>
          <p:cNvGrpSpPr/>
          <p:nvPr/>
        </p:nvGrpSpPr>
        <p:grpSpPr>
          <a:xfrm>
            <a:off x="4757738" y="2757488"/>
            <a:ext cx="3819600" cy="2009700"/>
            <a:chOff x="-4762" y="-4762"/>
            <a:chExt cx="3819600" cy="2009700"/>
          </a:xfrm>
        </p:grpSpPr>
        <p:pic>
          <p:nvPicPr>
            <p:cNvPr id="272" name="Google Shape;272;p21"/>
            <p:cNvPicPr preferRelativeResize="0"/>
            <p:nvPr/>
          </p:nvPicPr>
          <p:blipFill rotWithShape="1">
            <a:blip r:embed="rId4">
              <a:alphaModFix/>
            </a:blip>
            <a:srcRect b="0" l="0" r="0" t="0"/>
            <a:stretch/>
          </p:blipFill>
          <p:spPr>
            <a:xfrm>
              <a:off x="-4762" y="-4762"/>
              <a:ext cx="3819600" cy="2009700"/>
            </a:xfrm>
            <a:prstGeom prst="rect">
              <a:avLst/>
            </a:prstGeom>
            <a:noFill/>
            <a:ln>
              <a:noFill/>
            </a:ln>
          </p:spPr>
        </p:pic>
        <p:sp>
          <p:nvSpPr>
            <p:cNvPr id="273" name="Google Shape;273;p21"/>
            <p:cNvSpPr txBox="1"/>
            <p:nvPr/>
          </p:nvSpPr>
          <p:spPr>
            <a:xfrm>
              <a:off x="190500" y="190500"/>
              <a:ext cx="3429000" cy="16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4FACFE"/>
                  </a:solidFill>
                  <a:latin typeface="Roboto"/>
                  <a:ea typeface="Roboto"/>
                  <a:cs typeface="Roboto"/>
                  <a:sym typeface="Roboto"/>
                </a:rPr>
                <a:t>Placeholder for Screenshot 2</a:t>
              </a:r>
              <a:endParaRPr b="1" sz="1200">
                <a:solidFill>
                  <a:srgbClr val="4FACFE"/>
                </a:solidFill>
                <a:latin typeface="Roboto"/>
                <a:ea typeface="Roboto"/>
                <a:cs typeface="Roboto"/>
                <a:sym typeface="Roboto"/>
              </a:endParaRPr>
            </a:p>
            <a:p>
              <a:pPr indent="0" lvl="0" marL="0" rtl="0" algn="ctr">
                <a:spcBef>
                  <a:spcPts val="450"/>
                </a:spcBef>
                <a:spcAft>
                  <a:spcPts val="0"/>
                </a:spcAft>
                <a:buNone/>
              </a:pPr>
              <a:r>
                <a:rPr b="0" lang="en" sz="950">
                  <a:solidFill>
                    <a:srgbClr val="E0E6ED"/>
                  </a:solidFill>
                  <a:latin typeface="Roboto"/>
                  <a:ea typeface="Roboto"/>
                  <a:cs typeface="Roboto"/>
                  <a:sym typeface="Roboto"/>
                </a:rPr>
                <a:t>[ Insert Edit Expense Screen Here ]</a:t>
              </a:r>
              <a:endParaRPr b="0" sz="950">
                <a:solidFill>
                  <a:srgbClr val="E0E6ED"/>
                </a:solidFill>
                <a:latin typeface="Roboto"/>
                <a:ea typeface="Roboto"/>
                <a:cs typeface="Roboto"/>
                <a:sym typeface="Roboto"/>
              </a:endParaRPr>
            </a:p>
          </p:txBody>
        </p:sp>
      </p:grpSp>
      <p:pic>
        <p:nvPicPr>
          <p:cNvPr id="274" name="Google Shape;274;p21"/>
          <p:cNvPicPr preferRelativeResize="0"/>
          <p:nvPr/>
        </p:nvPicPr>
        <p:blipFill>
          <a:blip r:embed="rId5">
            <a:alphaModFix/>
          </a:blip>
          <a:stretch>
            <a:fillRect/>
          </a:stretch>
        </p:blipFill>
        <p:spPr>
          <a:xfrm>
            <a:off x="526950" y="2757500"/>
            <a:ext cx="3859402" cy="2009700"/>
          </a:xfrm>
          <a:prstGeom prst="rect">
            <a:avLst/>
          </a:prstGeom>
          <a:noFill/>
          <a:ln>
            <a:noFill/>
          </a:ln>
        </p:spPr>
      </p:pic>
      <p:pic>
        <p:nvPicPr>
          <p:cNvPr id="275" name="Google Shape;275;p21"/>
          <p:cNvPicPr preferRelativeResize="0"/>
          <p:nvPr/>
        </p:nvPicPr>
        <p:blipFill>
          <a:blip r:embed="rId6">
            <a:alphaModFix/>
          </a:blip>
          <a:stretch>
            <a:fillRect/>
          </a:stretch>
        </p:blipFill>
        <p:spPr>
          <a:xfrm>
            <a:off x="4757750" y="2757500"/>
            <a:ext cx="3819601" cy="20695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726"/>
        </a:solidFill>
      </p:bgPr>
    </p:bg>
    <p:spTree>
      <p:nvGrpSpPr>
        <p:cNvPr id="279" name="Shape 279"/>
        <p:cNvGrpSpPr/>
        <p:nvPr/>
      </p:nvGrpSpPr>
      <p:grpSpPr>
        <a:xfrm>
          <a:off x="0" y="0"/>
          <a:ext cx="0" cy="0"/>
          <a:chOff x="0" y="0"/>
          <a:chExt cx="0" cy="0"/>
        </a:xfrm>
      </p:grpSpPr>
      <p:grpSp>
        <p:nvGrpSpPr>
          <p:cNvPr id="280" name="Google Shape;280;p22"/>
          <p:cNvGrpSpPr/>
          <p:nvPr/>
        </p:nvGrpSpPr>
        <p:grpSpPr>
          <a:xfrm>
            <a:off x="571500" y="381000"/>
            <a:ext cx="8001000" cy="742950"/>
            <a:chOff x="0" y="0"/>
            <a:chExt cx="8001000" cy="742950"/>
          </a:xfrm>
        </p:grpSpPr>
        <p:sp>
          <p:nvSpPr>
            <p:cNvPr id="281" name="Google Shape;281;p22"/>
            <p:cNvSpPr txBox="1"/>
            <p:nvPr/>
          </p:nvSpPr>
          <p:spPr>
            <a:xfrm>
              <a:off x="0" y="0"/>
              <a:ext cx="8001000" cy="4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400">
                  <a:solidFill>
                    <a:srgbClr val="00F2FE"/>
                  </a:solidFill>
                  <a:latin typeface="Roboto ExtraBold"/>
                  <a:ea typeface="Roboto ExtraBold"/>
                  <a:cs typeface="Roboto ExtraBold"/>
                  <a:sym typeface="Roboto ExtraBold"/>
                </a:rPr>
                <a:t>Future Enhancements Planned</a:t>
              </a:r>
              <a:endParaRPr b="0" sz="2400">
                <a:solidFill>
                  <a:srgbClr val="00F2FE"/>
                </a:solidFill>
                <a:latin typeface="Roboto ExtraBold"/>
                <a:ea typeface="Roboto ExtraBold"/>
                <a:cs typeface="Roboto ExtraBold"/>
                <a:sym typeface="Roboto ExtraBold"/>
              </a:endParaRPr>
            </a:p>
          </p:txBody>
        </p:sp>
        <p:sp>
          <p:nvSpPr>
            <p:cNvPr id="282" name="Google Shape;282;p22"/>
            <p:cNvSpPr txBox="1"/>
            <p:nvPr/>
          </p:nvSpPr>
          <p:spPr>
            <a:xfrm>
              <a:off x="0" y="400050"/>
              <a:ext cx="8001000" cy="26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50">
                  <a:solidFill>
                    <a:srgbClr val="E0E6ED"/>
                  </a:solidFill>
                  <a:latin typeface="Roboto"/>
                  <a:ea typeface="Roboto"/>
                  <a:cs typeface="Roboto"/>
                  <a:sym typeface="Roboto"/>
                </a:rPr>
                <a:t>Roadmap for Scalability, Advanced Analytics &amp; Global Access</a:t>
              </a:r>
              <a:endParaRPr b="0" sz="1250">
                <a:solidFill>
                  <a:srgbClr val="E0E6ED"/>
                </a:solidFill>
                <a:latin typeface="Roboto"/>
                <a:ea typeface="Roboto"/>
                <a:cs typeface="Roboto"/>
                <a:sym typeface="Roboto"/>
              </a:endParaRPr>
            </a:p>
          </p:txBody>
        </p:sp>
        <p:cxnSp>
          <p:nvCxnSpPr>
            <p:cNvPr id="283" name="Google Shape;283;p22"/>
            <p:cNvCxnSpPr/>
            <p:nvPr/>
          </p:nvCxnSpPr>
          <p:spPr>
            <a:xfrm>
              <a:off x="0" y="742950"/>
              <a:ext cx="1714500" cy="0"/>
            </a:xfrm>
            <a:prstGeom prst="straightConnector1">
              <a:avLst/>
            </a:prstGeom>
            <a:solidFill>
              <a:srgbClr val="FFFFFF"/>
            </a:solidFill>
            <a:ln cap="flat" cmpd="sng" w="28575">
              <a:solidFill>
                <a:srgbClr val="00F2FE"/>
              </a:solidFill>
              <a:prstDash val="solid"/>
              <a:round/>
              <a:headEnd len="sm" w="sm" type="none"/>
              <a:tailEnd len="sm" w="sm" type="none"/>
            </a:ln>
          </p:spPr>
        </p:cxnSp>
      </p:grpSp>
      <p:grpSp>
        <p:nvGrpSpPr>
          <p:cNvPr id="284" name="Google Shape;284;p22"/>
          <p:cNvGrpSpPr/>
          <p:nvPr/>
        </p:nvGrpSpPr>
        <p:grpSpPr>
          <a:xfrm>
            <a:off x="571500" y="1428750"/>
            <a:ext cx="2476500" cy="1428900"/>
            <a:chOff x="0" y="0"/>
            <a:chExt cx="2476500" cy="1428900"/>
          </a:xfrm>
        </p:grpSpPr>
        <p:sp>
          <p:nvSpPr>
            <p:cNvPr id="285" name="Google Shape;285;p22"/>
            <p:cNvSpPr/>
            <p:nvPr/>
          </p:nvSpPr>
          <p:spPr>
            <a:xfrm>
              <a:off x="0" y="0"/>
              <a:ext cx="2476500" cy="1428900"/>
            </a:xfrm>
            <a:prstGeom prst="roundRect">
              <a:avLst>
                <a:gd fmla="val 8000" name="adj"/>
              </a:avLst>
            </a:prstGeom>
            <a:solidFill>
              <a:srgbClr val="1A2638">
                <a:alpha val="80000"/>
              </a:srgbClr>
            </a:solidFill>
            <a:ln cap="flat" cmpd="sng" w="14300">
              <a:solidFill>
                <a:srgbClr val="00F2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6" name="Google Shape;286;p22"/>
            <p:cNvSpPr txBox="1"/>
            <p:nvPr/>
          </p:nvSpPr>
          <p:spPr>
            <a:xfrm>
              <a:off x="190500" y="190500"/>
              <a:ext cx="2095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00F2FE"/>
                  </a:solidFill>
                  <a:latin typeface="Roboto"/>
                  <a:ea typeface="Roboto"/>
                  <a:cs typeface="Roboto"/>
                  <a:sym typeface="Roboto"/>
                </a:rPr>
                <a:t>User Access &amp; Interface</a:t>
              </a:r>
              <a:endParaRPr b="1" sz="1100">
                <a:solidFill>
                  <a:srgbClr val="00F2FE"/>
                </a:solidFill>
                <a:latin typeface="Roboto"/>
                <a:ea typeface="Roboto"/>
                <a:cs typeface="Roboto"/>
                <a:sym typeface="Roboto"/>
              </a:endParaRPr>
            </a:p>
            <a:p>
              <a:pPr indent="0" lvl="0" marL="0" rtl="0" algn="l">
                <a:spcBef>
                  <a:spcPts val="450"/>
                </a:spcBef>
                <a:spcAft>
                  <a:spcPts val="0"/>
                </a:spcAft>
                <a:buNone/>
              </a:pPr>
              <a:r>
                <a:rPr b="0" lang="en" sz="950">
                  <a:solidFill>
                    <a:srgbClr val="E0E6ED"/>
                  </a:solidFill>
                  <a:latin typeface="Roboto"/>
                  <a:ea typeface="Roboto"/>
                  <a:cs typeface="Roboto"/>
                  <a:sym typeface="Roboto"/>
                </a:rPr>
                <a:t>Planned upgrades include user login and registration systems, along with dark and light theme options to enhance user experience and personalization.</a:t>
              </a:r>
              <a:endParaRPr b="0" sz="950">
                <a:solidFill>
                  <a:srgbClr val="E0E6ED"/>
                </a:solidFill>
                <a:latin typeface="Roboto"/>
                <a:ea typeface="Roboto"/>
                <a:cs typeface="Roboto"/>
                <a:sym typeface="Roboto"/>
              </a:endParaRPr>
            </a:p>
          </p:txBody>
        </p:sp>
      </p:grpSp>
      <p:grpSp>
        <p:nvGrpSpPr>
          <p:cNvPr id="287" name="Google Shape;287;p22"/>
          <p:cNvGrpSpPr/>
          <p:nvPr/>
        </p:nvGrpSpPr>
        <p:grpSpPr>
          <a:xfrm>
            <a:off x="3333750" y="1428750"/>
            <a:ext cx="2476500" cy="1428900"/>
            <a:chOff x="0" y="0"/>
            <a:chExt cx="2476500" cy="1428900"/>
          </a:xfrm>
        </p:grpSpPr>
        <p:sp>
          <p:nvSpPr>
            <p:cNvPr id="288" name="Google Shape;288;p22"/>
            <p:cNvSpPr/>
            <p:nvPr/>
          </p:nvSpPr>
          <p:spPr>
            <a:xfrm>
              <a:off x="0" y="0"/>
              <a:ext cx="2476500" cy="1428900"/>
            </a:xfrm>
            <a:prstGeom prst="roundRect">
              <a:avLst>
                <a:gd fmla="val 8000" name="adj"/>
              </a:avLst>
            </a:prstGeom>
            <a:solidFill>
              <a:srgbClr val="1A2638">
                <a:alpha val="80000"/>
              </a:srgbClr>
            </a:solidFill>
            <a:ln cap="flat" cmpd="sng" w="9525">
              <a:solidFill>
                <a:srgbClr val="4FAC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9" name="Google Shape;289;p22"/>
            <p:cNvSpPr txBox="1"/>
            <p:nvPr/>
          </p:nvSpPr>
          <p:spPr>
            <a:xfrm>
              <a:off x="190500" y="190500"/>
              <a:ext cx="2095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4FACFE"/>
                  </a:solidFill>
                  <a:latin typeface="Roboto"/>
                  <a:ea typeface="Roboto"/>
                  <a:cs typeface="Roboto"/>
                  <a:sym typeface="Roboto"/>
                </a:rPr>
                <a:t>Financial Management</a:t>
              </a:r>
              <a:endParaRPr b="1" sz="1100">
                <a:solidFill>
                  <a:srgbClr val="4FACFE"/>
                </a:solidFill>
                <a:latin typeface="Roboto"/>
                <a:ea typeface="Roboto"/>
                <a:cs typeface="Roboto"/>
                <a:sym typeface="Roboto"/>
              </a:endParaRPr>
            </a:p>
            <a:p>
              <a:pPr indent="0" lvl="0" marL="0" rtl="0" algn="l">
                <a:spcBef>
                  <a:spcPts val="450"/>
                </a:spcBef>
                <a:spcAft>
                  <a:spcPts val="0"/>
                </a:spcAft>
                <a:buNone/>
              </a:pPr>
              <a:r>
                <a:rPr b="0" lang="en" sz="950">
                  <a:solidFill>
                    <a:srgbClr val="E0E6ED"/>
                  </a:solidFill>
                  <a:latin typeface="Roboto"/>
                  <a:ea typeface="Roboto"/>
                  <a:cs typeface="Roboto"/>
                  <a:sym typeface="Roboto"/>
                </a:rPr>
                <a:t>New capabilities such as setting monthly budget limits, AI-driven expense prediction, and email reports aim to help users better manage and anticipate finances.</a:t>
              </a:r>
              <a:endParaRPr b="0" sz="950">
                <a:solidFill>
                  <a:srgbClr val="E0E6ED"/>
                </a:solidFill>
                <a:latin typeface="Roboto"/>
                <a:ea typeface="Roboto"/>
                <a:cs typeface="Roboto"/>
                <a:sym typeface="Roboto"/>
              </a:endParaRPr>
            </a:p>
          </p:txBody>
        </p:sp>
      </p:grpSp>
      <p:grpSp>
        <p:nvGrpSpPr>
          <p:cNvPr id="290" name="Google Shape;290;p22"/>
          <p:cNvGrpSpPr/>
          <p:nvPr/>
        </p:nvGrpSpPr>
        <p:grpSpPr>
          <a:xfrm>
            <a:off x="6096000" y="1428750"/>
            <a:ext cx="2476500" cy="1428900"/>
            <a:chOff x="0" y="0"/>
            <a:chExt cx="2476500" cy="1428900"/>
          </a:xfrm>
        </p:grpSpPr>
        <p:sp>
          <p:nvSpPr>
            <p:cNvPr id="291" name="Google Shape;291;p22"/>
            <p:cNvSpPr/>
            <p:nvPr/>
          </p:nvSpPr>
          <p:spPr>
            <a:xfrm>
              <a:off x="0" y="0"/>
              <a:ext cx="2476500" cy="1428900"/>
            </a:xfrm>
            <a:prstGeom prst="roundRect">
              <a:avLst>
                <a:gd fmla="val 8000" name="adj"/>
              </a:avLst>
            </a:prstGeom>
            <a:solidFill>
              <a:srgbClr val="1A2638">
                <a:alpha val="80000"/>
              </a:srgbClr>
            </a:solidFill>
            <a:ln cap="flat" cmpd="sng" w="9525">
              <a:solidFill>
                <a:srgbClr val="00F2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2" name="Google Shape;292;p22"/>
            <p:cNvSpPr txBox="1"/>
            <p:nvPr/>
          </p:nvSpPr>
          <p:spPr>
            <a:xfrm>
              <a:off x="190500" y="190500"/>
              <a:ext cx="2095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00F2FE"/>
                  </a:solidFill>
                  <a:latin typeface="Roboto"/>
                  <a:ea typeface="Roboto"/>
                  <a:cs typeface="Roboto"/>
                  <a:sym typeface="Roboto"/>
                </a:rPr>
                <a:t>Expansion &amp; Accessibility</a:t>
              </a:r>
              <a:endParaRPr b="1" sz="1100">
                <a:solidFill>
                  <a:srgbClr val="00F2FE"/>
                </a:solidFill>
                <a:latin typeface="Roboto"/>
                <a:ea typeface="Roboto"/>
                <a:cs typeface="Roboto"/>
                <a:sym typeface="Roboto"/>
              </a:endParaRPr>
            </a:p>
            <a:p>
              <a:pPr indent="0" lvl="0" marL="0" rtl="0" algn="l">
                <a:spcBef>
                  <a:spcPts val="450"/>
                </a:spcBef>
                <a:spcAft>
                  <a:spcPts val="0"/>
                </a:spcAft>
                <a:buNone/>
              </a:pPr>
              <a:r>
                <a:rPr b="0" lang="en" sz="950">
                  <a:solidFill>
                    <a:srgbClr val="E0E6ED"/>
                  </a:solidFill>
                  <a:latin typeface="Roboto"/>
                  <a:ea typeface="Roboto"/>
                  <a:cs typeface="Roboto"/>
                  <a:sym typeface="Roboto"/>
                </a:rPr>
                <a:t>Future development will focus on launching a mobile application and cloud deployment, ensuring greater accessibility and seamless data sync.</a:t>
              </a:r>
              <a:endParaRPr b="0" sz="950">
                <a:solidFill>
                  <a:srgbClr val="E0E6ED"/>
                </a:solidFill>
                <a:latin typeface="Roboto"/>
                <a:ea typeface="Roboto"/>
                <a:cs typeface="Roboto"/>
                <a:sym typeface="Roboto"/>
              </a:endParaRPr>
            </a:p>
          </p:txBody>
        </p:sp>
      </p:grpSp>
      <p:grpSp>
        <p:nvGrpSpPr>
          <p:cNvPr id="293" name="Google Shape;293;p22"/>
          <p:cNvGrpSpPr/>
          <p:nvPr/>
        </p:nvGrpSpPr>
        <p:grpSpPr>
          <a:xfrm>
            <a:off x="566738" y="3043238"/>
            <a:ext cx="3819600" cy="1724100"/>
            <a:chOff x="-4762" y="-4762"/>
            <a:chExt cx="3819600" cy="1724100"/>
          </a:xfrm>
        </p:grpSpPr>
        <p:pic>
          <p:nvPicPr>
            <p:cNvPr id="294" name="Google Shape;294;p22"/>
            <p:cNvPicPr preferRelativeResize="0"/>
            <p:nvPr/>
          </p:nvPicPr>
          <p:blipFill rotWithShape="1">
            <a:blip r:embed="rId3">
              <a:alphaModFix/>
            </a:blip>
            <a:srcRect b="0" l="0" r="0" t="0"/>
            <a:stretch/>
          </p:blipFill>
          <p:spPr>
            <a:xfrm>
              <a:off x="-4762" y="-4762"/>
              <a:ext cx="3819600" cy="1724100"/>
            </a:xfrm>
            <a:prstGeom prst="rect">
              <a:avLst/>
            </a:prstGeom>
            <a:noFill/>
            <a:ln>
              <a:noFill/>
            </a:ln>
          </p:spPr>
        </p:pic>
        <p:sp>
          <p:nvSpPr>
            <p:cNvPr id="295" name="Google Shape;295;p22"/>
            <p:cNvSpPr txBox="1"/>
            <p:nvPr/>
          </p:nvSpPr>
          <p:spPr>
            <a:xfrm>
              <a:off x="190500" y="190500"/>
              <a:ext cx="3429000" cy="1333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00F2FE"/>
                  </a:solidFill>
                  <a:latin typeface="Roboto"/>
                  <a:ea typeface="Roboto"/>
                  <a:cs typeface="Roboto"/>
                  <a:sym typeface="Roboto"/>
                </a:rPr>
                <a:t>[ User Image Space 1 ]</a:t>
              </a:r>
              <a:endParaRPr b="1" sz="1200">
                <a:solidFill>
                  <a:srgbClr val="00F2FE"/>
                </a:solidFill>
                <a:latin typeface="Roboto"/>
                <a:ea typeface="Roboto"/>
                <a:cs typeface="Roboto"/>
                <a:sym typeface="Roboto"/>
              </a:endParaRPr>
            </a:p>
            <a:p>
              <a:pPr indent="0" lvl="0" marL="0" rtl="0" algn="ctr">
                <a:spcBef>
                  <a:spcPts val="450"/>
                </a:spcBef>
                <a:spcAft>
                  <a:spcPts val="0"/>
                </a:spcAft>
                <a:buNone/>
              </a:pPr>
              <a:r>
                <a:rPr b="0" lang="en" sz="950">
                  <a:solidFill>
                    <a:srgbClr val="E0E6ED"/>
                  </a:solidFill>
                  <a:latin typeface="Roboto"/>
                  <a:ea typeface="Roboto"/>
                  <a:cs typeface="Roboto"/>
                  <a:sym typeface="Roboto"/>
                </a:rPr>
                <a:t>Click to insert custom screenshot</a:t>
              </a:r>
              <a:endParaRPr b="0" sz="950">
                <a:solidFill>
                  <a:srgbClr val="E0E6ED"/>
                </a:solidFill>
                <a:latin typeface="Roboto"/>
                <a:ea typeface="Roboto"/>
                <a:cs typeface="Roboto"/>
                <a:sym typeface="Roboto"/>
              </a:endParaRPr>
            </a:p>
          </p:txBody>
        </p:sp>
      </p:grpSp>
      <p:grpSp>
        <p:nvGrpSpPr>
          <p:cNvPr id="296" name="Google Shape;296;p22"/>
          <p:cNvGrpSpPr/>
          <p:nvPr/>
        </p:nvGrpSpPr>
        <p:grpSpPr>
          <a:xfrm>
            <a:off x="4757738" y="3043238"/>
            <a:ext cx="3819600" cy="1724100"/>
            <a:chOff x="-4762" y="-4762"/>
            <a:chExt cx="3819600" cy="1724100"/>
          </a:xfrm>
        </p:grpSpPr>
        <p:pic>
          <p:nvPicPr>
            <p:cNvPr id="297" name="Google Shape;297;p22"/>
            <p:cNvPicPr preferRelativeResize="0"/>
            <p:nvPr/>
          </p:nvPicPr>
          <p:blipFill rotWithShape="1">
            <a:blip r:embed="rId3">
              <a:alphaModFix/>
            </a:blip>
            <a:srcRect b="0" l="0" r="0" t="0"/>
            <a:stretch/>
          </p:blipFill>
          <p:spPr>
            <a:xfrm>
              <a:off x="-4762" y="-4762"/>
              <a:ext cx="3819600" cy="1724100"/>
            </a:xfrm>
            <a:prstGeom prst="rect">
              <a:avLst/>
            </a:prstGeom>
            <a:noFill/>
            <a:ln>
              <a:noFill/>
            </a:ln>
          </p:spPr>
        </p:pic>
        <p:sp>
          <p:nvSpPr>
            <p:cNvPr id="298" name="Google Shape;298;p22"/>
            <p:cNvSpPr txBox="1"/>
            <p:nvPr/>
          </p:nvSpPr>
          <p:spPr>
            <a:xfrm>
              <a:off x="190500" y="190500"/>
              <a:ext cx="3429000" cy="1333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4FACFE"/>
                  </a:solidFill>
                  <a:latin typeface="Roboto"/>
                  <a:ea typeface="Roboto"/>
                  <a:cs typeface="Roboto"/>
                  <a:sym typeface="Roboto"/>
                </a:rPr>
                <a:t>[ User Image Space 2 ]</a:t>
              </a:r>
              <a:endParaRPr b="1" sz="1200">
                <a:solidFill>
                  <a:srgbClr val="4FACFE"/>
                </a:solidFill>
                <a:latin typeface="Roboto"/>
                <a:ea typeface="Roboto"/>
                <a:cs typeface="Roboto"/>
                <a:sym typeface="Roboto"/>
              </a:endParaRPr>
            </a:p>
            <a:p>
              <a:pPr indent="0" lvl="0" marL="0" rtl="0" algn="ctr">
                <a:spcBef>
                  <a:spcPts val="450"/>
                </a:spcBef>
                <a:spcAft>
                  <a:spcPts val="0"/>
                </a:spcAft>
                <a:buNone/>
              </a:pPr>
              <a:r>
                <a:rPr b="0" lang="en" sz="950">
                  <a:solidFill>
                    <a:srgbClr val="E0E6ED"/>
                  </a:solidFill>
                  <a:latin typeface="Roboto"/>
                  <a:ea typeface="Roboto"/>
                  <a:cs typeface="Roboto"/>
                  <a:sym typeface="Roboto"/>
                </a:rPr>
                <a:t>Click to insert custom screenshot</a:t>
              </a:r>
              <a:endParaRPr b="0" sz="950">
                <a:solidFill>
                  <a:srgbClr val="E0E6ED"/>
                </a:solidFill>
                <a:latin typeface="Roboto"/>
                <a:ea typeface="Roboto"/>
                <a:cs typeface="Roboto"/>
                <a:sym typeface="Roboto"/>
              </a:endParaRPr>
            </a:p>
          </p:txBody>
        </p:sp>
      </p:grpSp>
      <p:pic>
        <p:nvPicPr>
          <p:cNvPr id="299" name="Google Shape;299;p22"/>
          <p:cNvPicPr preferRelativeResize="0"/>
          <p:nvPr/>
        </p:nvPicPr>
        <p:blipFill>
          <a:blip r:embed="rId4">
            <a:alphaModFix/>
          </a:blip>
          <a:stretch>
            <a:fillRect/>
          </a:stretch>
        </p:blipFill>
        <p:spPr>
          <a:xfrm>
            <a:off x="388050" y="3043250"/>
            <a:ext cx="3998300" cy="1724100"/>
          </a:xfrm>
          <a:prstGeom prst="rect">
            <a:avLst/>
          </a:prstGeom>
          <a:noFill/>
          <a:ln>
            <a:noFill/>
          </a:ln>
        </p:spPr>
      </p:pic>
      <p:pic>
        <p:nvPicPr>
          <p:cNvPr id="300" name="Google Shape;300;p22"/>
          <p:cNvPicPr preferRelativeResize="0"/>
          <p:nvPr/>
        </p:nvPicPr>
        <p:blipFill>
          <a:blip r:embed="rId5">
            <a:alphaModFix/>
          </a:blip>
          <a:stretch>
            <a:fillRect/>
          </a:stretch>
        </p:blipFill>
        <p:spPr>
          <a:xfrm>
            <a:off x="4757750" y="3043250"/>
            <a:ext cx="3819599" cy="18107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4" name="Shape 304"/>
        <p:cNvGrpSpPr/>
        <p:nvPr/>
      </p:nvGrpSpPr>
      <p:grpSpPr>
        <a:xfrm>
          <a:off x="0" y="0"/>
          <a:ext cx="0" cy="0"/>
          <a:chOff x="0" y="0"/>
          <a:chExt cx="0" cy="0"/>
        </a:xfrm>
      </p:grpSpPr>
      <p:grpSp>
        <p:nvGrpSpPr>
          <p:cNvPr id="305" name="Google Shape;305;p23"/>
          <p:cNvGrpSpPr/>
          <p:nvPr/>
        </p:nvGrpSpPr>
        <p:grpSpPr>
          <a:xfrm>
            <a:off x="571500" y="381000"/>
            <a:ext cx="8001000" cy="742950"/>
            <a:chOff x="0" y="0"/>
            <a:chExt cx="8001000" cy="742950"/>
          </a:xfrm>
        </p:grpSpPr>
        <p:sp>
          <p:nvSpPr>
            <p:cNvPr id="306" name="Google Shape;306;p23"/>
            <p:cNvSpPr txBox="1"/>
            <p:nvPr/>
          </p:nvSpPr>
          <p:spPr>
            <a:xfrm>
              <a:off x="0" y="0"/>
              <a:ext cx="8001000" cy="4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200">
                  <a:solidFill>
                    <a:srgbClr val="00F2FE"/>
                  </a:solidFill>
                  <a:latin typeface="Roboto ExtraBold"/>
                  <a:ea typeface="Roboto ExtraBold"/>
                  <a:cs typeface="Roboto ExtraBold"/>
                  <a:sym typeface="Roboto ExtraBold"/>
                </a:rPr>
                <a:t>BudgetWise: Expense Tracking &amp; Learning</a:t>
              </a:r>
              <a:endParaRPr b="0" sz="2200">
                <a:solidFill>
                  <a:srgbClr val="00F2FE"/>
                </a:solidFill>
                <a:latin typeface="Roboto ExtraBold"/>
                <a:ea typeface="Roboto ExtraBold"/>
                <a:cs typeface="Roboto ExtraBold"/>
                <a:sym typeface="Roboto ExtraBold"/>
              </a:endParaRPr>
            </a:p>
          </p:txBody>
        </p:sp>
        <p:sp>
          <p:nvSpPr>
            <p:cNvPr id="307" name="Google Shape;307;p23"/>
            <p:cNvSpPr txBox="1"/>
            <p:nvPr/>
          </p:nvSpPr>
          <p:spPr>
            <a:xfrm>
              <a:off x="0" y="400050"/>
              <a:ext cx="8001000" cy="26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50">
                  <a:solidFill>
                    <a:srgbClr val="E0E6ED"/>
                  </a:solidFill>
                  <a:latin typeface="Roboto"/>
                  <a:ea typeface="Roboto"/>
                  <a:cs typeface="Roboto"/>
                  <a:sym typeface="Roboto"/>
                </a:rPr>
                <a:t>Efficient Personal Expense Tracking and Development Learning Outcomes</a:t>
              </a:r>
              <a:endParaRPr b="0" sz="1250">
                <a:solidFill>
                  <a:srgbClr val="E0E6ED"/>
                </a:solidFill>
                <a:latin typeface="Roboto"/>
                <a:ea typeface="Roboto"/>
                <a:cs typeface="Roboto"/>
                <a:sym typeface="Roboto"/>
              </a:endParaRPr>
            </a:p>
          </p:txBody>
        </p:sp>
        <p:cxnSp>
          <p:nvCxnSpPr>
            <p:cNvPr id="308" name="Google Shape;308;p23"/>
            <p:cNvCxnSpPr/>
            <p:nvPr/>
          </p:nvCxnSpPr>
          <p:spPr>
            <a:xfrm>
              <a:off x="0" y="742950"/>
              <a:ext cx="1714500" cy="0"/>
            </a:xfrm>
            <a:prstGeom prst="straightConnector1">
              <a:avLst/>
            </a:prstGeom>
            <a:solidFill>
              <a:srgbClr val="FFFFFF"/>
            </a:solidFill>
            <a:ln cap="flat" cmpd="sng" w="28575">
              <a:solidFill>
                <a:srgbClr val="00F2FE"/>
              </a:solidFill>
              <a:prstDash val="solid"/>
              <a:round/>
              <a:headEnd len="sm" w="sm" type="none"/>
              <a:tailEnd len="sm" w="sm" type="none"/>
            </a:ln>
          </p:spPr>
        </p:cxnSp>
      </p:grpSp>
      <p:grpSp>
        <p:nvGrpSpPr>
          <p:cNvPr id="309" name="Google Shape;309;p23"/>
          <p:cNvGrpSpPr/>
          <p:nvPr/>
        </p:nvGrpSpPr>
        <p:grpSpPr>
          <a:xfrm>
            <a:off x="571500" y="1428750"/>
            <a:ext cx="2476500" cy="3143400"/>
            <a:chOff x="0" y="0"/>
            <a:chExt cx="2476500" cy="3143400"/>
          </a:xfrm>
        </p:grpSpPr>
        <p:sp>
          <p:nvSpPr>
            <p:cNvPr id="310" name="Google Shape;310;p23"/>
            <p:cNvSpPr/>
            <p:nvPr/>
          </p:nvSpPr>
          <p:spPr>
            <a:xfrm>
              <a:off x="0" y="0"/>
              <a:ext cx="2476500" cy="3143400"/>
            </a:xfrm>
            <a:prstGeom prst="roundRect">
              <a:avLst>
                <a:gd fmla="val 4615" name="adj"/>
              </a:avLst>
            </a:prstGeom>
            <a:solidFill>
              <a:srgbClr val="1A2638">
                <a:alpha val="80000"/>
              </a:srgbClr>
            </a:solidFill>
            <a:ln cap="flat" cmpd="sng" w="14300">
              <a:solidFill>
                <a:srgbClr val="00F2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1" name="Google Shape;311;p23"/>
            <p:cNvSpPr/>
            <p:nvPr/>
          </p:nvSpPr>
          <p:spPr>
            <a:xfrm>
              <a:off x="219075" y="219075"/>
              <a:ext cx="419100" cy="419100"/>
            </a:xfrm>
            <a:prstGeom prst="ellipse">
              <a:avLst/>
            </a:prstGeom>
            <a:solidFill>
              <a:srgbClr val="0E1726"/>
            </a:solidFill>
            <a:ln cap="flat" cmpd="sng" w="14300">
              <a:solidFill>
                <a:srgbClr val="00F2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p23"/>
            <p:cNvSpPr txBox="1"/>
            <p:nvPr/>
          </p:nvSpPr>
          <p:spPr>
            <a:xfrm>
              <a:off x="333375" y="285750"/>
              <a:ext cx="1905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400">
                  <a:solidFill>
                    <a:srgbClr val="00F2FE"/>
                  </a:solidFill>
                  <a:latin typeface="Roboto ExtraBold"/>
                  <a:ea typeface="Roboto ExtraBold"/>
                  <a:cs typeface="Roboto ExtraBold"/>
                  <a:sym typeface="Roboto ExtraBold"/>
                </a:rPr>
                <a:t>1</a:t>
              </a:r>
              <a:endParaRPr b="0" sz="1400">
                <a:solidFill>
                  <a:srgbClr val="00F2FE"/>
                </a:solidFill>
                <a:latin typeface="Roboto ExtraBold"/>
                <a:ea typeface="Roboto ExtraBold"/>
                <a:cs typeface="Roboto ExtraBold"/>
                <a:sym typeface="Roboto ExtraBold"/>
              </a:endParaRPr>
            </a:p>
          </p:txBody>
        </p:sp>
        <p:sp>
          <p:nvSpPr>
            <p:cNvPr id="313" name="Google Shape;313;p23"/>
            <p:cNvSpPr txBox="1"/>
            <p:nvPr/>
          </p:nvSpPr>
          <p:spPr>
            <a:xfrm>
              <a:off x="238125" y="809625"/>
              <a:ext cx="2000100" cy="2143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0F2FE"/>
                  </a:solidFill>
                  <a:latin typeface="Roboto"/>
                  <a:ea typeface="Roboto"/>
                  <a:cs typeface="Roboto"/>
                  <a:sym typeface="Roboto"/>
                </a:rPr>
                <a:t>Successful CRUD Operations</a:t>
              </a:r>
              <a:endParaRPr b="1" sz="1200">
                <a:solidFill>
                  <a:srgbClr val="00F2FE"/>
                </a:solidFill>
                <a:latin typeface="Roboto"/>
                <a:ea typeface="Roboto"/>
                <a:cs typeface="Roboto"/>
                <a:sym typeface="Roboto"/>
              </a:endParaRPr>
            </a:p>
            <a:p>
              <a:pPr indent="0" lvl="0" marL="0" rtl="0" algn="l">
                <a:spcBef>
                  <a:spcPts val="450"/>
                </a:spcBef>
                <a:spcAft>
                  <a:spcPts val="0"/>
                </a:spcAft>
                <a:buNone/>
              </a:pPr>
              <a:r>
                <a:rPr b="0" lang="en" sz="1000">
                  <a:solidFill>
                    <a:srgbClr val="E0E6ED"/>
                  </a:solidFill>
                  <a:latin typeface="Roboto"/>
                  <a:ea typeface="Roboto"/>
                  <a:cs typeface="Roboto"/>
                  <a:sym typeface="Roboto"/>
                </a:rPr>
                <a:t>BudgetWise effectively supports all Create, Read, Update, and Delete operations, ensuring seamless management of personal expense records in real-time.</a:t>
              </a:r>
              <a:endParaRPr b="0" sz="1000">
                <a:solidFill>
                  <a:srgbClr val="E0E6ED"/>
                </a:solidFill>
                <a:latin typeface="Roboto"/>
                <a:ea typeface="Roboto"/>
                <a:cs typeface="Roboto"/>
                <a:sym typeface="Roboto"/>
              </a:endParaRPr>
            </a:p>
          </p:txBody>
        </p:sp>
      </p:grpSp>
      <p:grpSp>
        <p:nvGrpSpPr>
          <p:cNvPr id="314" name="Google Shape;314;p23"/>
          <p:cNvGrpSpPr/>
          <p:nvPr/>
        </p:nvGrpSpPr>
        <p:grpSpPr>
          <a:xfrm>
            <a:off x="3333750" y="1428750"/>
            <a:ext cx="2476500" cy="3143400"/>
            <a:chOff x="0" y="0"/>
            <a:chExt cx="2476500" cy="3143400"/>
          </a:xfrm>
        </p:grpSpPr>
        <p:sp>
          <p:nvSpPr>
            <p:cNvPr id="315" name="Google Shape;315;p23"/>
            <p:cNvSpPr/>
            <p:nvPr/>
          </p:nvSpPr>
          <p:spPr>
            <a:xfrm>
              <a:off x="0" y="0"/>
              <a:ext cx="2476500" cy="3143400"/>
            </a:xfrm>
            <a:prstGeom prst="roundRect">
              <a:avLst>
                <a:gd fmla="val 4615" name="adj"/>
              </a:avLst>
            </a:prstGeom>
            <a:solidFill>
              <a:srgbClr val="1A2638">
                <a:alpha val="80000"/>
              </a:srgbClr>
            </a:solidFill>
            <a:ln cap="flat" cmpd="sng" w="9525">
              <a:solidFill>
                <a:srgbClr val="4FAC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6" name="Google Shape;316;p23"/>
            <p:cNvSpPr/>
            <p:nvPr/>
          </p:nvSpPr>
          <p:spPr>
            <a:xfrm>
              <a:off x="219075" y="219075"/>
              <a:ext cx="419100" cy="419100"/>
            </a:xfrm>
            <a:prstGeom prst="ellipse">
              <a:avLst/>
            </a:prstGeom>
            <a:solidFill>
              <a:srgbClr val="0E1726"/>
            </a:solidFill>
            <a:ln cap="flat" cmpd="sng" w="14300">
              <a:solidFill>
                <a:srgbClr val="4FAC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7" name="Google Shape;317;p23"/>
            <p:cNvSpPr txBox="1"/>
            <p:nvPr/>
          </p:nvSpPr>
          <p:spPr>
            <a:xfrm>
              <a:off x="333375" y="285750"/>
              <a:ext cx="1905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400">
                  <a:solidFill>
                    <a:srgbClr val="4FACFE"/>
                  </a:solidFill>
                  <a:latin typeface="Roboto ExtraBold"/>
                  <a:ea typeface="Roboto ExtraBold"/>
                  <a:cs typeface="Roboto ExtraBold"/>
                  <a:sym typeface="Roboto ExtraBold"/>
                </a:rPr>
                <a:t>2</a:t>
              </a:r>
              <a:endParaRPr b="0" sz="1400">
                <a:solidFill>
                  <a:srgbClr val="4FACFE"/>
                </a:solidFill>
                <a:latin typeface="Roboto ExtraBold"/>
                <a:ea typeface="Roboto ExtraBold"/>
                <a:cs typeface="Roboto ExtraBold"/>
                <a:sym typeface="Roboto ExtraBold"/>
              </a:endParaRPr>
            </a:p>
          </p:txBody>
        </p:sp>
        <p:sp>
          <p:nvSpPr>
            <p:cNvPr id="318" name="Google Shape;318;p23"/>
            <p:cNvSpPr txBox="1"/>
            <p:nvPr/>
          </p:nvSpPr>
          <p:spPr>
            <a:xfrm>
              <a:off x="238125" y="809625"/>
              <a:ext cx="2000100" cy="2143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4FACFE"/>
                  </a:solidFill>
                  <a:latin typeface="Roboto"/>
                  <a:ea typeface="Roboto"/>
                  <a:cs typeface="Roboto"/>
                  <a:sym typeface="Roboto"/>
                </a:rPr>
                <a:t>User-Friendly Features</a:t>
              </a:r>
              <a:endParaRPr b="1" sz="1200">
                <a:solidFill>
                  <a:srgbClr val="4FACFE"/>
                </a:solidFill>
                <a:latin typeface="Roboto"/>
                <a:ea typeface="Roboto"/>
                <a:cs typeface="Roboto"/>
                <a:sym typeface="Roboto"/>
              </a:endParaRPr>
            </a:p>
            <a:p>
              <a:pPr indent="0" lvl="0" marL="0" rtl="0" algn="l">
                <a:spcBef>
                  <a:spcPts val="450"/>
                </a:spcBef>
                <a:spcAft>
                  <a:spcPts val="0"/>
                </a:spcAft>
                <a:buNone/>
              </a:pPr>
              <a:r>
                <a:rPr b="0" lang="en" sz="1000">
                  <a:solidFill>
                    <a:srgbClr val="E0E6ED"/>
                  </a:solidFill>
                  <a:latin typeface="Roboto"/>
                  <a:ea typeface="Roboto"/>
                  <a:cs typeface="Roboto"/>
                  <a:sym typeface="Roboto"/>
                </a:rPr>
                <a:t>The application offers graphical reports, comprehensive filtering options, and a highly responsive interface to enhance user experience and provide clear financial insights.</a:t>
              </a:r>
              <a:endParaRPr b="0" sz="1000">
                <a:solidFill>
                  <a:srgbClr val="E0E6ED"/>
                </a:solidFill>
                <a:latin typeface="Roboto"/>
                <a:ea typeface="Roboto"/>
                <a:cs typeface="Roboto"/>
                <a:sym typeface="Roboto"/>
              </a:endParaRPr>
            </a:p>
          </p:txBody>
        </p:sp>
      </p:grpSp>
      <p:grpSp>
        <p:nvGrpSpPr>
          <p:cNvPr id="319" name="Google Shape;319;p23"/>
          <p:cNvGrpSpPr/>
          <p:nvPr/>
        </p:nvGrpSpPr>
        <p:grpSpPr>
          <a:xfrm>
            <a:off x="6096000" y="1428750"/>
            <a:ext cx="2476500" cy="3143400"/>
            <a:chOff x="0" y="0"/>
            <a:chExt cx="2476500" cy="3143400"/>
          </a:xfrm>
        </p:grpSpPr>
        <p:sp>
          <p:nvSpPr>
            <p:cNvPr id="320" name="Google Shape;320;p23"/>
            <p:cNvSpPr/>
            <p:nvPr/>
          </p:nvSpPr>
          <p:spPr>
            <a:xfrm>
              <a:off x="0" y="0"/>
              <a:ext cx="2476500" cy="3143400"/>
            </a:xfrm>
            <a:prstGeom prst="roundRect">
              <a:avLst>
                <a:gd fmla="val 4615" name="adj"/>
              </a:avLst>
            </a:prstGeom>
            <a:solidFill>
              <a:srgbClr val="1A2638">
                <a:alpha val="80000"/>
              </a:srgbClr>
            </a:solidFill>
            <a:ln cap="flat" cmpd="sng" w="9525">
              <a:solidFill>
                <a:srgbClr val="00F2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1" name="Google Shape;321;p23"/>
            <p:cNvSpPr/>
            <p:nvPr/>
          </p:nvSpPr>
          <p:spPr>
            <a:xfrm>
              <a:off x="219075" y="219075"/>
              <a:ext cx="419100" cy="419100"/>
            </a:xfrm>
            <a:prstGeom prst="ellipse">
              <a:avLst/>
            </a:prstGeom>
            <a:solidFill>
              <a:srgbClr val="0E1726"/>
            </a:solidFill>
            <a:ln cap="flat" cmpd="sng" w="14300">
              <a:solidFill>
                <a:srgbClr val="00F2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2" name="Google Shape;322;p23"/>
            <p:cNvSpPr txBox="1"/>
            <p:nvPr/>
          </p:nvSpPr>
          <p:spPr>
            <a:xfrm>
              <a:off x="333375" y="285750"/>
              <a:ext cx="1905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400">
                  <a:solidFill>
                    <a:srgbClr val="00F2FE"/>
                  </a:solidFill>
                  <a:latin typeface="Roboto ExtraBold"/>
                  <a:ea typeface="Roboto ExtraBold"/>
                  <a:cs typeface="Roboto ExtraBold"/>
                  <a:sym typeface="Roboto ExtraBold"/>
                </a:rPr>
                <a:t>3</a:t>
              </a:r>
              <a:endParaRPr b="0" sz="1400">
                <a:solidFill>
                  <a:srgbClr val="00F2FE"/>
                </a:solidFill>
                <a:latin typeface="Roboto ExtraBold"/>
                <a:ea typeface="Roboto ExtraBold"/>
                <a:cs typeface="Roboto ExtraBold"/>
                <a:sym typeface="Roboto ExtraBold"/>
              </a:endParaRPr>
            </a:p>
          </p:txBody>
        </p:sp>
        <p:sp>
          <p:nvSpPr>
            <p:cNvPr id="323" name="Google Shape;323;p23"/>
            <p:cNvSpPr txBox="1"/>
            <p:nvPr/>
          </p:nvSpPr>
          <p:spPr>
            <a:xfrm>
              <a:off x="238125" y="809625"/>
              <a:ext cx="2000100" cy="2143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0F2FE"/>
                  </a:solidFill>
                  <a:latin typeface="Roboto"/>
                  <a:ea typeface="Roboto"/>
                  <a:cs typeface="Roboto"/>
                  <a:sym typeface="Roboto"/>
                </a:rPr>
                <a:t>Educational Impact</a:t>
              </a:r>
              <a:endParaRPr b="1" sz="1200">
                <a:solidFill>
                  <a:srgbClr val="00F2FE"/>
                </a:solidFill>
                <a:latin typeface="Roboto"/>
                <a:ea typeface="Roboto"/>
                <a:cs typeface="Roboto"/>
                <a:sym typeface="Roboto"/>
              </a:endParaRPr>
            </a:p>
            <a:p>
              <a:pPr indent="0" lvl="0" marL="0" rtl="0" algn="l">
                <a:spcBef>
                  <a:spcPts val="450"/>
                </a:spcBef>
                <a:spcAft>
                  <a:spcPts val="0"/>
                </a:spcAft>
                <a:buNone/>
              </a:pPr>
              <a:r>
                <a:rPr b="0" lang="en" sz="1000">
                  <a:solidFill>
                    <a:srgbClr val="E0E6ED"/>
                  </a:solidFill>
                  <a:latin typeface="Roboto"/>
                  <a:ea typeface="Roboto"/>
                  <a:cs typeface="Roboto"/>
                  <a:sym typeface="Roboto"/>
                </a:rPr>
                <a:t>Developing BudgetWise deepened full-stack understanding: Front/Backend, Database integration, API Communication, MVC Architecture, and complex CRUD workflows.</a:t>
              </a:r>
              <a:endParaRPr b="0" sz="1000">
                <a:solidFill>
                  <a:srgbClr val="E0E6ED"/>
                </a:solidFill>
                <a:latin typeface="Roboto"/>
                <a:ea typeface="Roboto"/>
                <a:cs typeface="Roboto"/>
                <a:sym typeface="Roboto"/>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726"/>
        </a:solidFill>
      </p:bgPr>
    </p:bg>
    <p:spTree>
      <p:nvGrpSpPr>
        <p:cNvPr id="327" name="Shape 327"/>
        <p:cNvGrpSpPr/>
        <p:nvPr/>
      </p:nvGrpSpPr>
      <p:grpSpPr>
        <a:xfrm>
          <a:off x="0" y="0"/>
          <a:ext cx="0" cy="0"/>
          <a:chOff x="0" y="0"/>
          <a:chExt cx="0" cy="0"/>
        </a:xfrm>
      </p:grpSpPr>
      <p:grpSp>
        <p:nvGrpSpPr>
          <p:cNvPr id="328" name="Google Shape;328;p24"/>
          <p:cNvGrpSpPr/>
          <p:nvPr/>
        </p:nvGrpSpPr>
        <p:grpSpPr>
          <a:xfrm>
            <a:off x="571500" y="381000"/>
            <a:ext cx="8001000" cy="742950"/>
            <a:chOff x="0" y="0"/>
            <a:chExt cx="8001000" cy="742950"/>
          </a:xfrm>
        </p:grpSpPr>
        <p:sp>
          <p:nvSpPr>
            <p:cNvPr id="329" name="Google Shape;329;p24"/>
            <p:cNvSpPr txBox="1"/>
            <p:nvPr/>
          </p:nvSpPr>
          <p:spPr>
            <a:xfrm>
              <a:off x="0" y="0"/>
              <a:ext cx="8001000" cy="4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200">
                  <a:solidFill>
                    <a:srgbClr val="00F2FE"/>
                  </a:solidFill>
                  <a:latin typeface="Roboto ExtraBold"/>
                  <a:ea typeface="Roboto ExtraBold"/>
                  <a:cs typeface="Roboto ExtraBold"/>
                  <a:sym typeface="Roboto ExtraBold"/>
                </a:rPr>
                <a:t>Comprehensive Personal Expense Tracking</a:t>
              </a:r>
              <a:endParaRPr b="0" sz="2200">
                <a:solidFill>
                  <a:srgbClr val="00F2FE"/>
                </a:solidFill>
                <a:latin typeface="Roboto ExtraBold"/>
                <a:ea typeface="Roboto ExtraBold"/>
                <a:cs typeface="Roboto ExtraBold"/>
                <a:sym typeface="Roboto ExtraBold"/>
              </a:endParaRPr>
            </a:p>
          </p:txBody>
        </p:sp>
        <p:sp>
          <p:nvSpPr>
            <p:cNvPr id="330" name="Google Shape;330;p24"/>
            <p:cNvSpPr txBox="1"/>
            <p:nvPr/>
          </p:nvSpPr>
          <p:spPr>
            <a:xfrm>
              <a:off x="0" y="400050"/>
              <a:ext cx="8001000" cy="26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50">
                  <a:solidFill>
                    <a:srgbClr val="E0E6ED"/>
                  </a:solidFill>
                  <a:latin typeface="Roboto"/>
                  <a:ea typeface="Roboto"/>
                  <a:cs typeface="Roboto"/>
                  <a:sym typeface="Roboto"/>
                </a:rPr>
                <a:t>BudgetWise Internship Project: Core Focus Areas &amp; Architectural Strengths</a:t>
              </a:r>
              <a:endParaRPr b="0" sz="1250">
                <a:solidFill>
                  <a:srgbClr val="E0E6ED"/>
                </a:solidFill>
                <a:latin typeface="Roboto"/>
                <a:ea typeface="Roboto"/>
                <a:cs typeface="Roboto"/>
                <a:sym typeface="Roboto"/>
              </a:endParaRPr>
            </a:p>
          </p:txBody>
        </p:sp>
        <p:cxnSp>
          <p:nvCxnSpPr>
            <p:cNvPr id="331" name="Google Shape;331;p24"/>
            <p:cNvCxnSpPr/>
            <p:nvPr/>
          </p:nvCxnSpPr>
          <p:spPr>
            <a:xfrm>
              <a:off x="0" y="742950"/>
              <a:ext cx="1714500" cy="0"/>
            </a:xfrm>
            <a:prstGeom prst="straightConnector1">
              <a:avLst/>
            </a:prstGeom>
            <a:solidFill>
              <a:srgbClr val="FFFFFF"/>
            </a:solidFill>
            <a:ln cap="flat" cmpd="sng" w="28575">
              <a:solidFill>
                <a:srgbClr val="00F2FE"/>
              </a:solidFill>
              <a:prstDash val="solid"/>
              <a:round/>
              <a:headEnd len="sm" w="sm" type="none"/>
              <a:tailEnd len="sm" w="sm" type="none"/>
            </a:ln>
          </p:spPr>
        </p:cxnSp>
      </p:grpSp>
      <p:grpSp>
        <p:nvGrpSpPr>
          <p:cNvPr id="332" name="Google Shape;332;p24"/>
          <p:cNvGrpSpPr/>
          <p:nvPr/>
        </p:nvGrpSpPr>
        <p:grpSpPr>
          <a:xfrm>
            <a:off x="571500" y="1428750"/>
            <a:ext cx="2476500" cy="3143400"/>
            <a:chOff x="0" y="0"/>
            <a:chExt cx="2476500" cy="3143400"/>
          </a:xfrm>
        </p:grpSpPr>
        <p:sp>
          <p:nvSpPr>
            <p:cNvPr id="333" name="Google Shape;333;p24"/>
            <p:cNvSpPr/>
            <p:nvPr/>
          </p:nvSpPr>
          <p:spPr>
            <a:xfrm>
              <a:off x="0" y="0"/>
              <a:ext cx="2476500" cy="3143400"/>
            </a:xfrm>
            <a:prstGeom prst="roundRect">
              <a:avLst>
                <a:gd fmla="val 4615" name="adj"/>
              </a:avLst>
            </a:prstGeom>
            <a:solidFill>
              <a:srgbClr val="1A2638">
                <a:alpha val="80000"/>
              </a:srgbClr>
            </a:solidFill>
            <a:ln cap="flat" cmpd="sng" w="14300">
              <a:solidFill>
                <a:srgbClr val="00F2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4" name="Google Shape;334;p24"/>
            <p:cNvSpPr/>
            <p:nvPr/>
          </p:nvSpPr>
          <p:spPr>
            <a:xfrm>
              <a:off x="219075" y="219075"/>
              <a:ext cx="419100" cy="419100"/>
            </a:xfrm>
            <a:prstGeom prst="ellipse">
              <a:avLst/>
            </a:prstGeom>
            <a:solidFill>
              <a:srgbClr val="0E1726"/>
            </a:solidFill>
            <a:ln cap="flat" cmpd="sng" w="14300">
              <a:solidFill>
                <a:srgbClr val="00F2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p24"/>
            <p:cNvSpPr txBox="1"/>
            <p:nvPr/>
          </p:nvSpPr>
          <p:spPr>
            <a:xfrm>
              <a:off x="333375" y="285750"/>
              <a:ext cx="1905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400">
                  <a:solidFill>
                    <a:srgbClr val="00F2FE"/>
                  </a:solidFill>
                  <a:latin typeface="Roboto ExtraBold"/>
                  <a:ea typeface="Roboto ExtraBold"/>
                  <a:cs typeface="Roboto ExtraBold"/>
                  <a:sym typeface="Roboto ExtraBold"/>
                </a:rPr>
                <a:t>1</a:t>
              </a:r>
              <a:endParaRPr b="0" sz="1400">
                <a:solidFill>
                  <a:srgbClr val="00F2FE"/>
                </a:solidFill>
                <a:latin typeface="Roboto ExtraBold"/>
                <a:ea typeface="Roboto ExtraBold"/>
                <a:cs typeface="Roboto ExtraBold"/>
                <a:sym typeface="Roboto ExtraBold"/>
              </a:endParaRPr>
            </a:p>
          </p:txBody>
        </p:sp>
        <p:sp>
          <p:nvSpPr>
            <p:cNvPr id="336" name="Google Shape;336;p24"/>
            <p:cNvSpPr txBox="1"/>
            <p:nvPr/>
          </p:nvSpPr>
          <p:spPr>
            <a:xfrm>
              <a:off x="238125" y="809625"/>
              <a:ext cx="2000100" cy="2143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0F2FE"/>
                  </a:solidFill>
                  <a:latin typeface="Roboto"/>
                  <a:ea typeface="Roboto"/>
                  <a:cs typeface="Roboto"/>
                  <a:sym typeface="Roboto"/>
                </a:rPr>
                <a:t>Advanced Tech Integration</a:t>
              </a:r>
              <a:endParaRPr b="1" sz="1200">
                <a:solidFill>
                  <a:srgbClr val="00F2FE"/>
                </a:solidFill>
                <a:latin typeface="Roboto"/>
                <a:ea typeface="Roboto"/>
                <a:cs typeface="Roboto"/>
                <a:sym typeface="Roboto"/>
              </a:endParaRPr>
            </a:p>
            <a:p>
              <a:pPr indent="0" lvl="0" marL="0" rtl="0" algn="l">
                <a:spcBef>
                  <a:spcPts val="450"/>
                </a:spcBef>
                <a:spcAft>
                  <a:spcPts val="0"/>
                </a:spcAft>
                <a:buNone/>
              </a:pPr>
              <a:r>
                <a:rPr b="0" lang="en" sz="1000">
                  <a:solidFill>
                    <a:srgbClr val="E0E6ED"/>
                  </a:solidFill>
                  <a:latin typeface="Roboto"/>
                  <a:ea typeface="Roboto"/>
                  <a:cs typeface="Roboto"/>
                  <a:sym typeface="Roboto"/>
                </a:rPr>
                <a:t>BudgetWise combines a variety of cutting-edge technologies and features to deliver an all-inclusive solution for personal expense tracking. This integration enhances the tool’s ability to provide users with a seamless financial management experience.</a:t>
              </a:r>
              <a:endParaRPr b="0" sz="1000">
                <a:solidFill>
                  <a:srgbClr val="E0E6ED"/>
                </a:solidFill>
                <a:latin typeface="Roboto"/>
                <a:ea typeface="Roboto"/>
                <a:cs typeface="Roboto"/>
                <a:sym typeface="Roboto"/>
              </a:endParaRPr>
            </a:p>
          </p:txBody>
        </p:sp>
      </p:grpSp>
      <p:grpSp>
        <p:nvGrpSpPr>
          <p:cNvPr id="337" name="Google Shape;337;p24"/>
          <p:cNvGrpSpPr/>
          <p:nvPr/>
        </p:nvGrpSpPr>
        <p:grpSpPr>
          <a:xfrm>
            <a:off x="3333750" y="1428750"/>
            <a:ext cx="2476500" cy="3143400"/>
            <a:chOff x="0" y="0"/>
            <a:chExt cx="2476500" cy="3143400"/>
          </a:xfrm>
        </p:grpSpPr>
        <p:sp>
          <p:nvSpPr>
            <p:cNvPr id="338" name="Google Shape;338;p24"/>
            <p:cNvSpPr/>
            <p:nvPr/>
          </p:nvSpPr>
          <p:spPr>
            <a:xfrm>
              <a:off x="0" y="0"/>
              <a:ext cx="2476500" cy="3143400"/>
            </a:xfrm>
            <a:prstGeom prst="roundRect">
              <a:avLst>
                <a:gd fmla="val 4615" name="adj"/>
              </a:avLst>
            </a:prstGeom>
            <a:solidFill>
              <a:srgbClr val="1A2638">
                <a:alpha val="80000"/>
              </a:srgbClr>
            </a:solidFill>
            <a:ln cap="flat" cmpd="sng" w="9525">
              <a:solidFill>
                <a:srgbClr val="4FAC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9" name="Google Shape;339;p24"/>
            <p:cNvSpPr/>
            <p:nvPr/>
          </p:nvSpPr>
          <p:spPr>
            <a:xfrm>
              <a:off x="219075" y="219075"/>
              <a:ext cx="419100" cy="419100"/>
            </a:xfrm>
            <a:prstGeom prst="ellipse">
              <a:avLst/>
            </a:prstGeom>
            <a:solidFill>
              <a:srgbClr val="0E1726"/>
            </a:solidFill>
            <a:ln cap="flat" cmpd="sng" w="14300">
              <a:solidFill>
                <a:srgbClr val="4FAC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0" name="Google Shape;340;p24"/>
            <p:cNvSpPr txBox="1"/>
            <p:nvPr/>
          </p:nvSpPr>
          <p:spPr>
            <a:xfrm>
              <a:off x="333375" y="285750"/>
              <a:ext cx="1905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400">
                  <a:solidFill>
                    <a:srgbClr val="4FACFE"/>
                  </a:solidFill>
                  <a:latin typeface="Roboto ExtraBold"/>
                  <a:ea typeface="Roboto ExtraBold"/>
                  <a:cs typeface="Roboto ExtraBold"/>
                  <a:sym typeface="Roboto ExtraBold"/>
                </a:rPr>
                <a:t>2</a:t>
              </a:r>
              <a:endParaRPr b="0" sz="1400">
                <a:solidFill>
                  <a:srgbClr val="4FACFE"/>
                </a:solidFill>
                <a:latin typeface="Roboto ExtraBold"/>
                <a:ea typeface="Roboto ExtraBold"/>
                <a:cs typeface="Roboto ExtraBold"/>
                <a:sym typeface="Roboto ExtraBold"/>
              </a:endParaRPr>
            </a:p>
          </p:txBody>
        </p:sp>
        <p:sp>
          <p:nvSpPr>
            <p:cNvPr id="341" name="Google Shape;341;p24"/>
            <p:cNvSpPr txBox="1"/>
            <p:nvPr/>
          </p:nvSpPr>
          <p:spPr>
            <a:xfrm>
              <a:off x="238125" y="809625"/>
              <a:ext cx="2000100" cy="2143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4FACFE"/>
                  </a:solidFill>
                  <a:latin typeface="Roboto"/>
                  <a:ea typeface="Roboto"/>
                  <a:cs typeface="Roboto"/>
                  <a:sym typeface="Roboto"/>
                </a:rPr>
                <a:t>Practical Application Focus</a:t>
              </a:r>
              <a:endParaRPr b="1" sz="1200">
                <a:solidFill>
                  <a:srgbClr val="4FACFE"/>
                </a:solidFill>
                <a:latin typeface="Roboto"/>
                <a:ea typeface="Roboto"/>
                <a:cs typeface="Roboto"/>
                <a:sym typeface="Roboto"/>
              </a:endParaRPr>
            </a:p>
            <a:p>
              <a:pPr indent="0" lvl="0" marL="0" rtl="0" algn="l">
                <a:spcBef>
                  <a:spcPts val="450"/>
                </a:spcBef>
                <a:spcAft>
                  <a:spcPts val="0"/>
                </a:spcAft>
                <a:buNone/>
              </a:pPr>
              <a:r>
                <a:rPr b="0" lang="en" sz="1000">
                  <a:solidFill>
                    <a:srgbClr val="E0E6ED"/>
                  </a:solidFill>
                  <a:latin typeface="Roboto"/>
                  <a:ea typeface="Roboto"/>
                  <a:cs typeface="Roboto"/>
                  <a:sym typeface="Roboto"/>
                </a:rPr>
                <a:t>The internship project emphasizes hands-on development, ensuring that the application is not only functional but also user-friendly. This practical approach highlights the importance of usability in software design.</a:t>
              </a:r>
              <a:endParaRPr b="0" sz="1000">
                <a:solidFill>
                  <a:srgbClr val="E0E6ED"/>
                </a:solidFill>
                <a:latin typeface="Roboto"/>
                <a:ea typeface="Roboto"/>
                <a:cs typeface="Roboto"/>
                <a:sym typeface="Roboto"/>
              </a:endParaRPr>
            </a:p>
          </p:txBody>
        </p:sp>
      </p:grpSp>
      <p:grpSp>
        <p:nvGrpSpPr>
          <p:cNvPr id="342" name="Google Shape;342;p24"/>
          <p:cNvGrpSpPr/>
          <p:nvPr/>
        </p:nvGrpSpPr>
        <p:grpSpPr>
          <a:xfrm>
            <a:off x="6096000" y="1428750"/>
            <a:ext cx="2476500" cy="3143400"/>
            <a:chOff x="0" y="0"/>
            <a:chExt cx="2476500" cy="3143400"/>
          </a:xfrm>
        </p:grpSpPr>
        <p:sp>
          <p:nvSpPr>
            <p:cNvPr id="343" name="Google Shape;343;p24"/>
            <p:cNvSpPr/>
            <p:nvPr/>
          </p:nvSpPr>
          <p:spPr>
            <a:xfrm>
              <a:off x="0" y="0"/>
              <a:ext cx="2476500" cy="3143400"/>
            </a:xfrm>
            <a:prstGeom prst="roundRect">
              <a:avLst>
                <a:gd fmla="val 4615" name="adj"/>
              </a:avLst>
            </a:prstGeom>
            <a:solidFill>
              <a:srgbClr val="1A2638">
                <a:alpha val="80000"/>
              </a:srgbClr>
            </a:solidFill>
            <a:ln cap="flat" cmpd="sng" w="9525">
              <a:solidFill>
                <a:srgbClr val="00F2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4" name="Google Shape;344;p24"/>
            <p:cNvSpPr/>
            <p:nvPr/>
          </p:nvSpPr>
          <p:spPr>
            <a:xfrm>
              <a:off x="219075" y="219075"/>
              <a:ext cx="419100" cy="419100"/>
            </a:xfrm>
            <a:prstGeom prst="ellipse">
              <a:avLst/>
            </a:prstGeom>
            <a:solidFill>
              <a:srgbClr val="0E1726"/>
            </a:solidFill>
            <a:ln cap="flat" cmpd="sng" w="14300">
              <a:solidFill>
                <a:srgbClr val="00F2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5" name="Google Shape;345;p24"/>
            <p:cNvSpPr txBox="1"/>
            <p:nvPr/>
          </p:nvSpPr>
          <p:spPr>
            <a:xfrm>
              <a:off x="333375" y="285750"/>
              <a:ext cx="1905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400">
                  <a:solidFill>
                    <a:srgbClr val="00F2FE"/>
                  </a:solidFill>
                  <a:latin typeface="Roboto ExtraBold"/>
                  <a:ea typeface="Roboto ExtraBold"/>
                  <a:cs typeface="Roboto ExtraBold"/>
                  <a:sym typeface="Roboto ExtraBold"/>
                </a:rPr>
                <a:t>3</a:t>
              </a:r>
              <a:endParaRPr b="0" sz="1400">
                <a:solidFill>
                  <a:srgbClr val="00F2FE"/>
                </a:solidFill>
                <a:latin typeface="Roboto ExtraBold"/>
                <a:ea typeface="Roboto ExtraBold"/>
                <a:cs typeface="Roboto ExtraBold"/>
                <a:sym typeface="Roboto ExtraBold"/>
              </a:endParaRPr>
            </a:p>
          </p:txBody>
        </p:sp>
        <p:sp>
          <p:nvSpPr>
            <p:cNvPr id="346" name="Google Shape;346;p24"/>
            <p:cNvSpPr txBox="1"/>
            <p:nvPr/>
          </p:nvSpPr>
          <p:spPr>
            <a:xfrm>
              <a:off x="238125" y="809625"/>
              <a:ext cx="2000100" cy="2143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0F2FE"/>
                  </a:solidFill>
                  <a:latin typeface="Roboto"/>
                  <a:ea typeface="Roboto"/>
                  <a:cs typeface="Roboto"/>
                  <a:sym typeface="Roboto"/>
                </a:rPr>
                <a:t>Scalability &amp; Future Growth</a:t>
              </a:r>
              <a:endParaRPr b="1" sz="1200">
                <a:solidFill>
                  <a:srgbClr val="00F2FE"/>
                </a:solidFill>
                <a:latin typeface="Roboto"/>
                <a:ea typeface="Roboto"/>
                <a:cs typeface="Roboto"/>
                <a:sym typeface="Roboto"/>
              </a:endParaRPr>
            </a:p>
            <a:p>
              <a:pPr indent="0" lvl="0" marL="0" rtl="0" algn="l">
                <a:spcBef>
                  <a:spcPts val="450"/>
                </a:spcBef>
                <a:spcAft>
                  <a:spcPts val="0"/>
                </a:spcAft>
                <a:buNone/>
              </a:pPr>
              <a:r>
                <a:rPr b="0" lang="en" sz="1000">
                  <a:solidFill>
                    <a:srgbClr val="E0E6ED"/>
                  </a:solidFill>
                  <a:latin typeface="Roboto"/>
                  <a:ea typeface="Roboto"/>
                  <a:cs typeface="Roboto"/>
                  <a:sym typeface="Roboto"/>
                </a:rPr>
                <a:t>In addition to usability, the project places significant emphasis on scalability. This ensures that the application can grow and adapt to increasing user needs and data volumes over time, demonstrating foresight in development.</a:t>
              </a:r>
              <a:endParaRPr b="0" sz="1000">
                <a:solidFill>
                  <a:srgbClr val="E0E6ED"/>
                </a:solidFill>
                <a:latin typeface="Roboto"/>
                <a:ea typeface="Roboto"/>
                <a:cs typeface="Roboto"/>
                <a:sym typeface="Roboto"/>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726"/>
        </a:solidFill>
      </p:bgPr>
    </p:bg>
    <p:spTree>
      <p:nvGrpSpPr>
        <p:cNvPr id="350" name="Shape 350"/>
        <p:cNvGrpSpPr/>
        <p:nvPr/>
      </p:nvGrpSpPr>
      <p:grpSpPr>
        <a:xfrm>
          <a:off x="0" y="0"/>
          <a:ext cx="0" cy="0"/>
          <a:chOff x="0" y="0"/>
          <a:chExt cx="0" cy="0"/>
        </a:xfrm>
      </p:grpSpPr>
      <p:grpSp>
        <p:nvGrpSpPr>
          <p:cNvPr id="351" name="Google Shape;351;p25"/>
          <p:cNvGrpSpPr/>
          <p:nvPr/>
        </p:nvGrpSpPr>
        <p:grpSpPr>
          <a:xfrm>
            <a:off x="1714500" y="952500"/>
            <a:ext cx="5715000" cy="3238500"/>
            <a:chOff x="0" y="0"/>
            <a:chExt cx="5715000" cy="3238500"/>
          </a:xfrm>
        </p:grpSpPr>
        <p:sp>
          <p:nvSpPr>
            <p:cNvPr id="352" name="Google Shape;352;p25"/>
            <p:cNvSpPr/>
            <p:nvPr/>
          </p:nvSpPr>
          <p:spPr>
            <a:xfrm>
              <a:off x="0" y="0"/>
              <a:ext cx="5715000" cy="3238500"/>
            </a:xfrm>
            <a:prstGeom prst="roundRect">
              <a:avLst>
                <a:gd fmla="val 4705" name="adj"/>
              </a:avLst>
            </a:prstGeom>
            <a:solidFill>
              <a:srgbClr val="1A2638">
                <a:alpha val="80000"/>
              </a:srgbClr>
            </a:solidFill>
            <a:ln cap="flat" cmpd="sng" w="14300">
              <a:solidFill>
                <a:srgbClr val="00F2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53" name="Google Shape;353;p25"/>
            <p:cNvCxnSpPr/>
            <p:nvPr/>
          </p:nvCxnSpPr>
          <p:spPr>
            <a:xfrm>
              <a:off x="1905000" y="2000250"/>
              <a:ext cx="1905000" cy="0"/>
            </a:xfrm>
            <a:prstGeom prst="straightConnector1">
              <a:avLst/>
            </a:prstGeom>
            <a:solidFill>
              <a:srgbClr val="FFFFFF"/>
            </a:solidFill>
            <a:ln cap="flat" cmpd="sng" w="19050">
              <a:solidFill>
                <a:srgbClr val="4FACFE"/>
              </a:solidFill>
              <a:prstDash val="solid"/>
              <a:round/>
              <a:headEnd len="sm" w="sm" type="none"/>
              <a:tailEnd len="sm" w="sm" type="none"/>
            </a:ln>
          </p:spPr>
        </p:cxnSp>
        <p:sp>
          <p:nvSpPr>
            <p:cNvPr id="354" name="Google Shape;354;p25"/>
            <p:cNvSpPr txBox="1"/>
            <p:nvPr/>
          </p:nvSpPr>
          <p:spPr>
            <a:xfrm>
              <a:off x="381000" y="381000"/>
              <a:ext cx="49530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4400">
                  <a:solidFill>
                    <a:srgbClr val="00F2FE"/>
                  </a:solidFill>
                  <a:latin typeface="Roboto ExtraBold"/>
                  <a:ea typeface="Roboto ExtraBold"/>
                  <a:cs typeface="Roboto ExtraBold"/>
                  <a:sym typeface="Roboto ExtraBold"/>
                </a:rPr>
                <a:t>THANK YOU</a:t>
              </a:r>
              <a:endParaRPr b="0" sz="4400">
                <a:solidFill>
                  <a:srgbClr val="00F2FE"/>
                </a:solidFill>
                <a:latin typeface="Roboto ExtraBold"/>
                <a:ea typeface="Roboto ExtraBold"/>
                <a:cs typeface="Roboto ExtraBold"/>
                <a:sym typeface="Roboto ExtraBold"/>
              </a:endParaRPr>
            </a:p>
          </p:txBody>
        </p:sp>
        <p:sp>
          <p:nvSpPr>
            <p:cNvPr id="355" name="Google Shape;355;p25"/>
            <p:cNvSpPr txBox="1"/>
            <p:nvPr/>
          </p:nvSpPr>
          <p:spPr>
            <a:xfrm>
              <a:off x="381000" y="1809750"/>
              <a:ext cx="4953000" cy="1047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600">
                  <a:solidFill>
                    <a:srgbClr val="E0E6ED"/>
                  </a:solidFill>
                  <a:latin typeface="Roboto"/>
                  <a:ea typeface="Roboto"/>
                  <a:cs typeface="Roboto"/>
                  <a:sym typeface="Roboto"/>
                </a:rPr>
                <a:t>BudgetWise Internship Project</a:t>
              </a:r>
              <a:endParaRPr b="0" sz="1600">
                <a:solidFill>
                  <a:srgbClr val="E0E6ED"/>
                </a:solidFill>
                <a:latin typeface="Roboto"/>
                <a:ea typeface="Roboto"/>
                <a:cs typeface="Roboto"/>
                <a:sym typeface="Roboto"/>
              </a:endParaRPr>
            </a:p>
            <a:p>
              <a:pPr indent="0" lvl="0" marL="0" rtl="0" algn="ctr">
                <a:spcBef>
                  <a:spcPts val="750"/>
                </a:spcBef>
                <a:spcAft>
                  <a:spcPts val="0"/>
                </a:spcAft>
                <a:buNone/>
              </a:pPr>
              <a:r>
                <a:t/>
              </a:r>
              <a:endParaRPr b="1" sz="1200">
                <a:solidFill>
                  <a:srgbClr val="4FACFE"/>
                </a:solidFill>
                <a:latin typeface="Roboto"/>
                <a:ea typeface="Roboto"/>
                <a:cs typeface="Roboto"/>
                <a:sym typeface="Roboto"/>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