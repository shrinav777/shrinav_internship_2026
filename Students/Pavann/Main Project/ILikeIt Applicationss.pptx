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6" d="100"/>
          <a:sy n="76" d="100"/>
        </p:scale>
        <p:origin x="43"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9230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5.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9.png"/><Relationship Id="rId7"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31.pn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A0C0C"/>
        </a:solidFill>
        <a:effectLst/>
      </p:bgPr>
    </p:bg>
    <p:spTree>
      <p:nvGrpSpPr>
        <p:cNvPr id="1" name=""/>
        <p:cNvGrpSpPr/>
        <p:nvPr/>
      </p:nvGrpSpPr>
      <p:grpSpPr>
        <a:xfrm>
          <a:off x="0" y="0"/>
          <a:ext cx="0" cy="0"/>
          <a:chOff x="0" y="0"/>
          <a:chExt cx="0" cy="0"/>
        </a:xfrm>
      </p:grpSpPr>
      <p:sp>
        <p:nvSpPr>
          <p:cNvPr id="2" name="Shape 0"/>
          <p:cNvSpPr/>
          <p:nvPr/>
        </p:nvSpPr>
        <p:spPr>
          <a:xfrm>
            <a:off x="9692640" y="-1280160"/>
            <a:ext cx="4114800" cy="4114800"/>
          </a:xfrm>
          <a:prstGeom prst="ellipse">
            <a:avLst/>
          </a:prstGeom>
          <a:solidFill>
            <a:srgbClr val="4A0000"/>
          </a:solidFill>
          <a:ln/>
        </p:spPr>
        <p:txBody>
          <a:bodyPr/>
          <a:lstStyle/>
          <a:p>
            <a:endParaRPr lang="en-IN"/>
          </a:p>
        </p:txBody>
      </p:sp>
      <p:sp>
        <p:nvSpPr>
          <p:cNvPr id="3" name="Shape 1"/>
          <p:cNvSpPr/>
          <p:nvPr/>
        </p:nvSpPr>
        <p:spPr>
          <a:xfrm>
            <a:off x="-1463040" y="4754880"/>
            <a:ext cx="3291840" cy="3291840"/>
          </a:xfrm>
          <a:prstGeom prst="ellipse">
            <a:avLst/>
          </a:prstGeom>
          <a:solidFill>
            <a:srgbClr val="4A0000"/>
          </a:solidFill>
          <a:ln/>
        </p:spPr>
        <p:txBody>
          <a:bodyPr/>
          <a:lstStyle/>
          <a:p>
            <a:endParaRPr lang="en-IN"/>
          </a:p>
        </p:txBody>
      </p:sp>
      <p:pic>
        <p:nvPicPr>
          <p:cNvPr id="4" name="Image 0" descr="/home/claude/icons/rocket.png"/>
          <p:cNvPicPr>
            <a:picLocks noChangeAspect="1"/>
          </p:cNvPicPr>
          <p:nvPr/>
        </p:nvPicPr>
        <p:blipFill>
          <a:blip r:embed="rId3">
            <a:alphaModFix amt="22000"/>
          </a:blip>
          <a:stretch>
            <a:fillRect/>
          </a:stretch>
        </p:blipFill>
        <p:spPr>
          <a:xfrm>
            <a:off x="10561320" y="-137160"/>
            <a:ext cx="1737360" cy="1737360"/>
          </a:xfrm>
          <a:prstGeom prst="rect">
            <a:avLst/>
          </a:prstGeom>
        </p:spPr>
      </p:pic>
      <p:sp>
        <p:nvSpPr>
          <p:cNvPr id="5" name="Shape 2"/>
          <p:cNvSpPr/>
          <p:nvPr/>
        </p:nvSpPr>
        <p:spPr>
          <a:xfrm>
            <a:off x="822960" y="914400"/>
            <a:ext cx="914400" cy="914400"/>
          </a:xfrm>
          <a:prstGeom prst="ellipse">
            <a:avLst/>
          </a:prstGeom>
          <a:solidFill>
            <a:srgbClr val="C81D25"/>
          </a:solidFill>
          <a:ln/>
        </p:spPr>
        <p:txBody>
          <a:bodyPr/>
          <a:lstStyle/>
          <a:p>
            <a:endParaRPr lang="en-IN"/>
          </a:p>
        </p:txBody>
      </p:sp>
      <p:pic>
        <p:nvPicPr>
          <p:cNvPr id="6" name="Image 1" descr="/home/claude/icons/fire.png"/>
          <p:cNvPicPr>
            <a:picLocks noChangeAspect="1"/>
          </p:cNvPicPr>
          <p:nvPr/>
        </p:nvPicPr>
        <p:blipFill>
          <a:blip r:embed="rId4"/>
          <a:stretch>
            <a:fillRect/>
          </a:stretch>
        </p:blipFill>
        <p:spPr>
          <a:xfrm>
            <a:off x="1028700" y="1120140"/>
            <a:ext cx="502920" cy="502920"/>
          </a:xfrm>
          <a:prstGeom prst="rect">
            <a:avLst/>
          </a:prstGeom>
        </p:spPr>
      </p:pic>
      <p:sp>
        <p:nvSpPr>
          <p:cNvPr id="7" name="Text 3"/>
          <p:cNvSpPr/>
          <p:nvPr/>
        </p:nvSpPr>
        <p:spPr>
          <a:xfrm>
            <a:off x="777240" y="1965960"/>
            <a:ext cx="8229600" cy="1188720"/>
          </a:xfrm>
          <a:prstGeom prst="rect">
            <a:avLst/>
          </a:prstGeom>
          <a:noFill/>
          <a:ln/>
        </p:spPr>
        <p:txBody>
          <a:bodyPr wrap="square"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ILikeIt</a:t>
            </a:r>
            <a:endParaRPr lang="en-US" sz="6000" dirty="0"/>
          </a:p>
        </p:txBody>
      </p:sp>
      <p:sp>
        <p:nvSpPr>
          <p:cNvPr id="8" name="Text 4"/>
          <p:cNvSpPr/>
          <p:nvPr/>
        </p:nvSpPr>
        <p:spPr>
          <a:xfrm>
            <a:off x="822960" y="2971800"/>
            <a:ext cx="8229600" cy="548640"/>
          </a:xfrm>
          <a:prstGeom prst="rect">
            <a:avLst/>
          </a:prstGeom>
          <a:noFill/>
          <a:ln/>
        </p:spPr>
        <p:txBody>
          <a:bodyPr wrap="square" rtlCol="0" anchor="ctr"/>
          <a:lstStyle/>
          <a:p>
            <a:pPr marL="0" indent="0">
              <a:buNone/>
            </a:pPr>
            <a:r>
              <a:rPr lang="en-US" sz="2400" i="1" dirty="0">
                <a:solidFill>
                  <a:srgbClr val="D4AF37"/>
                </a:solidFill>
                <a:latin typeface="Calibri" pitchFamily="34" charset="0"/>
                <a:ea typeface="Calibri" pitchFamily="34" charset="-122"/>
                <a:cs typeface="Calibri" pitchFamily="34" charset="-120"/>
              </a:rPr>
              <a:t>The Ultimate Roast Vault</a:t>
            </a:r>
            <a:endParaRPr lang="en-US" sz="2400" dirty="0"/>
          </a:p>
        </p:txBody>
      </p:sp>
      <p:sp>
        <p:nvSpPr>
          <p:cNvPr id="9" name="Text 5"/>
          <p:cNvSpPr/>
          <p:nvPr/>
        </p:nvSpPr>
        <p:spPr>
          <a:xfrm>
            <a:off x="822960" y="3520440"/>
            <a:ext cx="8229600" cy="457200"/>
          </a:xfrm>
          <a:prstGeom prst="rect">
            <a:avLst/>
          </a:prstGeom>
          <a:noFill/>
          <a:ln/>
        </p:spPr>
        <p:txBody>
          <a:bodyPr wrap="square" rtlCol="0" anchor="ctr"/>
          <a:lstStyle/>
          <a:p>
            <a:pPr marL="0" indent="0">
              <a:buNone/>
            </a:pPr>
            <a:r>
              <a:rPr lang="en-US" sz="1600" dirty="0">
                <a:solidFill>
                  <a:srgbClr val="F2D2C9"/>
                </a:solidFill>
                <a:latin typeface="Calibri" pitchFamily="34" charset="0"/>
                <a:ea typeface="Calibri" pitchFamily="34" charset="-122"/>
                <a:cs typeface="Calibri" pitchFamily="34" charset="-120"/>
              </a:rPr>
              <a:t>A Full-Stack Web Application — Project Presentation</a:t>
            </a:r>
            <a:endParaRPr lang="en-US" sz="1600" dirty="0"/>
          </a:p>
        </p:txBody>
      </p:sp>
      <p:sp>
        <p:nvSpPr>
          <p:cNvPr id="10" name="Shape 6"/>
          <p:cNvSpPr/>
          <p:nvPr/>
        </p:nvSpPr>
        <p:spPr>
          <a:xfrm>
            <a:off x="822960" y="5394960"/>
            <a:ext cx="2926080" cy="0"/>
          </a:xfrm>
          <a:prstGeom prst="line">
            <a:avLst/>
          </a:prstGeom>
          <a:noFill/>
          <a:ln w="12700">
            <a:solidFill>
              <a:srgbClr val="7A3A3A"/>
            </a:solidFill>
            <a:prstDash val="solid"/>
          </a:ln>
        </p:spPr>
        <p:txBody>
          <a:bodyPr/>
          <a:lstStyle/>
          <a:p>
            <a:endParaRPr lang="en-IN"/>
          </a:p>
        </p:txBody>
      </p:sp>
      <p:sp>
        <p:nvSpPr>
          <p:cNvPr id="11" name="Text 7"/>
          <p:cNvSpPr/>
          <p:nvPr/>
        </p:nvSpPr>
        <p:spPr>
          <a:xfrm>
            <a:off x="822960" y="5532120"/>
            <a:ext cx="7315200" cy="365760"/>
          </a:xfrm>
          <a:prstGeom prst="rect">
            <a:avLst/>
          </a:prstGeom>
          <a:noFill/>
          <a:ln/>
        </p:spPr>
        <p:txBody>
          <a:bodyPr wrap="square" rtlCol="0" anchor="ctr"/>
          <a:lstStyle/>
          <a:p>
            <a:pPr marL="0" indent="0">
              <a:buNone/>
            </a:pPr>
            <a:r>
              <a:rPr lang="en-US" sz="1400" dirty="0">
                <a:solidFill>
                  <a:srgbClr val="E8B4A8"/>
                </a:solidFill>
                <a:latin typeface="Calibri" pitchFamily="34" charset="0"/>
                <a:ea typeface="Calibri" pitchFamily="34" charset="-122"/>
                <a:cs typeface="Calibri" pitchFamily="34" charset="-120"/>
              </a:rPr>
              <a:t>Developed by  </a:t>
            </a:r>
            <a:r>
              <a:rPr lang="en-US" sz="1400" b="1" dirty="0">
                <a:solidFill>
                  <a:srgbClr val="FFFFFF"/>
                </a:solidFill>
                <a:latin typeface="Calibri" pitchFamily="34" charset="0"/>
                <a:ea typeface="Calibri" pitchFamily="34" charset="-122"/>
                <a:cs typeface="Calibri" pitchFamily="34" charset="-120"/>
              </a:rPr>
              <a:t>Pavan Chaudhari</a:t>
            </a:r>
            <a:endParaRPr lang="en-US" sz="1400" dirty="0"/>
          </a:p>
        </p:txBody>
      </p:sp>
      <p:pic>
        <p:nvPicPr>
          <p:cNvPr id="12" name="Image 2" descr="/home/claude/icons/github2.png"/>
          <p:cNvPicPr>
            <a:picLocks noChangeAspect="1"/>
          </p:cNvPicPr>
          <p:nvPr/>
        </p:nvPicPr>
        <p:blipFill>
          <a:blip r:embed="rId5"/>
          <a:stretch>
            <a:fillRect/>
          </a:stretch>
        </p:blipFill>
        <p:spPr>
          <a:xfrm>
            <a:off x="822960" y="5888736"/>
            <a:ext cx="182880" cy="182880"/>
          </a:xfrm>
          <a:prstGeom prst="rect">
            <a:avLst/>
          </a:prstGeom>
        </p:spPr>
      </p:pic>
      <p:sp>
        <p:nvSpPr>
          <p:cNvPr id="13" name="Text 8"/>
          <p:cNvSpPr/>
          <p:nvPr/>
        </p:nvSpPr>
        <p:spPr>
          <a:xfrm>
            <a:off x="1097280" y="5888736"/>
            <a:ext cx="7315200" cy="274320"/>
          </a:xfrm>
          <a:prstGeom prst="rect">
            <a:avLst/>
          </a:prstGeom>
          <a:noFill/>
          <a:ln/>
        </p:spPr>
        <p:txBody>
          <a:bodyPr wrap="square" rtlCol="0" anchor="ctr"/>
          <a:lstStyle/>
          <a:p>
            <a:pPr marL="0" indent="0">
              <a:buNone/>
            </a:pPr>
            <a:r>
              <a:rPr lang="en-US" sz="1200" dirty="0">
                <a:solidFill>
                  <a:srgbClr val="C98A8A"/>
                </a:solidFill>
                <a:latin typeface="Calibri" pitchFamily="34" charset="0"/>
                <a:ea typeface="Calibri" pitchFamily="34" charset="-122"/>
                <a:cs typeface="Calibri" pitchFamily="34" charset="-120"/>
              </a:rPr>
              <a:t>github.com/PavanChaudhari0219/ILikeIt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8"/>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marL="0" indent="0">
              <a:buNone/>
            </a:pPr>
            <a:r>
              <a:rPr lang="en-US" sz="3400" b="1" dirty="0">
                <a:solidFill>
                  <a:srgbClr val="7A0C0C"/>
                </a:solidFill>
                <a:latin typeface="Cambria" pitchFamily="34" charset="0"/>
                <a:ea typeface="Cambria" pitchFamily="34" charset="-122"/>
                <a:cs typeface="Cambria" pitchFamily="34" charset="-120"/>
              </a:rPr>
              <a:t>Project Overview</a:t>
            </a:r>
            <a:endParaRPr lang="en-US" sz="3400" dirty="0"/>
          </a:p>
        </p:txBody>
      </p:sp>
      <p:sp>
        <p:nvSpPr>
          <p:cNvPr id="3" name="Text 1"/>
          <p:cNvSpPr/>
          <p:nvPr/>
        </p:nvSpPr>
        <p:spPr>
          <a:xfrm>
            <a:off x="548640" y="1143000"/>
            <a:ext cx="8229600" cy="365760"/>
          </a:xfrm>
          <a:prstGeom prst="rect">
            <a:avLst/>
          </a:prstGeom>
          <a:noFill/>
          <a:ln/>
        </p:spPr>
        <p:txBody>
          <a:bodyPr wrap="square" rtlCol="0" anchor="ctr"/>
          <a:lstStyle/>
          <a:p>
            <a:pPr marL="0" indent="0">
              <a:buNone/>
            </a:pPr>
            <a:r>
              <a:rPr lang="en-US" sz="1600" b="1" dirty="0">
                <a:solidFill>
                  <a:srgbClr val="C81D25"/>
                </a:solidFill>
                <a:latin typeface="Calibri" pitchFamily="34" charset="0"/>
                <a:ea typeface="Calibri" pitchFamily="34" charset="-122"/>
                <a:cs typeface="Calibri" pitchFamily="34" charset="-120"/>
              </a:rPr>
              <a:t>What is ILikeIt?</a:t>
            </a:r>
            <a:endParaRPr lang="en-US" sz="1600" dirty="0"/>
          </a:p>
        </p:txBody>
      </p:sp>
      <p:sp>
        <p:nvSpPr>
          <p:cNvPr id="4" name="Shape 2"/>
          <p:cNvSpPr/>
          <p:nvPr/>
        </p:nvSpPr>
        <p:spPr>
          <a:xfrm>
            <a:off x="548640" y="1691640"/>
            <a:ext cx="6492240" cy="4206240"/>
          </a:xfrm>
          <a:prstGeom prst="roundRect">
            <a:avLst>
              <a:gd name="adj" fmla="val 2609"/>
            </a:avLst>
          </a:prstGeom>
          <a:solidFill>
            <a:srgbClr val="FFFFFF"/>
          </a:solidFill>
          <a:ln/>
          <a:effectLst>
            <a:outerShdw blurRad="101600" dist="38100" dir="5400000" algn="bl" rotWithShape="0">
              <a:srgbClr val="999999">
                <a:alpha val="25000"/>
              </a:srgbClr>
            </a:outerShdw>
          </a:effectLst>
        </p:spPr>
        <p:txBody>
          <a:bodyPr/>
          <a:lstStyle/>
          <a:p>
            <a:endParaRPr lang="en-IN"/>
          </a:p>
        </p:txBody>
      </p:sp>
      <p:sp>
        <p:nvSpPr>
          <p:cNvPr id="5" name="Text 3"/>
          <p:cNvSpPr/>
          <p:nvPr/>
        </p:nvSpPr>
        <p:spPr>
          <a:xfrm>
            <a:off x="868680" y="1965960"/>
            <a:ext cx="5852160" cy="1005840"/>
          </a:xfrm>
          <a:prstGeom prst="rect">
            <a:avLst/>
          </a:prstGeom>
          <a:noFill/>
          <a:ln/>
        </p:spPr>
        <p:txBody>
          <a:bodyPr wrap="square" rtlCol="0" anchor="ctr"/>
          <a:lstStyle/>
          <a:p>
            <a:pPr marL="0" indent="0">
              <a:lnSpc>
                <a:spcPct val="125000"/>
              </a:lnSpc>
              <a:buNone/>
            </a:pPr>
            <a:r>
              <a:rPr lang="en-US" sz="1450" dirty="0">
                <a:solidFill>
                  <a:srgbClr val="26263A"/>
                </a:solidFill>
                <a:latin typeface="Calibri" pitchFamily="34" charset="0"/>
                <a:ea typeface="Calibri" pitchFamily="34" charset="-122"/>
                <a:cs typeface="Calibri" pitchFamily="34" charset="-120"/>
              </a:rPr>
              <a:t>ILikeIt is a fun, full-stack social web application where users can post lighthearted “roasts” about their friends, tag them by category, and browse a shared feed of submissions.</a:t>
            </a:r>
            <a:endParaRPr lang="en-US" sz="1450" dirty="0"/>
          </a:p>
        </p:txBody>
      </p:sp>
      <p:sp>
        <p:nvSpPr>
          <p:cNvPr id="6" name="Text 4"/>
          <p:cNvSpPr/>
          <p:nvPr/>
        </p:nvSpPr>
        <p:spPr>
          <a:xfrm>
            <a:off x="868680" y="3063240"/>
            <a:ext cx="5852160" cy="1005840"/>
          </a:xfrm>
          <a:prstGeom prst="rect">
            <a:avLst/>
          </a:prstGeom>
          <a:noFill/>
          <a:ln/>
        </p:spPr>
        <p:txBody>
          <a:bodyPr wrap="square" rtlCol="0" anchor="ctr"/>
          <a:lstStyle/>
          <a:p>
            <a:pPr marL="0" indent="0">
              <a:lnSpc>
                <a:spcPct val="125000"/>
              </a:lnSpc>
              <a:buNone/>
            </a:pPr>
            <a:r>
              <a:rPr lang="en-US" sz="1450" dirty="0">
                <a:solidFill>
                  <a:srgbClr val="26263A"/>
                </a:solidFill>
                <a:latin typeface="Calibri" pitchFamily="34" charset="0"/>
                <a:ea typeface="Calibri" pitchFamily="34" charset="-122"/>
                <a:cs typeface="Calibri" pitchFamily="34" charset="-120"/>
              </a:rPr>
              <a:t>It demonstrates a complete CRUD (Create, Read, Update, Delete) workflow built on a modern JavaScript stack — a React front end talking to an Express REST API backed by PostgreSQL.</a:t>
            </a:r>
            <a:endParaRPr lang="en-US" sz="1450" dirty="0"/>
          </a:p>
        </p:txBody>
      </p:sp>
      <p:sp>
        <p:nvSpPr>
          <p:cNvPr id="7" name="Text 5"/>
          <p:cNvSpPr/>
          <p:nvPr/>
        </p:nvSpPr>
        <p:spPr>
          <a:xfrm>
            <a:off x="868680" y="4160520"/>
            <a:ext cx="5852160" cy="1005840"/>
          </a:xfrm>
          <a:prstGeom prst="rect">
            <a:avLst/>
          </a:prstGeom>
          <a:noFill/>
          <a:ln/>
        </p:spPr>
        <p:txBody>
          <a:bodyPr wrap="square" rtlCol="0" anchor="ctr"/>
          <a:lstStyle/>
          <a:p>
            <a:pPr marL="0" indent="0">
              <a:lnSpc>
                <a:spcPct val="125000"/>
              </a:lnSpc>
              <a:buNone/>
            </a:pPr>
            <a:r>
              <a:rPr lang="en-US" sz="1450" dirty="0">
                <a:solidFill>
                  <a:srgbClr val="26263A"/>
                </a:solidFill>
                <a:latin typeface="Calibri" pitchFamily="34" charset="0"/>
                <a:ea typeface="Calibri" pitchFamily="34" charset="-122"/>
                <a:cs typeface="Calibri" pitchFamily="34" charset="-120"/>
              </a:rPr>
              <a:t>The goal of the project is to showcase practical skills in building, connecting, and deploying a real-world three-tier web application.</a:t>
            </a:r>
            <a:endParaRPr lang="en-US" sz="1450" dirty="0"/>
          </a:p>
        </p:txBody>
      </p:sp>
      <p:sp>
        <p:nvSpPr>
          <p:cNvPr id="8" name="Shape 6"/>
          <p:cNvSpPr/>
          <p:nvPr/>
        </p:nvSpPr>
        <p:spPr>
          <a:xfrm>
            <a:off x="7315200" y="1691640"/>
            <a:ext cx="4297680" cy="1280160"/>
          </a:xfrm>
          <a:prstGeom prst="roundRect">
            <a:avLst>
              <a:gd name="adj" fmla="val 7143"/>
            </a:avLst>
          </a:prstGeom>
          <a:solidFill>
            <a:srgbClr val="7A0C0C"/>
          </a:solidFill>
          <a:ln/>
        </p:spPr>
        <p:txBody>
          <a:bodyPr/>
          <a:lstStyle/>
          <a:p>
            <a:endParaRPr lang="en-IN"/>
          </a:p>
        </p:txBody>
      </p:sp>
      <p:sp>
        <p:nvSpPr>
          <p:cNvPr id="9" name="Text 7"/>
          <p:cNvSpPr/>
          <p:nvPr/>
        </p:nvSpPr>
        <p:spPr>
          <a:xfrm>
            <a:off x="7543800" y="1828800"/>
            <a:ext cx="1828800" cy="822960"/>
          </a:xfrm>
          <a:prstGeom prst="rect">
            <a:avLst/>
          </a:prstGeom>
          <a:noFill/>
          <a:ln/>
        </p:spPr>
        <p:txBody>
          <a:bodyPr wrap="square" rtlCol="0" anchor="ctr"/>
          <a:lstStyle/>
          <a:p>
            <a:pPr marL="0" indent="0">
              <a:buNone/>
            </a:pPr>
            <a:r>
              <a:rPr lang="en-US" sz="3400" b="1" dirty="0">
                <a:solidFill>
                  <a:srgbClr val="D4AF37"/>
                </a:solidFill>
                <a:latin typeface="Cambria" pitchFamily="34" charset="0"/>
                <a:ea typeface="Cambria" pitchFamily="34" charset="-122"/>
                <a:cs typeface="Cambria" pitchFamily="34" charset="-120"/>
              </a:rPr>
              <a:t>3</a:t>
            </a:r>
            <a:endParaRPr lang="en-US" sz="3400" dirty="0"/>
          </a:p>
        </p:txBody>
      </p:sp>
      <p:sp>
        <p:nvSpPr>
          <p:cNvPr id="10" name="Text 8"/>
          <p:cNvSpPr/>
          <p:nvPr/>
        </p:nvSpPr>
        <p:spPr>
          <a:xfrm>
            <a:off x="9235440" y="1828800"/>
            <a:ext cx="2194560" cy="822960"/>
          </a:xfrm>
          <a:prstGeom prst="rect">
            <a:avLst/>
          </a:prstGeom>
          <a:noFill/>
          <a:ln/>
        </p:spPr>
        <p:txBody>
          <a:bodyPr wrap="square" rtlCol="0" anchor="ctr"/>
          <a:lstStyle/>
          <a:p>
            <a:pPr marL="0" indent="0">
              <a:lnSpc>
                <a:spcPct val="110000"/>
              </a:lnSpc>
              <a:buNone/>
            </a:pPr>
            <a:r>
              <a:rPr lang="en-US" sz="1300" dirty="0">
                <a:solidFill>
                  <a:srgbClr val="FFFFFF"/>
                </a:solidFill>
                <a:latin typeface="Calibri" pitchFamily="34" charset="0"/>
                <a:ea typeface="Calibri" pitchFamily="34" charset="-122"/>
                <a:cs typeface="Calibri" pitchFamily="34" charset="-120"/>
              </a:rPr>
              <a:t>Tier Architecture</a:t>
            </a:r>
            <a:endParaRPr lang="en-US" sz="1300" dirty="0"/>
          </a:p>
        </p:txBody>
      </p:sp>
      <p:sp>
        <p:nvSpPr>
          <p:cNvPr id="11" name="Shape 9"/>
          <p:cNvSpPr/>
          <p:nvPr/>
        </p:nvSpPr>
        <p:spPr>
          <a:xfrm>
            <a:off x="7315200" y="3200400"/>
            <a:ext cx="4297680" cy="1280160"/>
          </a:xfrm>
          <a:prstGeom prst="roundRect">
            <a:avLst>
              <a:gd name="adj" fmla="val 7143"/>
            </a:avLst>
          </a:prstGeom>
          <a:solidFill>
            <a:srgbClr val="7A0C0C"/>
          </a:solidFill>
          <a:ln/>
        </p:spPr>
        <p:txBody>
          <a:bodyPr/>
          <a:lstStyle/>
          <a:p>
            <a:endParaRPr lang="en-IN"/>
          </a:p>
        </p:txBody>
      </p:sp>
      <p:sp>
        <p:nvSpPr>
          <p:cNvPr id="12" name="Text 10"/>
          <p:cNvSpPr/>
          <p:nvPr/>
        </p:nvSpPr>
        <p:spPr>
          <a:xfrm>
            <a:off x="7543800" y="3337560"/>
            <a:ext cx="1828800" cy="822960"/>
          </a:xfrm>
          <a:prstGeom prst="rect">
            <a:avLst/>
          </a:prstGeom>
          <a:noFill/>
          <a:ln/>
        </p:spPr>
        <p:txBody>
          <a:bodyPr wrap="square" rtlCol="0" anchor="ctr"/>
          <a:lstStyle/>
          <a:p>
            <a:pPr marL="0" indent="0">
              <a:buNone/>
            </a:pPr>
            <a:r>
              <a:rPr lang="en-US" sz="3400" b="1" dirty="0">
                <a:solidFill>
                  <a:srgbClr val="D4AF37"/>
                </a:solidFill>
                <a:latin typeface="Cambria" pitchFamily="34" charset="0"/>
                <a:ea typeface="Cambria" pitchFamily="34" charset="-122"/>
                <a:cs typeface="Cambria" pitchFamily="34" charset="-120"/>
              </a:rPr>
              <a:t>4</a:t>
            </a:r>
            <a:endParaRPr lang="en-US" sz="3400" dirty="0"/>
          </a:p>
        </p:txBody>
      </p:sp>
      <p:sp>
        <p:nvSpPr>
          <p:cNvPr id="13" name="Text 11"/>
          <p:cNvSpPr/>
          <p:nvPr/>
        </p:nvSpPr>
        <p:spPr>
          <a:xfrm>
            <a:off x="9235440" y="3337560"/>
            <a:ext cx="2194560" cy="822960"/>
          </a:xfrm>
          <a:prstGeom prst="rect">
            <a:avLst/>
          </a:prstGeom>
          <a:noFill/>
          <a:ln/>
        </p:spPr>
        <p:txBody>
          <a:bodyPr wrap="square" rtlCol="0" anchor="ctr"/>
          <a:lstStyle/>
          <a:p>
            <a:pPr marL="0" indent="0">
              <a:lnSpc>
                <a:spcPct val="110000"/>
              </a:lnSpc>
              <a:buNone/>
            </a:pPr>
            <a:r>
              <a:rPr lang="en-US" sz="1300" dirty="0">
                <a:solidFill>
                  <a:srgbClr val="FFFFFF"/>
                </a:solidFill>
                <a:latin typeface="Calibri" pitchFamily="34" charset="0"/>
                <a:ea typeface="Calibri" pitchFamily="34" charset="-122"/>
                <a:cs typeface="Calibri" pitchFamily="34" charset="-120"/>
              </a:rPr>
              <a:t>REST API Endpoints</a:t>
            </a:r>
            <a:endParaRPr lang="en-US" sz="1300" dirty="0"/>
          </a:p>
        </p:txBody>
      </p:sp>
      <p:sp>
        <p:nvSpPr>
          <p:cNvPr id="14" name="Shape 12"/>
          <p:cNvSpPr/>
          <p:nvPr/>
        </p:nvSpPr>
        <p:spPr>
          <a:xfrm>
            <a:off x="7315200" y="4709160"/>
            <a:ext cx="4297680" cy="1280160"/>
          </a:xfrm>
          <a:prstGeom prst="roundRect">
            <a:avLst>
              <a:gd name="adj" fmla="val 7143"/>
            </a:avLst>
          </a:prstGeom>
          <a:solidFill>
            <a:srgbClr val="7A0C0C"/>
          </a:solidFill>
          <a:ln/>
        </p:spPr>
        <p:txBody>
          <a:bodyPr/>
          <a:lstStyle/>
          <a:p>
            <a:endParaRPr lang="en-IN"/>
          </a:p>
        </p:txBody>
      </p:sp>
      <p:sp>
        <p:nvSpPr>
          <p:cNvPr id="15" name="Text 13"/>
          <p:cNvSpPr/>
          <p:nvPr/>
        </p:nvSpPr>
        <p:spPr>
          <a:xfrm>
            <a:off x="7543800" y="4846320"/>
            <a:ext cx="1828800" cy="822960"/>
          </a:xfrm>
          <a:prstGeom prst="rect">
            <a:avLst/>
          </a:prstGeom>
          <a:noFill/>
          <a:ln/>
        </p:spPr>
        <p:txBody>
          <a:bodyPr wrap="square" rtlCol="0" anchor="ctr"/>
          <a:lstStyle/>
          <a:p>
            <a:pPr marL="0" indent="0">
              <a:buNone/>
            </a:pPr>
            <a:r>
              <a:rPr lang="en-US" sz="3400" b="1" dirty="0">
                <a:solidFill>
                  <a:srgbClr val="D4AF37"/>
                </a:solidFill>
                <a:latin typeface="Cambria" pitchFamily="34" charset="0"/>
                <a:ea typeface="Cambria" pitchFamily="34" charset="-122"/>
                <a:cs typeface="Cambria" pitchFamily="34" charset="-120"/>
              </a:rPr>
              <a:t>100%</a:t>
            </a:r>
            <a:endParaRPr lang="en-US" sz="3400" dirty="0"/>
          </a:p>
        </p:txBody>
      </p:sp>
      <p:sp>
        <p:nvSpPr>
          <p:cNvPr id="16" name="Text 14"/>
          <p:cNvSpPr/>
          <p:nvPr/>
        </p:nvSpPr>
        <p:spPr>
          <a:xfrm>
            <a:off x="9235440" y="4846320"/>
            <a:ext cx="2194560" cy="822960"/>
          </a:xfrm>
          <a:prstGeom prst="rect">
            <a:avLst/>
          </a:prstGeom>
          <a:noFill/>
          <a:ln/>
        </p:spPr>
        <p:txBody>
          <a:bodyPr wrap="square" rtlCol="0" anchor="ctr"/>
          <a:lstStyle/>
          <a:p>
            <a:pPr marL="0" indent="0">
              <a:lnSpc>
                <a:spcPct val="110000"/>
              </a:lnSpc>
              <a:buNone/>
            </a:pPr>
            <a:r>
              <a:rPr lang="en-US" sz="1300" dirty="0">
                <a:solidFill>
                  <a:srgbClr val="FFFFFF"/>
                </a:solidFill>
                <a:latin typeface="Calibri" pitchFamily="34" charset="0"/>
                <a:ea typeface="Calibri" pitchFamily="34" charset="-122"/>
                <a:cs typeface="Calibri" pitchFamily="34" charset="-120"/>
              </a:rPr>
              <a:t>CRUD Coverage</a:t>
            </a:r>
            <a:endParaRPr lang="en-US" sz="1300" dirty="0"/>
          </a:p>
        </p:txBody>
      </p:sp>
      <p:sp>
        <p:nvSpPr>
          <p:cNvPr id="17" name="Text 15"/>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6B6B7B"/>
                </a:solidFill>
                <a:latin typeface="Calibri" pitchFamily="34" charset="0"/>
                <a:ea typeface="Calibri" pitchFamily="34" charset="-122"/>
                <a:cs typeface="Calibri" pitchFamily="34" charset="-120"/>
              </a:rPr>
              <a:t>ILikeIt — The Ultimate Roast Vault</a:t>
            </a:r>
            <a:endParaRPr lang="en-US" sz="1000" dirty="0"/>
          </a:p>
        </p:txBody>
      </p:sp>
      <p:sp>
        <p:nvSpPr>
          <p:cNvPr id="18" name="Text 16"/>
          <p:cNvSpPr/>
          <p:nvPr/>
        </p:nvSpPr>
        <p:spPr>
          <a:xfrm>
            <a:off x="11430000" y="6537960"/>
            <a:ext cx="457200" cy="274320"/>
          </a:xfrm>
          <a:prstGeom prst="rect">
            <a:avLst/>
          </a:prstGeom>
          <a:noFill/>
          <a:ln/>
        </p:spPr>
        <p:txBody>
          <a:bodyPr wrap="square" rtlCol="0" anchor="ctr"/>
          <a:lstStyle/>
          <a:p>
            <a:pPr marL="0" indent="0" algn="r">
              <a:buNone/>
            </a:pPr>
            <a:r>
              <a:rPr lang="en-US" sz="1000" dirty="0">
                <a:solidFill>
                  <a:srgbClr val="6B6B7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8"/>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marL="0" indent="0">
              <a:buNone/>
            </a:pPr>
            <a:r>
              <a:rPr lang="en-US" sz="3400" b="1" dirty="0">
                <a:solidFill>
                  <a:srgbClr val="7A0C0C"/>
                </a:solidFill>
                <a:latin typeface="Cambria" pitchFamily="34" charset="0"/>
                <a:ea typeface="Cambria" pitchFamily="34" charset="-122"/>
                <a:cs typeface="Cambria" pitchFamily="34" charset="-120"/>
              </a:rPr>
              <a:t>Key Features</a:t>
            </a:r>
            <a:endParaRPr lang="en-US" sz="3400" dirty="0"/>
          </a:p>
        </p:txBody>
      </p:sp>
      <p:sp>
        <p:nvSpPr>
          <p:cNvPr id="3" name="Text 1"/>
          <p:cNvSpPr/>
          <p:nvPr/>
        </p:nvSpPr>
        <p:spPr>
          <a:xfrm>
            <a:off x="548640" y="1143000"/>
            <a:ext cx="8229600" cy="365760"/>
          </a:xfrm>
          <a:prstGeom prst="rect">
            <a:avLst/>
          </a:prstGeom>
          <a:noFill/>
          <a:ln/>
        </p:spPr>
        <p:txBody>
          <a:bodyPr wrap="square" rtlCol="0" anchor="ctr"/>
          <a:lstStyle/>
          <a:p>
            <a:pPr marL="0" indent="0">
              <a:buNone/>
            </a:pPr>
            <a:r>
              <a:rPr lang="en-US" sz="1600" b="1" dirty="0">
                <a:solidFill>
                  <a:srgbClr val="C81D25"/>
                </a:solidFill>
                <a:latin typeface="Calibri" pitchFamily="34" charset="0"/>
                <a:ea typeface="Calibri" pitchFamily="34" charset="-122"/>
                <a:cs typeface="Calibri" pitchFamily="34" charset="-120"/>
              </a:rPr>
              <a:t>A complete roast-management experience</a:t>
            </a:r>
            <a:endParaRPr lang="en-US" sz="1600" dirty="0"/>
          </a:p>
        </p:txBody>
      </p:sp>
      <p:sp>
        <p:nvSpPr>
          <p:cNvPr id="4" name="Shape 2"/>
          <p:cNvSpPr/>
          <p:nvPr/>
        </p:nvSpPr>
        <p:spPr>
          <a:xfrm>
            <a:off x="548640" y="1737360"/>
            <a:ext cx="5349240" cy="1965960"/>
          </a:xfrm>
          <a:prstGeom prst="roundRect">
            <a:avLst>
              <a:gd name="adj" fmla="val 4651"/>
            </a:avLst>
          </a:prstGeom>
          <a:solidFill>
            <a:srgbClr val="FFFFFF"/>
          </a:solidFill>
          <a:ln/>
          <a:effectLst>
            <a:outerShdw blurRad="88900" dist="38100" dir="5400000" algn="bl" rotWithShape="0">
              <a:srgbClr val="999999">
                <a:alpha val="22000"/>
              </a:srgbClr>
            </a:outerShdw>
          </a:effectLst>
        </p:spPr>
        <p:txBody>
          <a:bodyPr/>
          <a:lstStyle/>
          <a:p>
            <a:endParaRPr lang="en-IN"/>
          </a:p>
        </p:txBody>
      </p:sp>
      <p:sp>
        <p:nvSpPr>
          <p:cNvPr id="5" name="Shape 3"/>
          <p:cNvSpPr/>
          <p:nvPr/>
        </p:nvSpPr>
        <p:spPr>
          <a:xfrm>
            <a:off x="822960" y="2011680"/>
            <a:ext cx="685800" cy="685800"/>
          </a:xfrm>
          <a:prstGeom prst="ellipse">
            <a:avLst/>
          </a:prstGeom>
          <a:solidFill>
            <a:srgbClr val="C81D25"/>
          </a:solidFill>
          <a:ln/>
        </p:spPr>
        <p:txBody>
          <a:bodyPr/>
          <a:lstStyle/>
          <a:p>
            <a:endParaRPr lang="en-IN"/>
          </a:p>
        </p:txBody>
      </p:sp>
      <p:pic>
        <p:nvPicPr>
          <p:cNvPr id="6" name="Image 0" descr="/home/claude/icons/plus.png"/>
          <p:cNvPicPr>
            <a:picLocks noChangeAspect="1"/>
          </p:cNvPicPr>
          <p:nvPr/>
        </p:nvPicPr>
        <p:blipFill>
          <a:blip r:embed="rId3"/>
          <a:stretch>
            <a:fillRect/>
          </a:stretch>
        </p:blipFill>
        <p:spPr>
          <a:xfrm>
            <a:off x="977265" y="2165985"/>
            <a:ext cx="377190" cy="377190"/>
          </a:xfrm>
          <a:prstGeom prst="rect">
            <a:avLst/>
          </a:prstGeom>
        </p:spPr>
      </p:pic>
      <p:sp>
        <p:nvSpPr>
          <p:cNvPr id="7" name="Text 4"/>
          <p:cNvSpPr/>
          <p:nvPr/>
        </p:nvSpPr>
        <p:spPr>
          <a:xfrm>
            <a:off x="1691640" y="1993392"/>
            <a:ext cx="3977640" cy="365760"/>
          </a:xfrm>
          <a:prstGeom prst="rect">
            <a:avLst/>
          </a:prstGeom>
          <a:noFill/>
          <a:ln/>
        </p:spPr>
        <p:txBody>
          <a:bodyPr wrap="square" rtlCol="0" anchor="ctr"/>
          <a:lstStyle/>
          <a:p>
            <a:pPr marL="0" indent="0">
              <a:buNone/>
            </a:pPr>
            <a:r>
              <a:rPr lang="en-US" sz="1600" b="1" dirty="0">
                <a:solidFill>
                  <a:srgbClr val="7A0C0C"/>
                </a:solidFill>
                <a:latin typeface="Calibri" pitchFamily="34" charset="0"/>
                <a:ea typeface="Calibri" pitchFamily="34" charset="-122"/>
                <a:cs typeface="Calibri" pitchFamily="34" charset="-120"/>
              </a:rPr>
              <a:t>Create Roasts</a:t>
            </a:r>
            <a:endParaRPr lang="en-US" sz="1600" dirty="0"/>
          </a:p>
        </p:txBody>
      </p:sp>
      <p:sp>
        <p:nvSpPr>
          <p:cNvPr id="8" name="Text 5"/>
          <p:cNvSpPr/>
          <p:nvPr/>
        </p:nvSpPr>
        <p:spPr>
          <a:xfrm>
            <a:off x="1691640" y="2359152"/>
            <a:ext cx="3931920" cy="1188720"/>
          </a:xfrm>
          <a:prstGeom prst="rect">
            <a:avLst/>
          </a:prstGeom>
          <a:noFill/>
          <a:ln/>
        </p:spPr>
        <p:txBody>
          <a:bodyPr wrap="square" rtlCol="0" anchor="ctr"/>
          <a:lstStyle/>
          <a:p>
            <a:pPr marL="0" indent="0">
              <a:lnSpc>
                <a:spcPct val="120000"/>
              </a:lnSpc>
              <a:buNone/>
            </a:pPr>
            <a:r>
              <a:rPr lang="en-US" sz="1250" dirty="0">
                <a:solidFill>
                  <a:srgbClr val="6B6B7B"/>
                </a:solidFill>
                <a:latin typeface="Calibri" pitchFamily="34" charset="0"/>
                <a:ea typeface="Calibri" pitchFamily="34" charset="-122"/>
                <a:cs typeface="Calibri" pitchFamily="34" charset="-120"/>
              </a:rPr>
              <a:t>Add a friend's name, a category, and a witty roast through a simple submission form.</a:t>
            </a:r>
            <a:endParaRPr lang="en-US" sz="1250" dirty="0"/>
          </a:p>
        </p:txBody>
      </p:sp>
      <p:sp>
        <p:nvSpPr>
          <p:cNvPr id="9" name="Shape 6"/>
          <p:cNvSpPr/>
          <p:nvPr/>
        </p:nvSpPr>
        <p:spPr>
          <a:xfrm>
            <a:off x="6355080" y="1737360"/>
            <a:ext cx="5349240" cy="1965960"/>
          </a:xfrm>
          <a:prstGeom prst="roundRect">
            <a:avLst>
              <a:gd name="adj" fmla="val 4651"/>
            </a:avLst>
          </a:prstGeom>
          <a:solidFill>
            <a:srgbClr val="FFFFFF"/>
          </a:solidFill>
          <a:ln/>
          <a:effectLst>
            <a:outerShdw blurRad="88900" dist="38100" dir="5400000" algn="bl" rotWithShape="0">
              <a:srgbClr val="999999">
                <a:alpha val="22000"/>
              </a:srgbClr>
            </a:outerShdw>
          </a:effectLst>
        </p:spPr>
        <p:txBody>
          <a:bodyPr/>
          <a:lstStyle/>
          <a:p>
            <a:endParaRPr lang="en-IN"/>
          </a:p>
        </p:txBody>
      </p:sp>
      <p:sp>
        <p:nvSpPr>
          <p:cNvPr id="10" name="Shape 7"/>
          <p:cNvSpPr/>
          <p:nvPr/>
        </p:nvSpPr>
        <p:spPr>
          <a:xfrm>
            <a:off x="6629400" y="2011680"/>
            <a:ext cx="685800" cy="685800"/>
          </a:xfrm>
          <a:prstGeom prst="ellipse">
            <a:avLst/>
          </a:prstGeom>
          <a:solidFill>
            <a:srgbClr val="C81D25"/>
          </a:solidFill>
          <a:ln/>
        </p:spPr>
        <p:txBody>
          <a:bodyPr/>
          <a:lstStyle/>
          <a:p>
            <a:endParaRPr lang="en-IN"/>
          </a:p>
        </p:txBody>
      </p:sp>
      <p:pic>
        <p:nvPicPr>
          <p:cNvPr id="11" name="Image 1" descr="/home/claude/icons/grid.png"/>
          <p:cNvPicPr>
            <a:picLocks noChangeAspect="1"/>
          </p:cNvPicPr>
          <p:nvPr/>
        </p:nvPicPr>
        <p:blipFill>
          <a:blip r:embed="rId4"/>
          <a:stretch>
            <a:fillRect/>
          </a:stretch>
        </p:blipFill>
        <p:spPr>
          <a:xfrm>
            <a:off x="6783705" y="2165985"/>
            <a:ext cx="377190" cy="377190"/>
          </a:xfrm>
          <a:prstGeom prst="rect">
            <a:avLst/>
          </a:prstGeom>
        </p:spPr>
      </p:pic>
      <p:sp>
        <p:nvSpPr>
          <p:cNvPr id="12" name="Text 8"/>
          <p:cNvSpPr/>
          <p:nvPr/>
        </p:nvSpPr>
        <p:spPr>
          <a:xfrm>
            <a:off x="7498080" y="1993392"/>
            <a:ext cx="3977640" cy="365760"/>
          </a:xfrm>
          <a:prstGeom prst="rect">
            <a:avLst/>
          </a:prstGeom>
          <a:noFill/>
          <a:ln/>
        </p:spPr>
        <p:txBody>
          <a:bodyPr wrap="square" rtlCol="0" anchor="ctr"/>
          <a:lstStyle/>
          <a:p>
            <a:pPr marL="0" indent="0">
              <a:buNone/>
            </a:pPr>
            <a:r>
              <a:rPr lang="en-US" sz="1600" b="1" dirty="0">
                <a:solidFill>
                  <a:srgbClr val="7A0C0C"/>
                </a:solidFill>
                <a:latin typeface="Calibri" pitchFamily="34" charset="0"/>
                <a:ea typeface="Calibri" pitchFamily="34" charset="-122"/>
                <a:cs typeface="Calibri" pitchFamily="34" charset="-120"/>
              </a:rPr>
              <a:t>Browse the Feed</a:t>
            </a:r>
            <a:endParaRPr lang="en-US" sz="1600" dirty="0"/>
          </a:p>
        </p:txBody>
      </p:sp>
      <p:sp>
        <p:nvSpPr>
          <p:cNvPr id="13" name="Text 9"/>
          <p:cNvSpPr/>
          <p:nvPr/>
        </p:nvSpPr>
        <p:spPr>
          <a:xfrm>
            <a:off x="7498080" y="2359152"/>
            <a:ext cx="3931920" cy="1188720"/>
          </a:xfrm>
          <a:prstGeom prst="rect">
            <a:avLst/>
          </a:prstGeom>
          <a:noFill/>
          <a:ln/>
        </p:spPr>
        <p:txBody>
          <a:bodyPr wrap="square" rtlCol="0" anchor="ctr"/>
          <a:lstStyle/>
          <a:p>
            <a:pPr marL="0" indent="0">
              <a:lnSpc>
                <a:spcPct val="120000"/>
              </a:lnSpc>
              <a:buNone/>
            </a:pPr>
            <a:r>
              <a:rPr lang="en-US" sz="1250" dirty="0">
                <a:solidFill>
                  <a:srgbClr val="6B6B7B"/>
                </a:solidFill>
                <a:latin typeface="Calibri" pitchFamily="34" charset="0"/>
                <a:ea typeface="Calibri" pitchFamily="34" charset="-122"/>
                <a:cs typeface="Calibri" pitchFamily="34" charset="-120"/>
              </a:rPr>
              <a:t>View every roast in a responsive card grid, newest submissions shown first.</a:t>
            </a:r>
            <a:endParaRPr lang="en-US" sz="1250" dirty="0"/>
          </a:p>
        </p:txBody>
      </p:sp>
      <p:sp>
        <p:nvSpPr>
          <p:cNvPr id="14" name="Shape 10"/>
          <p:cNvSpPr/>
          <p:nvPr/>
        </p:nvSpPr>
        <p:spPr>
          <a:xfrm>
            <a:off x="548640" y="4069080"/>
            <a:ext cx="5349240" cy="1965960"/>
          </a:xfrm>
          <a:prstGeom prst="roundRect">
            <a:avLst>
              <a:gd name="adj" fmla="val 4651"/>
            </a:avLst>
          </a:prstGeom>
          <a:solidFill>
            <a:srgbClr val="FFFFFF"/>
          </a:solidFill>
          <a:ln/>
          <a:effectLst>
            <a:outerShdw blurRad="88900" dist="38100" dir="5400000" algn="bl" rotWithShape="0">
              <a:srgbClr val="999999">
                <a:alpha val="22000"/>
              </a:srgbClr>
            </a:outerShdw>
          </a:effectLst>
        </p:spPr>
        <p:txBody>
          <a:bodyPr/>
          <a:lstStyle/>
          <a:p>
            <a:endParaRPr lang="en-IN"/>
          </a:p>
        </p:txBody>
      </p:sp>
      <p:sp>
        <p:nvSpPr>
          <p:cNvPr id="15" name="Shape 11"/>
          <p:cNvSpPr/>
          <p:nvPr/>
        </p:nvSpPr>
        <p:spPr>
          <a:xfrm>
            <a:off x="822960" y="4343400"/>
            <a:ext cx="685800" cy="685800"/>
          </a:xfrm>
          <a:prstGeom prst="ellipse">
            <a:avLst/>
          </a:prstGeom>
          <a:solidFill>
            <a:srgbClr val="C81D25"/>
          </a:solidFill>
          <a:ln/>
        </p:spPr>
        <p:txBody>
          <a:bodyPr/>
          <a:lstStyle/>
          <a:p>
            <a:endParaRPr lang="en-IN"/>
          </a:p>
        </p:txBody>
      </p:sp>
      <p:pic>
        <p:nvPicPr>
          <p:cNvPr id="16" name="Image 2" descr="/home/claude/icons/edit.png"/>
          <p:cNvPicPr>
            <a:picLocks noChangeAspect="1"/>
          </p:cNvPicPr>
          <p:nvPr/>
        </p:nvPicPr>
        <p:blipFill>
          <a:blip r:embed="rId5"/>
          <a:stretch>
            <a:fillRect/>
          </a:stretch>
        </p:blipFill>
        <p:spPr>
          <a:xfrm>
            <a:off x="977265" y="4497705"/>
            <a:ext cx="377190" cy="377190"/>
          </a:xfrm>
          <a:prstGeom prst="rect">
            <a:avLst/>
          </a:prstGeom>
        </p:spPr>
      </p:pic>
      <p:sp>
        <p:nvSpPr>
          <p:cNvPr id="17" name="Text 12"/>
          <p:cNvSpPr/>
          <p:nvPr/>
        </p:nvSpPr>
        <p:spPr>
          <a:xfrm>
            <a:off x="1691640" y="4325112"/>
            <a:ext cx="3977640" cy="365760"/>
          </a:xfrm>
          <a:prstGeom prst="rect">
            <a:avLst/>
          </a:prstGeom>
          <a:noFill/>
          <a:ln/>
        </p:spPr>
        <p:txBody>
          <a:bodyPr wrap="square" rtlCol="0" anchor="ctr"/>
          <a:lstStyle/>
          <a:p>
            <a:pPr marL="0" indent="0">
              <a:buNone/>
            </a:pPr>
            <a:r>
              <a:rPr lang="en-US" sz="1600" b="1" dirty="0">
                <a:solidFill>
                  <a:srgbClr val="7A0C0C"/>
                </a:solidFill>
                <a:latin typeface="Calibri" pitchFamily="34" charset="0"/>
                <a:ea typeface="Calibri" pitchFamily="34" charset="-122"/>
                <a:cs typeface="Calibri" pitchFamily="34" charset="-120"/>
              </a:rPr>
              <a:t>Edit in Place</a:t>
            </a:r>
            <a:endParaRPr lang="en-US" sz="1600" dirty="0"/>
          </a:p>
        </p:txBody>
      </p:sp>
      <p:sp>
        <p:nvSpPr>
          <p:cNvPr id="18" name="Text 13"/>
          <p:cNvSpPr/>
          <p:nvPr/>
        </p:nvSpPr>
        <p:spPr>
          <a:xfrm>
            <a:off x="1691640" y="4690872"/>
            <a:ext cx="3931920" cy="1188720"/>
          </a:xfrm>
          <a:prstGeom prst="rect">
            <a:avLst/>
          </a:prstGeom>
          <a:noFill/>
          <a:ln/>
        </p:spPr>
        <p:txBody>
          <a:bodyPr wrap="square" rtlCol="0" anchor="ctr"/>
          <a:lstStyle/>
          <a:p>
            <a:pPr marL="0" indent="0">
              <a:lnSpc>
                <a:spcPct val="120000"/>
              </a:lnSpc>
              <a:buNone/>
            </a:pPr>
            <a:r>
              <a:rPr lang="en-US" sz="1250" dirty="0">
                <a:solidFill>
                  <a:srgbClr val="6B6B7B"/>
                </a:solidFill>
                <a:latin typeface="Calibri" pitchFamily="34" charset="0"/>
                <a:ea typeface="Calibri" pitchFamily="34" charset="-122"/>
                <a:cs typeface="Calibri" pitchFamily="34" charset="-120"/>
              </a:rPr>
              <a:t>Update any existing roast's name, category, or text without leaving the page.</a:t>
            </a:r>
            <a:endParaRPr lang="en-US" sz="1250" dirty="0"/>
          </a:p>
        </p:txBody>
      </p:sp>
      <p:sp>
        <p:nvSpPr>
          <p:cNvPr id="19" name="Shape 14"/>
          <p:cNvSpPr/>
          <p:nvPr/>
        </p:nvSpPr>
        <p:spPr>
          <a:xfrm>
            <a:off x="6355080" y="4069080"/>
            <a:ext cx="5349240" cy="1965960"/>
          </a:xfrm>
          <a:prstGeom prst="roundRect">
            <a:avLst>
              <a:gd name="adj" fmla="val 4651"/>
            </a:avLst>
          </a:prstGeom>
          <a:solidFill>
            <a:srgbClr val="FFFFFF"/>
          </a:solidFill>
          <a:ln/>
          <a:effectLst>
            <a:outerShdw blurRad="88900" dist="38100" dir="5400000" algn="bl" rotWithShape="0">
              <a:srgbClr val="999999">
                <a:alpha val="22000"/>
              </a:srgbClr>
            </a:outerShdw>
          </a:effectLst>
        </p:spPr>
        <p:txBody>
          <a:bodyPr/>
          <a:lstStyle/>
          <a:p>
            <a:endParaRPr lang="en-IN"/>
          </a:p>
        </p:txBody>
      </p:sp>
      <p:sp>
        <p:nvSpPr>
          <p:cNvPr id="20" name="Shape 15"/>
          <p:cNvSpPr/>
          <p:nvPr/>
        </p:nvSpPr>
        <p:spPr>
          <a:xfrm>
            <a:off x="6629400" y="4343400"/>
            <a:ext cx="685800" cy="685800"/>
          </a:xfrm>
          <a:prstGeom prst="ellipse">
            <a:avLst/>
          </a:prstGeom>
          <a:solidFill>
            <a:srgbClr val="C81D25"/>
          </a:solidFill>
          <a:ln/>
        </p:spPr>
        <p:txBody>
          <a:bodyPr/>
          <a:lstStyle/>
          <a:p>
            <a:endParaRPr lang="en-IN"/>
          </a:p>
        </p:txBody>
      </p:sp>
      <p:pic>
        <p:nvPicPr>
          <p:cNvPr id="21" name="Image 3" descr="/home/claude/icons/trash.png"/>
          <p:cNvPicPr>
            <a:picLocks noChangeAspect="1"/>
          </p:cNvPicPr>
          <p:nvPr/>
        </p:nvPicPr>
        <p:blipFill>
          <a:blip r:embed="rId6"/>
          <a:stretch>
            <a:fillRect/>
          </a:stretch>
        </p:blipFill>
        <p:spPr>
          <a:xfrm>
            <a:off x="6783705" y="4497705"/>
            <a:ext cx="377190" cy="377190"/>
          </a:xfrm>
          <a:prstGeom prst="rect">
            <a:avLst/>
          </a:prstGeom>
        </p:spPr>
      </p:pic>
      <p:sp>
        <p:nvSpPr>
          <p:cNvPr id="22" name="Text 16"/>
          <p:cNvSpPr/>
          <p:nvPr/>
        </p:nvSpPr>
        <p:spPr>
          <a:xfrm>
            <a:off x="7498080" y="4325112"/>
            <a:ext cx="3977640" cy="365760"/>
          </a:xfrm>
          <a:prstGeom prst="rect">
            <a:avLst/>
          </a:prstGeom>
          <a:noFill/>
          <a:ln/>
        </p:spPr>
        <p:txBody>
          <a:bodyPr wrap="square" rtlCol="0" anchor="ctr"/>
          <a:lstStyle/>
          <a:p>
            <a:pPr marL="0" indent="0">
              <a:buNone/>
            </a:pPr>
            <a:r>
              <a:rPr lang="en-US" sz="1600" b="1" dirty="0">
                <a:solidFill>
                  <a:srgbClr val="7A0C0C"/>
                </a:solidFill>
                <a:latin typeface="Calibri" pitchFamily="34" charset="0"/>
                <a:ea typeface="Calibri" pitchFamily="34" charset="-122"/>
                <a:cs typeface="Calibri" pitchFamily="34" charset="-120"/>
              </a:rPr>
              <a:t>Delete with Confirmation</a:t>
            </a:r>
            <a:endParaRPr lang="en-US" sz="1600" dirty="0"/>
          </a:p>
        </p:txBody>
      </p:sp>
      <p:sp>
        <p:nvSpPr>
          <p:cNvPr id="23" name="Text 17"/>
          <p:cNvSpPr/>
          <p:nvPr/>
        </p:nvSpPr>
        <p:spPr>
          <a:xfrm>
            <a:off x="7498080" y="4690872"/>
            <a:ext cx="3931920" cy="1188720"/>
          </a:xfrm>
          <a:prstGeom prst="rect">
            <a:avLst/>
          </a:prstGeom>
          <a:noFill/>
          <a:ln/>
        </p:spPr>
        <p:txBody>
          <a:bodyPr wrap="square" rtlCol="0" anchor="ctr"/>
          <a:lstStyle/>
          <a:p>
            <a:pPr marL="0" indent="0">
              <a:lnSpc>
                <a:spcPct val="120000"/>
              </a:lnSpc>
              <a:buNone/>
            </a:pPr>
            <a:r>
              <a:rPr lang="en-US" sz="1250" dirty="0">
                <a:solidFill>
                  <a:srgbClr val="6B6B7B"/>
                </a:solidFill>
                <a:latin typeface="Calibri" pitchFamily="34" charset="0"/>
                <a:ea typeface="Calibri" pitchFamily="34" charset="-122"/>
                <a:cs typeface="Calibri" pitchFamily="34" charset="-120"/>
              </a:rPr>
              <a:t>Remove a roast permanently, with a confirmation prompt to prevent mistakes.</a:t>
            </a:r>
            <a:endParaRPr lang="en-US" sz="1250" dirty="0"/>
          </a:p>
        </p:txBody>
      </p:sp>
      <p:sp>
        <p:nvSpPr>
          <p:cNvPr id="24" name="Text 18"/>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6B6B7B"/>
                </a:solidFill>
                <a:latin typeface="Calibri" pitchFamily="34" charset="0"/>
                <a:ea typeface="Calibri" pitchFamily="34" charset="-122"/>
                <a:cs typeface="Calibri" pitchFamily="34" charset="-120"/>
              </a:rPr>
              <a:t>ILikeIt — The Ultimate Roast Vault</a:t>
            </a:r>
            <a:endParaRPr lang="en-US" sz="1000" dirty="0"/>
          </a:p>
        </p:txBody>
      </p:sp>
      <p:sp>
        <p:nvSpPr>
          <p:cNvPr id="25" name="Text 19"/>
          <p:cNvSpPr/>
          <p:nvPr/>
        </p:nvSpPr>
        <p:spPr>
          <a:xfrm>
            <a:off x="11430000" y="6537960"/>
            <a:ext cx="457200" cy="274320"/>
          </a:xfrm>
          <a:prstGeom prst="rect">
            <a:avLst/>
          </a:prstGeom>
          <a:noFill/>
          <a:ln/>
        </p:spPr>
        <p:txBody>
          <a:bodyPr wrap="square" rtlCol="0" anchor="ctr"/>
          <a:lstStyle/>
          <a:p>
            <a:pPr marL="0" indent="0" algn="r">
              <a:buNone/>
            </a:pPr>
            <a:r>
              <a:rPr lang="en-US" sz="1000" dirty="0">
                <a:solidFill>
                  <a:srgbClr val="6B6B7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7A0C0C"/>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Technology Stack</a:t>
            </a:r>
            <a:endParaRPr lang="en-US" sz="3400" dirty="0"/>
          </a:p>
        </p:txBody>
      </p:sp>
      <p:sp>
        <p:nvSpPr>
          <p:cNvPr id="3" name="Text 1"/>
          <p:cNvSpPr/>
          <p:nvPr/>
        </p:nvSpPr>
        <p:spPr>
          <a:xfrm>
            <a:off x="548640" y="1143000"/>
            <a:ext cx="9144000" cy="365760"/>
          </a:xfrm>
          <a:prstGeom prst="rect">
            <a:avLst/>
          </a:prstGeom>
          <a:noFill/>
          <a:ln/>
        </p:spPr>
        <p:txBody>
          <a:bodyPr wrap="square" rtlCol="0" anchor="ctr"/>
          <a:lstStyle/>
          <a:p>
            <a:pPr marL="0" indent="0">
              <a:buNone/>
            </a:pPr>
            <a:r>
              <a:rPr lang="en-US" sz="1600" b="1" dirty="0">
                <a:solidFill>
                  <a:srgbClr val="D4AF37"/>
                </a:solidFill>
                <a:latin typeface="Calibri" pitchFamily="34" charset="0"/>
                <a:ea typeface="Calibri" pitchFamily="34" charset="-122"/>
                <a:cs typeface="Calibri" pitchFamily="34" charset="-120"/>
              </a:rPr>
              <a:t>Built end-to-end on modern JavaScript technologies</a:t>
            </a:r>
            <a:endParaRPr lang="en-US" sz="1600" dirty="0"/>
          </a:p>
        </p:txBody>
      </p:sp>
      <p:sp>
        <p:nvSpPr>
          <p:cNvPr id="4" name="Shape 2"/>
          <p:cNvSpPr/>
          <p:nvPr/>
        </p:nvSpPr>
        <p:spPr>
          <a:xfrm>
            <a:off x="548640" y="1783080"/>
            <a:ext cx="3566160" cy="4160520"/>
          </a:xfrm>
          <a:prstGeom prst="roundRect">
            <a:avLst>
              <a:gd name="adj" fmla="val 3077"/>
            </a:avLst>
          </a:prstGeom>
          <a:solidFill>
            <a:srgbClr val="4A0000"/>
          </a:solidFill>
          <a:ln w="12700">
            <a:solidFill>
              <a:srgbClr val="7A2020"/>
            </a:solidFill>
            <a:prstDash val="solid"/>
          </a:ln>
        </p:spPr>
        <p:txBody>
          <a:bodyPr/>
          <a:lstStyle/>
          <a:p>
            <a:endParaRPr lang="en-IN"/>
          </a:p>
        </p:txBody>
      </p:sp>
      <p:sp>
        <p:nvSpPr>
          <p:cNvPr id="5" name="Text 3"/>
          <p:cNvSpPr/>
          <p:nvPr/>
        </p:nvSpPr>
        <p:spPr>
          <a:xfrm>
            <a:off x="822960" y="1965960"/>
            <a:ext cx="3017520" cy="365760"/>
          </a:xfrm>
          <a:prstGeom prst="rect">
            <a:avLst/>
          </a:prstGeom>
          <a:noFill/>
          <a:ln/>
        </p:spPr>
        <p:txBody>
          <a:bodyPr wrap="square" rtlCol="0" anchor="ctr"/>
          <a:lstStyle/>
          <a:p>
            <a:pPr marL="0" indent="0">
              <a:buNone/>
            </a:pPr>
            <a:r>
              <a:rPr lang="en-US" sz="1400" b="1" kern="0" spc="200" dirty="0">
                <a:solidFill>
                  <a:srgbClr val="C81D25"/>
                </a:solidFill>
                <a:latin typeface="Calibri" pitchFamily="34" charset="0"/>
                <a:ea typeface="Calibri" pitchFamily="34" charset="-122"/>
                <a:cs typeface="Calibri" pitchFamily="34" charset="-120"/>
              </a:rPr>
              <a:t>FRONTEND</a:t>
            </a:r>
            <a:endParaRPr lang="en-US" sz="1400" dirty="0"/>
          </a:p>
        </p:txBody>
      </p:sp>
      <p:sp>
        <p:nvSpPr>
          <p:cNvPr id="6" name="Shape 4"/>
          <p:cNvSpPr/>
          <p:nvPr/>
        </p:nvSpPr>
        <p:spPr>
          <a:xfrm>
            <a:off x="822960" y="2514600"/>
            <a:ext cx="566928" cy="566928"/>
          </a:xfrm>
          <a:prstGeom prst="ellipse">
            <a:avLst/>
          </a:prstGeom>
          <a:solidFill>
            <a:srgbClr val="7A2020"/>
          </a:solidFill>
          <a:ln/>
        </p:spPr>
        <p:txBody>
          <a:bodyPr/>
          <a:lstStyle/>
          <a:p>
            <a:endParaRPr lang="en-IN"/>
          </a:p>
        </p:txBody>
      </p:sp>
      <p:pic>
        <p:nvPicPr>
          <p:cNvPr id="7" name="Image 0" descr="/home/claude/icons/react.png"/>
          <p:cNvPicPr>
            <a:picLocks noChangeAspect="1"/>
          </p:cNvPicPr>
          <p:nvPr/>
        </p:nvPicPr>
        <p:blipFill>
          <a:blip r:embed="rId3"/>
          <a:stretch>
            <a:fillRect/>
          </a:stretch>
        </p:blipFill>
        <p:spPr>
          <a:xfrm>
            <a:off x="950519" y="2642159"/>
            <a:ext cx="311810" cy="311810"/>
          </a:xfrm>
          <a:prstGeom prst="rect">
            <a:avLst/>
          </a:prstGeom>
        </p:spPr>
      </p:pic>
      <p:sp>
        <p:nvSpPr>
          <p:cNvPr id="8" name="Text 5"/>
          <p:cNvSpPr/>
          <p:nvPr/>
        </p:nvSpPr>
        <p:spPr>
          <a:xfrm>
            <a:off x="1554480" y="2514600"/>
            <a:ext cx="2286000" cy="566928"/>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React 19</a:t>
            </a:r>
            <a:endParaRPr lang="en-US" sz="1450" dirty="0"/>
          </a:p>
        </p:txBody>
      </p:sp>
      <p:sp>
        <p:nvSpPr>
          <p:cNvPr id="9" name="Shape 6"/>
          <p:cNvSpPr/>
          <p:nvPr/>
        </p:nvSpPr>
        <p:spPr>
          <a:xfrm>
            <a:off x="822960" y="3383280"/>
            <a:ext cx="566928" cy="566928"/>
          </a:xfrm>
          <a:prstGeom prst="ellipse">
            <a:avLst/>
          </a:prstGeom>
          <a:solidFill>
            <a:srgbClr val="7A2020"/>
          </a:solidFill>
          <a:ln/>
        </p:spPr>
        <p:txBody>
          <a:bodyPr/>
          <a:lstStyle/>
          <a:p>
            <a:endParaRPr lang="en-IN"/>
          </a:p>
        </p:txBody>
      </p:sp>
      <p:pic>
        <p:nvPicPr>
          <p:cNvPr id="10" name="Image 1" descr="/home/claude/icons/vite.png"/>
          <p:cNvPicPr>
            <a:picLocks noChangeAspect="1"/>
          </p:cNvPicPr>
          <p:nvPr/>
        </p:nvPicPr>
        <p:blipFill>
          <a:blip r:embed="rId4"/>
          <a:stretch>
            <a:fillRect/>
          </a:stretch>
        </p:blipFill>
        <p:spPr>
          <a:xfrm>
            <a:off x="950519" y="3510839"/>
            <a:ext cx="311810" cy="311810"/>
          </a:xfrm>
          <a:prstGeom prst="rect">
            <a:avLst/>
          </a:prstGeom>
        </p:spPr>
      </p:pic>
      <p:sp>
        <p:nvSpPr>
          <p:cNvPr id="11" name="Text 7"/>
          <p:cNvSpPr/>
          <p:nvPr/>
        </p:nvSpPr>
        <p:spPr>
          <a:xfrm>
            <a:off x="1554480" y="3383280"/>
            <a:ext cx="2286000" cy="566928"/>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Vite</a:t>
            </a:r>
            <a:endParaRPr lang="en-US" sz="1450" dirty="0"/>
          </a:p>
        </p:txBody>
      </p:sp>
      <p:sp>
        <p:nvSpPr>
          <p:cNvPr id="12" name="Shape 8"/>
          <p:cNvSpPr/>
          <p:nvPr/>
        </p:nvSpPr>
        <p:spPr>
          <a:xfrm>
            <a:off x="822960" y="4251960"/>
            <a:ext cx="566928" cy="566928"/>
          </a:xfrm>
          <a:prstGeom prst="ellipse">
            <a:avLst/>
          </a:prstGeom>
          <a:solidFill>
            <a:srgbClr val="7A2020"/>
          </a:solidFill>
          <a:ln/>
        </p:spPr>
        <p:txBody>
          <a:bodyPr/>
          <a:lstStyle/>
          <a:p>
            <a:endParaRPr lang="en-IN"/>
          </a:p>
        </p:txBody>
      </p:sp>
      <p:pic>
        <p:nvPicPr>
          <p:cNvPr id="13" name="Image 2" descr="/home/claude/icons/css.png"/>
          <p:cNvPicPr>
            <a:picLocks noChangeAspect="1"/>
          </p:cNvPicPr>
          <p:nvPr/>
        </p:nvPicPr>
        <p:blipFill>
          <a:blip r:embed="rId5"/>
          <a:stretch>
            <a:fillRect/>
          </a:stretch>
        </p:blipFill>
        <p:spPr>
          <a:xfrm>
            <a:off x="950519" y="4379519"/>
            <a:ext cx="311810" cy="311810"/>
          </a:xfrm>
          <a:prstGeom prst="rect">
            <a:avLst/>
          </a:prstGeom>
        </p:spPr>
      </p:pic>
      <p:sp>
        <p:nvSpPr>
          <p:cNvPr id="14" name="Text 9"/>
          <p:cNvSpPr/>
          <p:nvPr/>
        </p:nvSpPr>
        <p:spPr>
          <a:xfrm>
            <a:off x="1554480" y="4251960"/>
            <a:ext cx="2286000" cy="566928"/>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CSS3</a:t>
            </a:r>
            <a:endParaRPr lang="en-US" sz="1450" dirty="0"/>
          </a:p>
        </p:txBody>
      </p:sp>
      <p:sp>
        <p:nvSpPr>
          <p:cNvPr id="15" name="Shape 10"/>
          <p:cNvSpPr/>
          <p:nvPr/>
        </p:nvSpPr>
        <p:spPr>
          <a:xfrm>
            <a:off x="4434840" y="1783080"/>
            <a:ext cx="3566160" cy="4160520"/>
          </a:xfrm>
          <a:prstGeom prst="roundRect">
            <a:avLst>
              <a:gd name="adj" fmla="val 3077"/>
            </a:avLst>
          </a:prstGeom>
          <a:solidFill>
            <a:srgbClr val="4A0000"/>
          </a:solidFill>
          <a:ln w="12700">
            <a:solidFill>
              <a:srgbClr val="7A2020"/>
            </a:solidFill>
            <a:prstDash val="solid"/>
          </a:ln>
        </p:spPr>
        <p:txBody>
          <a:bodyPr/>
          <a:lstStyle/>
          <a:p>
            <a:endParaRPr lang="en-IN"/>
          </a:p>
        </p:txBody>
      </p:sp>
      <p:sp>
        <p:nvSpPr>
          <p:cNvPr id="16" name="Text 11"/>
          <p:cNvSpPr/>
          <p:nvPr/>
        </p:nvSpPr>
        <p:spPr>
          <a:xfrm>
            <a:off x="4709160" y="1965960"/>
            <a:ext cx="3017520" cy="365760"/>
          </a:xfrm>
          <a:prstGeom prst="rect">
            <a:avLst/>
          </a:prstGeom>
          <a:noFill/>
          <a:ln/>
        </p:spPr>
        <p:txBody>
          <a:bodyPr wrap="square" rtlCol="0" anchor="ctr"/>
          <a:lstStyle/>
          <a:p>
            <a:pPr marL="0" indent="0">
              <a:buNone/>
            </a:pPr>
            <a:r>
              <a:rPr lang="en-US" sz="1400" b="1" kern="0" spc="200" dirty="0">
                <a:solidFill>
                  <a:srgbClr val="C81D25"/>
                </a:solidFill>
                <a:latin typeface="Calibri" pitchFamily="34" charset="0"/>
                <a:ea typeface="Calibri" pitchFamily="34" charset="-122"/>
                <a:cs typeface="Calibri" pitchFamily="34" charset="-120"/>
              </a:rPr>
              <a:t>BACKEND</a:t>
            </a:r>
            <a:endParaRPr lang="en-US" sz="1400" dirty="0"/>
          </a:p>
        </p:txBody>
      </p:sp>
      <p:sp>
        <p:nvSpPr>
          <p:cNvPr id="17" name="Shape 12"/>
          <p:cNvSpPr/>
          <p:nvPr/>
        </p:nvSpPr>
        <p:spPr>
          <a:xfrm>
            <a:off x="4709160" y="2514600"/>
            <a:ext cx="566928" cy="566928"/>
          </a:xfrm>
          <a:prstGeom prst="ellipse">
            <a:avLst/>
          </a:prstGeom>
          <a:solidFill>
            <a:srgbClr val="7A2020"/>
          </a:solidFill>
          <a:ln/>
        </p:spPr>
        <p:txBody>
          <a:bodyPr/>
          <a:lstStyle/>
          <a:p>
            <a:endParaRPr lang="en-IN"/>
          </a:p>
        </p:txBody>
      </p:sp>
      <p:pic>
        <p:nvPicPr>
          <p:cNvPr id="18" name="Image 3" descr="/home/claude/icons/node.png"/>
          <p:cNvPicPr>
            <a:picLocks noChangeAspect="1"/>
          </p:cNvPicPr>
          <p:nvPr/>
        </p:nvPicPr>
        <p:blipFill>
          <a:blip r:embed="rId6"/>
          <a:stretch>
            <a:fillRect/>
          </a:stretch>
        </p:blipFill>
        <p:spPr>
          <a:xfrm>
            <a:off x="4836719" y="2642159"/>
            <a:ext cx="311810" cy="311810"/>
          </a:xfrm>
          <a:prstGeom prst="rect">
            <a:avLst/>
          </a:prstGeom>
        </p:spPr>
      </p:pic>
      <p:sp>
        <p:nvSpPr>
          <p:cNvPr id="19" name="Text 13"/>
          <p:cNvSpPr/>
          <p:nvPr/>
        </p:nvSpPr>
        <p:spPr>
          <a:xfrm>
            <a:off x="5440680" y="2514600"/>
            <a:ext cx="2286000" cy="566928"/>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Node.js</a:t>
            </a:r>
            <a:endParaRPr lang="en-US" sz="1450" dirty="0"/>
          </a:p>
        </p:txBody>
      </p:sp>
      <p:sp>
        <p:nvSpPr>
          <p:cNvPr id="20" name="Shape 14"/>
          <p:cNvSpPr/>
          <p:nvPr/>
        </p:nvSpPr>
        <p:spPr>
          <a:xfrm>
            <a:off x="4709160" y="3383280"/>
            <a:ext cx="566928" cy="566928"/>
          </a:xfrm>
          <a:prstGeom prst="ellipse">
            <a:avLst/>
          </a:prstGeom>
          <a:solidFill>
            <a:srgbClr val="7A2020"/>
          </a:solidFill>
          <a:ln/>
        </p:spPr>
        <p:txBody>
          <a:bodyPr/>
          <a:lstStyle/>
          <a:p>
            <a:endParaRPr lang="en-IN"/>
          </a:p>
        </p:txBody>
      </p:sp>
      <p:pic>
        <p:nvPicPr>
          <p:cNvPr id="21" name="Image 4" descr="/home/claude/icons/express.png"/>
          <p:cNvPicPr>
            <a:picLocks noChangeAspect="1"/>
          </p:cNvPicPr>
          <p:nvPr/>
        </p:nvPicPr>
        <p:blipFill>
          <a:blip r:embed="rId7"/>
          <a:stretch>
            <a:fillRect/>
          </a:stretch>
        </p:blipFill>
        <p:spPr>
          <a:xfrm>
            <a:off x="4836719" y="3510839"/>
            <a:ext cx="311810" cy="311810"/>
          </a:xfrm>
          <a:prstGeom prst="rect">
            <a:avLst/>
          </a:prstGeom>
        </p:spPr>
      </p:pic>
      <p:sp>
        <p:nvSpPr>
          <p:cNvPr id="22" name="Text 15"/>
          <p:cNvSpPr/>
          <p:nvPr/>
        </p:nvSpPr>
        <p:spPr>
          <a:xfrm>
            <a:off x="5440680" y="3383280"/>
            <a:ext cx="2286000" cy="566928"/>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Express 5</a:t>
            </a:r>
            <a:endParaRPr lang="en-US" sz="1450" dirty="0"/>
          </a:p>
        </p:txBody>
      </p:sp>
      <p:sp>
        <p:nvSpPr>
          <p:cNvPr id="23" name="Shape 16"/>
          <p:cNvSpPr/>
          <p:nvPr/>
        </p:nvSpPr>
        <p:spPr>
          <a:xfrm>
            <a:off x="4709160" y="4251960"/>
            <a:ext cx="566928" cy="566928"/>
          </a:xfrm>
          <a:prstGeom prst="ellipse">
            <a:avLst/>
          </a:prstGeom>
          <a:solidFill>
            <a:srgbClr val="7A2020"/>
          </a:solidFill>
          <a:ln/>
        </p:spPr>
        <p:txBody>
          <a:bodyPr/>
          <a:lstStyle/>
          <a:p>
            <a:endParaRPr lang="en-IN"/>
          </a:p>
        </p:txBody>
      </p:sp>
      <p:pic>
        <p:nvPicPr>
          <p:cNvPr id="24" name="Image 5" descr="/home/claude/icons/shield.png"/>
          <p:cNvPicPr>
            <a:picLocks noChangeAspect="1"/>
          </p:cNvPicPr>
          <p:nvPr/>
        </p:nvPicPr>
        <p:blipFill>
          <a:blip r:embed="rId8"/>
          <a:stretch>
            <a:fillRect/>
          </a:stretch>
        </p:blipFill>
        <p:spPr>
          <a:xfrm>
            <a:off x="4836719" y="4379519"/>
            <a:ext cx="311810" cy="311810"/>
          </a:xfrm>
          <a:prstGeom prst="rect">
            <a:avLst/>
          </a:prstGeom>
        </p:spPr>
      </p:pic>
      <p:sp>
        <p:nvSpPr>
          <p:cNvPr id="25" name="Text 17"/>
          <p:cNvSpPr/>
          <p:nvPr/>
        </p:nvSpPr>
        <p:spPr>
          <a:xfrm>
            <a:off x="5440680" y="4251960"/>
            <a:ext cx="2286000" cy="566928"/>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CORS + dotenv</a:t>
            </a:r>
            <a:endParaRPr lang="en-US" sz="1450" dirty="0"/>
          </a:p>
        </p:txBody>
      </p:sp>
      <p:sp>
        <p:nvSpPr>
          <p:cNvPr id="26" name="Shape 18"/>
          <p:cNvSpPr/>
          <p:nvPr/>
        </p:nvSpPr>
        <p:spPr>
          <a:xfrm>
            <a:off x="8321040" y="1783080"/>
            <a:ext cx="3566160" cy="4160520"/>
          </a:xfrm>
          <a:prstGeom prst="roundRect">
            <a:avLst>
              <a:gd name="adj" fmla="val 3077"/>
            </a:avLst>
          </a:prstGeom>
          <a:solidFill>
            <a:srgbClr val="4A0000"/>
          </a:solidFill>
          <a:ln w="12700">
            <a:solidFill>
              <a:srgbClr val="7A2020"/>
            </a:solidFill>
            <a:prstDash val="solid"/>
          </a:ln>
        </p:spPr>
        <p:txBody>
          <a:bodyPr/>
          <a:lstStyle/>
          <a:p>
            <a:endParaRPr lang="en-IN"/>
          </a:p>
        </p:txBody>
      </p:sp>
      <p:sp>
        <p:nvSpPr>
          <p:cNvPr id="27" name="Text 19"/>
          <p:cNvSpPr/>
          <p:nvPr/>
        </p:nvSpPr>
        <p:spPr>
          <a:xfrm>
            <a:off x="8595360" y="1965960"/>
            <a:ext cx="3017520" cy="365760"/>
          </a:xfrm>
          <a:prstGeom prst="rect">
            <a:avLst/>
          </a:prstGeom>
          <a:noFill/>
          <a:ln/>
        </p:spPr>
        <p:txBody>
          <a:bodyPr wrap="square" rtlCol="0" anchor="ctr"/>
          <a:lstStyle/>
          <a:p>
            <a:pPr marL="0" indent="0">
              <a:buNone/>
            </a:pPr>
            <a:r>
              <a:rPr lang="en-US" sz="1400" b="1" kern="0" spc="200" dirty="0">
                <a:solidFill>
                  <a:srgbClr val="C81D25"/>
                </a:solidFill>
                <a:latin typeface="Calibri" pitchFamily="34" charset="0"/>
                <a:ea typeface="Calibri" pitchFamily="34" charset="-122"/>
                <a:cs typeface="Calibri" pitchFamily="34" charset="-120"/>
              </a:rPr>
              <a:t>DATABASE</a:t>
            </a:r>
            <a:endParaRPr lang="en-US" sz="1400" dirty="0"/>
          </a:p>
        </p:txBody>
      </p:sp>
      <p:sp>
        <p:nvSpPr>
          <p:cNvPr id="28" name="Shape 20"/>
          <p:cNvSpPr/>
          <p:nvPr/>
        </p:nvSpPr>
        <p:spPr>
          <a:xfrm>
            <a:off x="8595360" y="2514600"/>
            <a:ext cx="566928" cy="566928"/>
          </a:xfrm>
          <a:prstGeom prst="ellipse">
            <a:avLst/>
          </a:prstGeom>
          <a:solidFill>
            <a:srgbClr val="7A2020"/>
          </a:solidFill>
          <a:ln/>
        </p:spPr>
        <p:txBody>
          <a:bodyPr/>
          <a:lstStyle/>
          <a:p>
            <a:endParaRPr lang="en-IN"/>
          </a:p>
        </p:txBody>
      </p:sp>
      <p:pic>
        <p:nvPicPr>
          <p:cNvPr id="29" name="Image 6" descr="/home/claude/icons/postgres.png"/>
          <p:cNvPicPr>
            <a:picLocks noChangeAspect="1"/>
          </p:cNvPicPr>
          <p:nvPr/>
        </p:nvPicPr>
        <p:blipFill>
          <a:blip r:embed="rId9"/>
          <a:stretch>
            <a:fillRect/>
          </a:stretch>
        </p:blipFill>
        <p:spPr>
          <a:xfrm>
            <a:off x="8722919" y="2642159"/>
            <a:ext cx="311810" cy="311810"/>
          </a:xfrm>
          <a:prstGeom prst="rect">
            <a:avLst/>
          </a:prstGeom>
        </p:spPr>
      </p:pic>
      <p:sp>
        <p:nvSpPr>
          <p:cNvPr id="30" name="Text 21"/>
          <p:cNvSpPr/>
          <p:nvPr/>
        </p:nvSpPr>
        <p:spPr>
          <a:xfrm>
            <a:off x="9326880" y="2514600"/>
            <a:ext cx="2286000" cy="566928"/>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PostgreSQL</a:t>
            </a:r>
            <a:endParaRPr lang="en-US" sz="1450" dirty="0"/>
          </a:p>
        </p:txBody>
      </p:sp>
      <p:sp>
        <p:nvSpPr>
          <p:cNvPr id="31" name="Shape 22"/>
          <p:cNvSpPr/>
          <p:nvPr/>
        </p:nvSpPr>
        <p:spPr>
          <a:xfrm>
            <a:off x="8595360" y="3383280"/>
            <a:ext cx="566928" cy="566928"/>
          </a:xfrm>
          <a:prstGeom prst="ellipse">
            <a:avLst/>
          </a:prstGeom>
          <a:solidFill>
            <a:srgbClr val="7A2020"/>
          </a:solidFill>
          <a:ln/>
        </p:spPr>
        <p:txBody>
          <a:bodyPr/>
          <a:lstStyle/>
          <a:p>
            <a:endParaRPr lang="en-IN"/>
          </a:p>
        </p:txBody>
      </p:sp>
      <p:pic>
        <p:nvPicPr>
          <p:cNvPr id="32" name="Image 7" descr="/home/claude/icons/database.png"/>
          <p:cNvPicPr>
            <a:picLocks noChangeAspect="1"/>
          </p:cNvPicPr>
          <p:nvPr/>
        </p:nvPicPr>
        <p:blipFill>
          <a:blip r:embed="rId10"/>
          <a:stretch>
            <a:fillRect/>
          </a:stretch>
        </p:blipFill>
        <p:spPr>
          <a:xfrm>
            <a:off x="8722919" y="3510839"/>
            <a:ext cx="311810" cy="311810"/>
          </a:xfrm>
          <a:prstGeom prst="rect">
            <a:avLst/>
          </a:prstGeom>
        </p:spPr>
      </p:pic>
      <p:sp>
        <p:nvSpPr>
          <p:cNvPr id="33" name="Text 23"/>
          <p:cNvSpPr/>
          <p:nvPr/>
        </p:nvSpPr>
        <p:spPr>
          <a:xfrm>
            <a:off x="9326880" y="3383280"/>
            <a:ext cx="2286000" cy="566928"/>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node-postgres (pg)</a:t>
            </a:r>
            <a:endParaRPr lang="en-US" sz="1450" dirty="0"/>
          </a:p>
        </p:txBody>
      </p:sp>
      <p:sp>
        <p:nvSpPr>
          <p:cNvPr id="34" name="Shape 24"/>
          <p:cNvSpPr/>
          <p:nvPr/>
        </p:nvSpPr>
        <p:spPr>
          <a:xfrm>
            <a:off x="8595360" y="4251960"/>
            <a:ext cx="566928" cy="566928"/>
          </a:xfrm>
          <a:prstGeom prst="ellipse">
            <a:avLst/>
          </a:prstGeom>
          <a:solidFill>
            <a:srgbClr val="7A2020"/>
          </a:solidFill>
          <a:ln/>
        </p:spPr>
        <p:txBody>
          <a:bodyPr/>
          <a:lstStyle/>
          <a:p>
            <a:endParaRPr lang="en-IN"/>
          </a:p>
        </p:txBody>
      </p:sp>
      <p:pic>
        <p:nvPicPr>
          <p:cNvPr id="35" name="Image 8" descr="/home/claude/icons/lock.png"/>
          <p:cNvPicPr>
            <a:picLocks noChangeAspect="1"/>
          </p:cNvPicPr>
          <p:nvPr/>
        </p:nvPicPr>
        <p:blipFill>
          <a:blip r:embed="rId11"/>
          <a:stretch>
            <a:fillRect/>
          </a:stretch>
        </p:blipFill>
        <p:spPr>
          <a:xfrm>
            <a:off x="8722919" y="4379519"/>
            <a:ext cx="311810" cy="311810"/>
          </a:xfrm>
          <a:prstGeom prst="rect">
            <a:avLst/>
          </a:prstGeom>
        </p:spPr>
      </p:pic>
      <p:sp>
        <p:nvSpPr>
          <p:cNvPr id="36" name="Text 25"/>
          <p:cNvSpPr/>
          <p:nvPr/>
        </p:nvSpPr>
        <p:spPr>
          <a:xfrm>
            <a:off x="9326880" y="4251960"/>
            <a:ext cx="2286000" cy="566928"/>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SSL Connection</a:t>
            </a:r>
            <a:endParaRPr lang="en-US" sz="1450" dirty="0"/>
          </a:p>
        </p:txBody>
      </p:sp>
      <p:sp>
        <p:nvSpPr>
          <p:cNvPr id="37" name="Text 26"/>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E8B4A8"/>
                </a:solidFill>
                <a:latin typeface="Calibri" pitchFamily="34" charset="0"/>
                <a:ea typeface="Calibri" pitchFamily="34" charset="-122"/>
                <a:cs typeface="Calibri" pitchFamily="34" charset="-120"/>
              </a:rPr>
              <a:t>ILikeIt — The Ultimate Roast Vault</a:t>
            </a:r>
            <a:endParaRPr lang="en-US" sz="1000" dirty="0"/>
          </a:p>
        </p:txBody>
      </p:sp>
      <p:sp>
        <p:nvSpPr>
          <p:cNvPr id="38" name="Text 27"/>
          <p:cNvSpPr/>
          <p:nvPr/>
        </p:nvSpPr>
        <p:spPr>
          <a:xfrm>
            <a:off x="11430000" y="6537960"/>
            <a:ext cx="457200" cy="274320"/>
          </a:xfrm>
          <a:prstGeom prst="rect">
            <a:avLst/>
          </a:prstGeom>
          <a:noFill/>
          <a:ln/>
        </p:spPr>
        <p:txBody>
          <a:bodyPr wrap="square" rtlCol="0" anchor="ctr"/>
          <a:lstStyle/>
          <a:p>
            <a:pPr marL="0" indent="0" algn="r">
              <a:buNone/>
            </a:pPr>
            <a:r>
              <a:rPr lang="en-US" sz="1000" dirty="0">
                <a:solidFill>
                  <a:srgbClr val="E8B4A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8"/>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marL="0" indent="0">
              <a:buNone/>
            </a:pPr>
            <a:r>
              <a:rPr lang="en-US" sz="3400" b="1" dirty="0">
                <a:solidFill>
                  <a:srgbClr val="7A0C0C"/>
                </a:solidFill>
                <a:latin typeface="Cambria" pitchFamily="34" charset="0"/>
                <a:ea typeface="Cambria" pitchFamily="34" charset="-122"/>
                <a:cs typeface="Cambria" pitchFamily="34" charset="-120"/>
              </a:rPr>
              <a:t>Frontend Architecture</a:t>
            </a:r>
            <a:endParaRPr lang="en-US" sz="3400" dirty="0"/>
          </a:p>
        </p:txBody>
      </p:sp>
      <p:sp>
        <p:nvSpPr>
          <p:cNvPr id="3" name="Text 1"/>
          <p:cNvSpPr/>
          <p:nvPr/>
        </p:nvSpPr>
        <p:spPr>
          <a:xfrm>
            <a:off x="548640" y="1143000"/>
            <a:ext cx="8229600" cy="365760"/>
          </a:xfrm>
          <a:prstGeom prst="rect">
            <a:avLst/>
          </a:prstGeom>
          <a:noFill/>
          <a:ln/>
        </p:spPr>
        <p:txBody>
          <a:bodyPr wrap="square" rtlCol="0" anchor="ctr"/>
          <a:lstStyle/>
          <a:p>
            <a:pPr marL="0" indent="0">
              <a:buNone/>
            </a:pPr>
            <a:r>
              <a:rPr lang="en-US" sz="1600" b="1" dirty="0">
                <a:solidFill>
                  <a:srgbClr val="C81D25"/>
                </a:solidFill>
                <a:latin typeface="Calibri" pitchFamily="34" charset="0"/>
                <a:ea typeface="Calibri" pitchFamily="34" charset="-122"/>
                <a:cs typeface="Calibri" pitchFamily="34" charset="-120"/>
              </a:rPr>
              <a:t>React 19 + Vite</a:t>
            </a:r>
            <a:endParaRPr lang="en-US" sz="1600" dirty="0"/>
          </a:p>
        </p:txBody>
      </p:sp>
      <p:sp>
        <p:nvSpPr>
          <p:cNvPr id="4" name="Shape 2"/>
          <p:cNvSpPr/>
          <p:nvPr/>
        </p:nvSpPr>
        <p:spPr>
          <a:xfrm>
            <a:off x="548640" y="1737360"/>
            <a:ext cx="3931920" cy="4251960"/>
          </a:xfrm>
          <a:prstGeom prst="roundRect">
            <a:avLst>
              <a:gd name="adj" fmla="val 2791"/>
            </a:avLst>
          </a:prstGeom>
          <a:solidFill>
            <a:srgbClr val="7A0C0C"/>
          </a:solidFill>
          <a:ln/>
        </p:spPr>
        <p:txBody>
          <a:bodyPr/>
          <a:lstStyle/>
          <a:p>
            <a:endParaRPr lang="en-IN"/>
          </a:p>
        </p:txBody>
      </p:sp>
      <p:sp>
        <p:nvSpPr>
          <p:cNvPr id="5" name="Shape 3"/>
          <p:cNvSpPr/>
          <p:nvPr/>
        </p:nvSpPr>
        <p:spPr>
          <a:xfrm>
            <a:off x="2148840" y="3246120"/>
            <a:ext cx="1234440" cy="1234440"/>
          </a:xfrm>
          <a:prstGeom prst="ellipse">
            <a:avLst/>
          </a:prstGeom>
          <a:solidFill>
            <a:srgbClr val="C81D25"/>
          </a:solidFill>
          <a:ln/>
        </p:spPr>
        <p:txBody>
          <a:bodyPr/>
          <a:lstStyle/>
          <a:p>
            <a:endParaRPr lang="en-IN"/>
          </a:p>
        </p:txBody>
      </p:sp>
      <p:pic>
        <p:nvPicPr>
          <p:cNvPr id="6" name="Image 0" descr="/home/claude/icons/react.png"/>
          <p:cNvPicPr>
            <a:picLocks noChangeAspect="1"/>
          </p:cNvPicPr>
          <p:nvPr/>
        </p:nvPicPr>
        <p:blipFill>
          <a:blip r:embed="rId3"/>
          <a:stretch>
            <a:fillRect/>
          </a:stretch>
        </p:blipFill>
        <p:spPr>
          <a:xfrm>
            <a:off x="2395728" y="3493008"/>
            <a:ext cx="740664" cy="740664"/>
          </a:xfrm>
          <a:prstGeom prst="rect">
            <a:avLst/>
          </a:prstGeom>
        </p:spPr>
      </p:pic>
      <p:sp>
        <p:nvSpPr>
          <p:cNvPr id="7" name="Text 4"/>
          <p:cNvSpPr/>
          <p:nvPr/>
        </p:nvSpPr>
        <p:spPr>
          <a:xfrm>
            <a:off x="822960" y="4709160"/>
            <a:ext cx="338328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Single Page Application</a:t>
            </a:r>
            <a:endParaRPr lang="en-US" sz="1400" dirty="0"/>
          </a:p>
        </p:txBody>
      </p:sp>
      <p:sp>
        <p:nvSpPr>
          <p:cNvPr id="8" name="Text 5"/>
          <p:cNvSpPr/>
          <p:nvPr/>
        </p:nvSpPr>
        <p:spPr>
          <a:xfrm>
            <a:off x="822960" y="5074920"/>
            <a:ext cx="3383280" cy="640080"/>
          </a:xfrm>
          <a:prstGeom prst="rect">
            <a:avLst/>
          </a:prstGeom>
          <a:noFill/>
          <a:ln/>
        </p:spPr>
        <p:txBody>
          <a:bodyPr wrap="square" rtlCol="0" anchor="ctr"/>
          <a:lstStyle/>
          <a:p>
            <a:pPr marL="0" indent="0" algn="ctr">
              <a:lnSpc>
                <a:spcPct val="120000"/>
              </a:lnSpc>
              <a:buNone/>
            </a:pPr>
            <a:r>
              <a:rPr lang="en-US" sz="1150" dirty="0">
                <a:solidFill>
                  <a:srgbClr val="F2D2C9"/>
                </a:solidFill>
                <a:latin typeface="Calibri" pitchFamily="34" charset="0"/>
                <a:ea typeface="Calibri" pitchFamily="34" charset="-122"/>
                <a:cs typeface="Calibri" pitchFamily="34" charset="-120"/>
              </a:rPr>
              <a:t>Fast dev server &amp; optimized production build via Vite</a:t>
            </a:r>
            <a:endParaRPr lang="en-US" sz="1150" dirty="0"/>
          </a:p>
        </p:txBody>
      </p:sp>
      <p:sp>
        <p:nvSpPr>
          <p:cNvPr id="9" name="Shape 6"/>
          <p:cNvSpPr/>
          <p:nvPr/>
        </p:nvSpPr>
        <p:spPr>
          <a:xfrm>
            <a:off x="4709160" y="1737360"/>
            <a:ext cx="502920" cy="502920"/>
          </a:xfrm>
          <a:prstGeom prst="ellipse">
            <a:avLst/>
          </a:prstGeom>
          <a:solidFill>
            <a:srgbClr val="C81D25"/>
          </a:solidFill>
          <a:ln/>
        </p:spPr>
        <p:txBody>
          <a:bodyPr/>
          <a:lstStyle/>
          <a:p>
            <a:endParaRPr lang="en-IN"/>
          </a:p>
        </p:txBody>
      </p:sp>
      <p:pic>
        <p:nvPicPr>
          <p:cNvPr id="10" name="Image 1" descr="/home/claude/icons/hook.png"/>
          <p:cNvPicPr>
            <a:picLocks noChangeAspect="1"/>
          </p:cNvPicPr>
          <p:nvPr/>
        </p:nvPicPr>
        <p:blipFill>
          <a:blip r:embed="rId4"/>
          <a:stretch>
            <a:fillRect/>
          </a:stretch>
        </p:blipFill>
        <p:spPr>
          <a:xfrm>
            <a:off x="4822317" y="1850517"/>
            <a:ext cx="276606" cy="276606"/>
          </a:xfrm>
          <a:prstGeom prst="rect">
            <a:avLst/>
          </a:prstGeom>
        </p:spPr>
      </p:pic>
      <p:sp>
        <p:nvSpPr>
          <p:cNvPr id="11" name="Text 7"/>
          <p:cNvSpPr/>
          <p:nvPr/>
        </p:nvSpPr>
        <p:spPr>
          <a:xfrm>
            <a:off x="5394960" y="1719072"/>
            <a:ext cx="6263640" cy="274320"/>
          </a:xfrm>
          <a:prstGeom prst="rect">
            <a:avLst/>
          </a:prstGeom>
          <a:noFill/>
          <a:ln/>
        </p:spPr>
        <p:txBody>
          <a:bodyPr wrap="square" rtlCol="0" anchor="ctr"/>
          <a:lstStyle/>
          <a:p>
            <a:pPr marL="0" indent="0">
              <a:buNone/>
            </a:pPr>
            <a:r>
              <a:rPr lang="en-US" sz="1400" b="1" dirty="0">
                <a:solidFill>
                  <a:srgbClr val="7A0C0C"/>
                </a:solidFill>
                <a:latin typeface="Calibri" pitchFamily="34" charset="0"/>
                <a:ea typeface="Calibri" pitchFamily="34" charset="-122"/>
                <a:cs typeface="Calibri" pitchFamily="34" charset="-120"/>
              </a:rPr>
              <a:t>React Hooks</a:t>
            </a:r>
            <a:endParaRPr lang="en-US" sz="1400" dirty="0"/>
          </a:p>
        </p:txBody>
      </p:sp>
      <p:sp>
        <p:nvSpPr>
          <p:cNvPr id="12" name="Text 8"/>
          <p:cNvSpPr/>
          <p:nvPr/>
        </p:nvSpPr>
        <p:spPr>
          <a:xfrm>
            <a:off x="5394960" y="2011680"/>
            <a:ext cx="6263640" cy="502920"/>
          </a:xfrm>
          <a:prstGeom prst="rect">
            <a:avLst/>
          </a:prstGeom>
          <a:noFill/>
          <a:ln/>
        </p:spPr>
        <p:txBody>
          <a:bodyPr wrap="square" rtlCol="0" anchor="ctr"/>
          <a:lstStyle/>
          <a:p>
            <a:pPr marL="0" indent="0">
              <a:lnSpc>
                <a:spcPct val="115000"/>
              </a:lnSpc>
              <a:buNone/>
            </a:pPr>
            <a:r>
              <a:rPr lang="en-US" sz="1200" dirty="0">
                <a:solidFill>
                  <a:srgbClr val="6B6B7B"/>
                </a:solidFill>
                <a:latin typeface="Calibri" pitchFamily="34" charset="0"/>
                <a:ea typeface="Calibri" pitchFamily="34" charset="-122"/>
                <a:cs typeface="Calibri" pitchFamily="34" charset="-120"/>
              </a:rPr>
              <a:t>useState manages form inputs and roast list; useEffect fetches data on component mount.</a:t>
            </a:r>
            <a:endParaRPr lang="en-US" sz="1200" dirty="0"/>
          </a:p>
        </p:txBody>
      </p:sp>
      <p:sp>
        <p:nvSpPr>
          <p:cNvPr id="13" name="Shape 9"/>
          <p:cNvSpPr/>
          <p:nvPr/>
        </p:nvSpPr>
        <p:spPr>
          <a:xfrm>
            <a:off x="4709160" y="2770632"/>
            <a:ext cx="502920" cy="502920"/>
          </a:xfrm>
          <a:prstGeom prst="ellipse">
            <a:avLst/>
          </a:prstGeom>
          <a:solidFill>
            <a:srgbClr val="C81D25"/>
          </a:solidFill>
          <a:ln/>
        </p:spPr>
        <p:txBody>
          <a:bodyPr/>
          <a:lstStyle/>
          <a:p>
            <a:endParaRPr lang="en-IN"/>
          </a:p>
        </p:txBody>
      </p:sp>
      <p:pic>
        <p:nvPicPr>
          <p:cNvPr id="14" name="Image 2" descr="/home/claude/icons/cubes.png"/>
          <p:cNvPicPr>
            <a:picLocks noChangeAspect="1"/>
          </p:cNvPicPr>
          <p:nvPr/>
        </p:nvPicPr>
        <p:blipFill>
          <a:blip r:embed="rId5"/>
          <a:stretch>
            <a:fillRect/>
          </a:stretch>
        </p:blipFill>
        <p:spPr>
          <a:xfrm>
            <a:off x="4822317" y="2883789"/>
            <a:ext cx="276606" cy="276606"/>
          </a:xfrm>
          <a:prstGeom prst="rect">
            <a:avLst/>
          </a:prstGeom>
        </p:spPr>
      </p:pic>
      <p:sp>
        <p:nvSpPr>
          <p:cNvPr id="15" name="Text 10"/>
          <p:cNvSpPr/>
          <p:nvPr/>
        </p:nvSpPr>
        <p:spPr>
          <a:xfrm>
            <a:off x="5394960" y="2752344"/>
            <a:ext cx="6263640" cy="274320"/>
          </a:xfrm>
          <a:prstGeom prst="rect">
            <a:avLst/>
          </a:prstGeom>
          <a:noFill/>
          <a:ln/>
        </p:spPr>
        <p:txBody>
          <a:bodyPr wrap="square" rtlCol="0" anchor="ctr"/>
          <a:lstStyle/>
          <a:p>
            <a:pPr marL="0" indent="0">
              <a:buNone/>
            </a:pPr>
            <a:r>
              <a:rPr lang="en-US" sz="1400" b="1" dirty="0">
                <a:solidFill>
                  <a:srgbClr val="7A0C0C"/>
                </a:solidFill>
                <a:latin typeface="Calibri" pitchFamily="34" charset="0"/>
                <a:ea typeface="Calibri" pitchFamily="34" charset="-122"/>
                <a:cs typeface="Calibri" pitchFamily="34" charset="-120"/>
              </a:rPr>
              <a:t>Functional Components</a:t>
            </a:r>
            <a:endParaRPr lang="en-US" sz="1400" dirty="0"/>
          </a:p>
        </p:txBody>
      </p:sp>
      <p:sp>
        <p:nvSpPr>
          <p:cNvPr id="16" name="Text 11"/>
          <p:cNvSpPr/>
          <p:nvPr/>
        </p:nvSpPr>
        <p:spPr>
          <a:xfrm>
            <a:off x="5394960" y="3044952"/>
            <a:ext cx="6263640" cy="502920"/>
          </a:xfrm>
          <a:prstGeom prst="rect">
            <a:avLst/>
          </a:prstGeom>
          <a:noFill/>
          <a:ln/>
        </p:spPr>
        <p:txBody>
          <a:bodyPr wrap="square" rtlCol="0" anchor="ctr"/>
          <a:lstStyle/>
          <a:p>
            <a:pPr marL="0" indent="0">
              <a:lnSpc>
                <a:spcPct val="115000"/>
              </a:lnSpc>
              <a:buNone/>
            </a:pPr>
            <a:r>
              <a:rPr lang="en-US" sz="1200" dirty="0">
                <a:solidFill>
                  <a:srgbClr val="6B6B7B"/>
                </a:solidFill>
                <a:latin typeface="Calibri" pitchFamily="34" charset="0"/>
                <a:ea typeface="Calibri" pitchFamily="34" charset="-122"/>
                <a:cs typeface="Calibri" pitchFamily="34" charset="-120"/>
              </a:rPr>
              <a:t>The entire UI lives in a single App.jsx component using modern functional React patterns.</a:t>
            </a:r>
            <a:endParaRPr lang="en-US" sz="1200" dirty="0"/>
          </a:p>
        </p:txBody>
      </p:sp>
      <p:sp>
        <p:nvSpPr>
          <p:cNvPr id="17" name="Shape 12"/>
          <p:cNvSpPr/>
          <p:nvPr/>
        </p:nvSpPr>
        <p:spPr>
          <a:xfrm>
            <a:off x="4709160" y="3803904"/>
            <a:ext cx="502920" cy="502920"/>
          </a:xfrm>
          <a:prstGeom prst="ellipse">
            <a:avLst/>
          </a:prstGeom>
          <a:solidFill>
            <a:srgbClr val="C81D25"/>
          </a:solidFill>
          <a:ln/>
        </p:spPr>
        <p:txBody>
          <a:bodyPr/>
          <a:lstStyle/>
          <a:p>
            <a:endParaRPr lang="en-IN"/>
          </a:p>
        </p:txBody>
      </p:sp>
      <p:pic>
        <p:nvPicPr>
          <p:cNvPr id="18" name="Image 3" descr="/home/claude/icons/wifi.png"/>
          <p:cNvPicPr>
            <a:picLocks noChangeAspect="1"/>
          </p:cNvPicPr>
          <p:nvPr/>
        </p:nvPicPr>
        <p:blipFill>
          <a:blip r:embed="rId6"/>
          <a:stretch>
            <a:fillRect/>
          </a:stretch>
        </p:blipFill>
        <p:spPr>
          <a:xfrm>
            <a:off x="4822317" y="3917061"/>
            <a:ext cx="276606" cy="276606"/>
          </a:xfrm>
          <a:prstGeom prst="rect">
            <a:avLst/>
          </a:prstGeom>
        </p:spPr>
      </p:pic>
      <p:sp>
        <p:nvSpPr>
          <p:cNvPr id="19" name="Text 13"/>
          <p:cNvSpPr/>
          <p:nvPr/>
        </p:nvSpPr>
        <p:spPr>
          <a:xfrm>
            <a:off x="5394960" y="3785616"/>
            <a:ext cx="6263640" cy="274320"/>
          </a:xfrm>
          <a:prstGeom prst="rect">
            <a:avLst/>
          </a:prstGeom>
          <a:noFill/>
          <a:ln/>
        </p:spPr>
        <p:txBody>
          <a:bodyPr wrap="square" rtlCol="0" anchor="ctr"/>
          <a:lstStyle/>
          <a:p>
            <a:pPr marL="0" indent="0">
              <a:buNone/>
            </a:pPr>
            <a:r>
              <a:rPr lang="en-US" sz="1400" b="1" dirty="0">
                <a:solidFill>
                  <a:srgbClr val="7A0C0C"/>
                </a:solidFill>
                <a:latin typeface="Calibri" pitchFamily="34" charset="0"/>
                <a:ea typeface="Calibri" pitchFamily="34" charset="-122"/>
                <a:cs typeface="Calibri" pitchFamily="34" charset="-120"/>
              </a:rPr>
              <a:t>Fetch API Integration</a:t>
            </a:r>
            <a:endParaRPr lang="en-US" sz="1400" dirty="0"/>
          </a:p>
        </p:txBody>
      </p:sp>
      <p:sp>
        <p:nvSpPr>
          <p:cNvPr id="20" name="Text 14"/>
          <p:cNvSpPr/>
          <p:nvPr/>
        </p:nvSpPr>
        <p:spPr>
          <a:xfrm>
            <a:off x="5394960" y="4078224"/>
            <a:ext cx="6263640" cy="502920"/>
          </a:xfrm>
          <a:prstGeom prst="rect">
            <a:avLst/>
          </a:prstGeom>
          <a:noFill/>
          <a:ln/>
        </p:spPr>
        <p:txBody>
          <a:bodyPr wrap="square" rtlCol="0" anchor="ctr"/>
          <a:lstStyle/>
          <a:p>
            <a:pPr marL="0" indent="0">
              <a:lnSpc>
                <a:spcPct val="115000"/>
              </a:lnSpc>
              <a:buNone/>
            </a:pPr>
            <a:r>
              <a:rPr lang="en-US" sz="1200" dirty="0">
                <a:solidFill>
                  <a:srgbClr val="6B6B7B"/>
                </a:solidFill>
                <a:latin typeface="Calibri" pitchFamily="34" charset="0"/>
                <a:ea typeface="Calibri" pitchFamily="34" charset="-122"/>
                <a:cs typeface="Calibri" pitchFamily="34" charset="-120"/>
              </a:rPr>
              <a:t>Communicates with the backend via fetch(), reading the API URL from an environment variable.</a:t>
            </a:r>
            <a:endParaRPr lang="en-US" sz="1200" dirty="0"/>
          </a:p>
        </p:txBody>
      </p:sp>
      <p:sp>
        <p:nvSpPr>
          <p:cNvPr id="21" name="Shape 15"/>
          <p:cNvSpPr/>
          <p:nvPr/>
        </p:nvSpPr>
        <p:spPr>
          <a:xfrm>
            <a:off x="4709160" y="4837176"/>
            <a:ext cx="502920" cy="502920"/>
          </a:xfrm>
          <a:prstGeom prst="ellipse">
            <a:avLst/>
          </a:prstGeom>
          <a:solidFill>
            <a:srgbClr val="C81D25"/>
          </a:solidFill>
          <a:ln/>
        </p:spPr>
        <p:txBody>
          <a:bodyPr/>
          <a:lstStyle/>
          <a:p>
            <a:endParaRPr lang="en-IN"/>
          </a:p>
        </p:txBody>
      </p:sp>
      <p:pic>
        <p:nvPicPr>
          <p:cNvPr id="22" name="Image 4" descr="/home/claude/icons/paintbrush.png"/>
          <p:cNvPicPr>
            <a:picLocks noChangeAspect="1"/>
          </p:cNvPicPr>
          <p:nvPr/>
        </p:nvPicPr>
        <p:blipFill>
          <a:blip r:embed="rId7"/>
          <a:stretch>
            <a:fillRect/>
          </a:stretch>
        </p:blipFill>
        <p:spPr>
          <a:xfrm>
            <a:off x="4822317" y="4950333"/>
            <a:ext cx="276606" cy="276606"/>
          </a:xfrm>
          <a:prstGeom prst="rect">
            <a:avLst/>
          </a:prstGeom>
        </p:spPr>
      </p:pic>
      <p:sp>
        <p:nvSpPr>
          <p:cNvPr id="23" name="Text 16"/>
          <p:cNvSpPr/>
          <p:nvPr/>
        </p:nvSpPr>
        <p:spPr>
          <a:xfrm>
            <a:off x="5394960" y="4818888"/>
            <a:ext cx="6263640" cy="274320"/>
          </a:xfrm>
          <a:prstGeom prst="rect">
            <a:avLst/>
          </a:prstGeom>
          <a:noFill/>
          <a:ln/>
        </p:spPr>
        <p:txBody>
          <a:bodyPr wrap="square" rtlCol="0" anchor="ctr"/>
          <a:lstStyle/>
          <a:p>
            <a:pPr marL="0" indent="0">
              <a:buNone/>
            </a:pPr>
            <a:r>
              <a:rPr lang="en-US" sz="1400" b="1" dirty="0">
                <a:solidFill>
                  <a:srgbClr val="7A0C0C"/>
                </a:solidFill>
                <a:latin typeface="Calibri" pitchFamily="34" charset="0"/>
                <a:ea typeface="Calibri" pitchFamily="34" charset="-122"/>
                <a:cs typeface="Calibri" pitchFamily="34" charset="-120"/>
              </a:rPr>
              <a:t>Custom CSS Styling</a:t>
            </a:r>
            <a:endParaRPr lang="en-US" sz="1400" dirty="0"/>
          </a:p>
        </p:txBody>
      </p:sp>
      <p:sp>
        <p:nvSpPr>
          <p:cNvPr id="24" name="Text 17"/>
          <p:cNvSpPr/>
          <p:nvPr/>
        </p:nvSpPr>
        <p:spPr>
          <a:xfrm>
            <a:off x="5394960" y="5111496"/>
            <a:ext cx="6263640" cy="502920"/>
          </a:xfrm>
          <a:prstGeom prst="rect">
            <a:avLst/>
          </a:prstGeom>
          <a:noFill/>
          <a:ln/>
        </p:spPr>
        <p:txBody>
          <a:bodyPr wrap="square" rtlCol="0" anchor="ctr"/>
          <a:lstStyle/>
          <a:p>
            <a:pPr marL="0" indent="0">
              <a:lnSpc>
                <a:spcPct val="115000"/>
              </a:lnSpc>
              <a:buNone/>
            </a:pPr>
            <a:r>
              <a:rPr lang="en-US" sz="1200" dirty="0">
                <a:solidFill>
                  <a:srgbClr val="6B6B7B"/>
                </a:solidFill>
                <a:latin typeface="Calibri" pitchFamily="34" charset="0"/>
                <a:ea typeface="Calibri" pitchFamily="34" charset="-122"/>
                <a:cs typeface="Calibri" pitchFamily="34" charset="-120"/>
              </a:rPr>
              <a:t>Hand-crafted App.css delivers a bold, gradient-driven, responsive card-based interface.</a:t>
            </a:r>
            <a:endParaRPr lang="en-US" sz="1200" dirty="0"/>
          </a:p>
        </p:txBody>
      </p:sp>
      <p:sp>
        <p:nvSpPr>
          <p:cNvPr id="25" name="Text 18"/>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6B6B7B"/>
                </a:solidFill>
                <a:latin typeface="Calibri" pitchFamily="34" charset="0"/>
                <a:ea typeface="Calibri" pitchFamily="34" charset="-122"/>
                <a:cs typeface="Calibri" pitchFamily="34" charset="-120"/>
              </a:rPr>
              <a:t>ILikeIt — The Ultimate Roast Vault</a:t>
            </a:r>
            <a:endParaRPr lang="en-US" sz="1000" dirty="0"/>
          </a:p>
        </p:txBody>
      </p:sp>
      <p:sp>
        <p:nvSpPr>
          <p:cNvPr id="26" name="Text 19"/>
          <p:cNvSpPr/>
          <p:nvPr/>
        </p:nvSpPr>
        <p:spPr>
          <a:xfrm>
            <a:off x="11430000" y="6537960"/>
            <a:ext cx="457200" cy="274320"/>
          </a:xfrm>
          <a:prstGeom prst="rect">
            <a:avLst/>
          </a:prstGeom>
          <a:noFill/>
          <a:ln/>
        </p:spPr>
        <p:txBody>
          <a:bodyPr wrap="square" rtlCol="0" anchor="ctr"/>
          <a:lstStyle/>
          <a:p>
            <a:pPr marL="0" indent="0" algn="r">
              <a:buNone/>
            </a:pPr>
            <a:r>
              <a:rPr lang="en-US" sz="1000" dirty="0">
                <a:solidFill>
                  <a:srgbClr val="6B6B7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8"/>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marL="0" indent="0">
              <a:buNone/>
            </a:pPr>
            <a:r>
              <a:rPr lang="en-US" sz="3400" b="1" dirty="0">
                <a:solidFill>
                  <a:srgbClr val="7A0C0C"/>
                </a:solidFill>
                <a:latin typeface="Cambria" pitchFamily="34" charset="0"/>
                <a:ea typeface="Cambria" pitchFamily="34" charset="-122"/>
                <a:cs typeface="Cambria" pitchFamily="34" charset="-120"/>
              </a:rPr>
              <a:t>Backend Architecture</a:t>
            </a:r>
            <a:endParaRPr lang="en-US" sz="3400" dirty="0"/>
          </a:p>
        </p:txBody>
      </p:sp>
      <p:sp>
        <p:nvSpPr>
          <p:cNvPr id="3" name="Text 1"/>
          <p:cNvSpPr/>
          <p:nvPr/>
        </p:nvSpPr>
        <p:spPr>
          <a:xfrm>
            <a:off x="548640" y="1143000"/>
            <a:ext cx="8229600" cy="365760"/>
          </a:xfrm>
          <a:prstGeom prst="rect">
            <a:avLst/>
          </a:prstGeom>
          <a:noFill/>
          <a:ln/>
        </p:spPr>
        <p:txBody>
          <a:bodyPr wrap="square" rtlCol="0" anchor="ctr"/>
          <a:lstStyle/>
          <a:p>
            <a:pPr marL="0" indent="0">
              <a:buNone/>
            </a:pPr>
            <a:r>
              <a:rPr lang="en-US" sz="1600" b="1" dirty="0">
                <a:solidFill>
                  <a:srgbClr val="C81D25"/>
                </a:solidFill>
                <a:latin typeface="Calibri" pitchFamily="34" charset="0"/>
                <a:ea typeface="Calibri" pitchFamily="34" charset="-122"/>
                <a:cs typeface="Calibri" pitchFamily="34" charset="-120"/>
              </a:rPr>
              <a:t>Node.js + Express 5 REST API</a:t>
            </a:r>
            <a:endParaRPr lang="en-US" sz="1600" dirty="0"/>
          </a:p>
        </p:txBody>
      </p:sp>
      <p:sp>
        <p:nvSpPr>
          <p:cNvPr id="4" name="Shape 2"/>
          <p:cNvSpPr/>
          <p:nvPr/>
        </p:nvSpPr>
        <p:spPr>
          <a:xfrm>
            <a:off x="7955280" y="1737360"/>
            <a:ext cx="3657600" cy="4251960"/>
          </a:xfrm>
          <a:prstGeom prst="roundRect">
            <a:avLst>
              <a:gd name="adj" fmla="val 3000"/>
            </a:avLst>
          </a:prstGeom>
          <a:solidFill>
            <a:srgbClr val="7A0C0C"/>
          </a:solidFill>
          <a:ln/>
        </p:spPr>
        <p:txBody>
          <a:bodyPr/>
          <a:lstStyle/>
          <a:p>
            <a:endParaRPr lang="en-IN"/>
          </a:p>
        </p:txBody>
      </p:sp>
      <p:sp>
        <p:nvSpPr>
          <p:cNvPr id="5" name="Shape 3"/>
          <p:cNvSpPr/>
          <p:nvPr/>
        </p:nvSpPr>
        <p:spPr>
          <a:xfrm>
            <a:off x="9372600" y="3063240"/>
            <a:ext cx="1234440" cy="1234440"/>
          </a:xfrm>
          <a:prstGeom prst="ellipse">
            <a:avLst/>
          </a:prstGeom>
          <a:solidFill>
            <a:srgbClr val="C81D25"/>
          </a:solidFill>
          <a:ln/>
        </p:spPr>
        <p:txBody>
          <a:bodyPr/>
          <a:lstStyle/>
          <a:p>
            <a:endParaRPr lang="en-IN"/>
          </a:p>
        </p:txBody>
      </p:sp>
      <p:pic>
        <p:nvPicPr>
          <p:cNvPr id="6" name="Image 0" descr="/home/claude/icons/server.png"/>
          <p:cNvPicPr>
            <a:picLocks noChangeAspect="1"/>
          </p:cNvPicPr>
          <p:nvPr/>
        </p:nvPicPr>
        <p:blipFill>
          <a:blip r:embed="rId3"/>
          <a:stretch>
            <a:fillRect/>
          </a:stretch>
        </p:blipFill>
        <p:spPr>
          <a:xfrm>
            <a:off x="9619488" y="3310128"/>
            <a:ext cx="740664" cy="740664"/>
          </a:xfrm>
          <a:prstGeom prst="rect">
            <a:avLst/>
          </a:prstGeom>
        </p:spPr>
      </p:pic>
      <p:sp>
        <p:nvSpPr>
          <p:cNvPr id="7" name="Text 4"/>
          <p:cNvSpPr/>
          <p:nvPr/>
        </p:nvSpPr>
        <p:spPr>
          <a:xfrm>
            <a:off x="8183880" y="4526280"/>
            <a:ext cx="3200400" cy="365760"/>
          </a:xfrm>
          <a:prstGeom prst="rect">
            <a:avLst/>
          </a:prstGeom>
          <a:noFill/>
          <a:ln/>
        </p:spPr>
        <p:txBody>
          <a:bodyPr wrap="square"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server.js</a:t>
            </a:r>
            <a:endParaRPr lang="en-US" sz="1400" dirty="0"/>
          </a:p>
        </p:txBody>
      </p:sp>
      <p:sp>
        <p:nvSpPr>
          <p:cNvPr id="8" name="Text 5"/>
          <p:cNvSpPr/>
          <p:nvPr/>
        </p:nvSpPr>
        <p:spPr>
          <a:xfrm>
            <a:off x="8183880" y="4892040"/>
            <a:ext cx="3200400" cy="640080"/>
          </a:xfrm>
          <a:prstGeom prst="rect">
            <a:avLst/>
          </a:prstGeom>
          <a:noFill/>
          <a:ln/>
        </p:spPr>
        <p:txBody>
          <a:bodyPr wrap="square" rtlCol="0" anchor="ctr"/>
          <a:lstStyle/>
          <a:p>
            <a:pPr marL="0" indent="0" algn="ctr">
              <a:lnSpc>
                <a:spcPct val="120000"/>
              </a:lnSpc>
              <a:buNone/>
            </a:pPr>
            <a:r>
              <a:rPr lang="en-US" sz="1150" dirty="0">
                <a:solidFill>
                  <a:srgbClr val="F2D2C9"/>
                </a:solidFill>
                <a:latin typeface="Calibri" pitchFamily="34" charset="0"/>
                <a:ea typeface="Calibri" pitchFamily="34" charset="-122"/>
                <a:cs typeface="Calibri" pitchFamily="34" charset="-120"/>
              </a:rPr>
              <a:t>Listens on port 5000, exposes /roasts routes</a:t>
            </a:r>
            <a:endParaRPr lang="en-US" sz="1150" dirty="0"/>
          </a:p>
        </p:txBody>
      </p:sp>
      <p:sp>
        <p:nvSpPr>
          <p:cNvPr id="9" name="Shape 6"/>
          <p:cNvSpPr/>
          <p:nvPr/>
        </p:nvSpPr>
        <p:spPr>
          <a:xfrm>
            <a:off x="548640" y="1737360"/>
            <a:ext cx="548640" cy="548640"/>
          </a:xfrm>
          <a:prstGeom prst="ellipse">
            <a:avLst/>
          </a:prstGeom>
          <a:solidFill>
            <a:srgbClr val="C81D25"/>
          </a:solidFill>
          <a:ln/>
        </p:spPr>
        <p:txBody>
          <a:bodyPr/>
          <a:lstStyle/>
          <a:p>
            <a:endParaRPr lang="en-IN"/>
          </a:p>
        </p:txBody>
      </p:sp>
      <p:pic>
        <p:nvPicPr>
          <p:cNvPr id="10" name="Image 1" descr="/home/claude/icons/express.png"/>
          <p:cNvPicPr>
            <a:picLocks noChangeAspect="1"/>
          </p:cNvPicPr>
          <p:nvPr/>
        </p:nvPicPr>
        <p:blipFill>
          <a:blip r:embed="rId4"/>
          <a:stretch>
            <a:fillRect/>
          </a:stretch>
        </p:blipFill>
        <p:spPr>
          <a:xfrm>
            <a:off x="672084" y="1860804"/>
            <a:ext cx="301752" cy="301752"/>
          </a:xfrm>
          <a:prstGeom prst="rect">
            <a:avLst/>
          </a:prstGeom>
        </p:spPr>
      </p:pic>
      <p:sp>
        <p:nvSpPr>
          <p:cNvPr id="11" name="Text 7"/>
          <p:cNvSpPr/>
          <p:nvPr/>
        </p:nvSpPr>
        <p:spPr>
          <a:xfrm>
            <a:off x="1280160" y="1719072"/>
            <a:ext cx="6309360" cy="274320"/>
          </a:xfrm>
          <a:prstGeom prst="rect">
            <a:avLst/>
          </a:prstGeom>
          <a:noFill/>
          <a:ln/>
        </p:spPr>
        <p:txBody>
          <a:bodyPr wrap="square" rtlCol="0" anchor="ctr"/>
          <a:lstStyle/>
          <a:p>
            <a:pPr marL="0" indent="0">
              <a:buNone/>
            </a:pPr>
            <a:r>
              <a:rPr lang="en-US" sz="1400" b="1" dirty="0">
                <a:solidFill>
                  <a:srgbClr val="7A0C0C"/>
                </a:solidFill>
                <a:latin typeface="Calibri" pitchFamily="34" charset="0"/>
                <a:ea typeface="Calibri" pitchFamily="34" charset="-122"/>
                <a:cs typeface="Calibri" pitchFamily="34" charset="-120"/>
              </a:rPr>
              <a:t>Express 5 Routing</a:t>
            </a:r>
            <a:endParaRPr lang="en-US" sz="1400" dirty="0"/>
          </a:p>
        </p:txBody>
      </p:sp>
      <p:sp>
        <p:nvSpPr>
          <p:cNvPr id="12" name="Text 8"/>
          <p:cNvSpPr/>
          <p:nvPr/>
        </p:nvSpPr>
        <p:spPr>
          <a:xfrm>
            <a:off x="1280160" y="2011680"/>
            <a:ext cx="6309360" cy="548640"/>
          </a:xfrm>
          <a:prstGeom prst="rect">
            <a:avLst/>
          </a:prstGeom>
          <a:noFill/>
          <a:ln/>
        </p:spPr>
        <p:txBody>
          <a:bodyPr wrap="square" rtlCol="0" anchor="ctr"/>
          <a:lstStyle/>
          <a:p>
            <a:pPr marL="0" indent="0">
              <a:lnSpc>
                <a:spcPct val="115000"/>
              </a:lnSpc>
              <a:buNone/>
            </a:pPr>
            <a:r>
              <a:rPr lang="en-US" sz="1200" dirty="0">
                <a:solidFill>
                  <a:srgbClr val="6B6B7B"/>
                </a:solidFill>
                <a:latin typeface="Calibri" pitchFamily="34" charset="0"/>
                <a:ea typeface="Calibri" pitchFamily="34" charset="-122"/>
                <a:cs typeface="Calibri" pitchFamily="34" charset="-120"/>
              </a:rPr>
              <a:t>Defines GET, POST, PUT and DELETE handlers for the /roasts resource.</a:t>
            </a:r>
            <a:endParaRPr lang="en-US" sz="1200" dirty="0"/>
          </a:p>
        </p:txBody>
      </p:sp>
      <p:sp>
        <p:nvSpPr>
          <p:cNvPr id="13" name="Shape 9"/>
          <p:cNvSpPr/>
          <p:nvPr/>
        </p:nvSpPr>
        <p:spPr>
          <a:xfrm>
            <a:off x="548640" y="2770632"/>
            <a:ext cx="548640" cy="548640"/>
          </a:xfrm>
          <a:prstGeom prst="ellipse">
            <a:avLst/>
          </a:prstGeom>
          <a:solidFill>
            <a:srgbClr val="C81D25"/>
          </a:solidFill>
          <a:ln/>
        </p:spPr>
        <p:txBody>
          <a:bodyPr/>
          <a:lstStyle/>
          <a:p>
            <a:endParaRPr lang="en-IN"/>
          </a:p>
        </p:txBody>
      </p:sp>
      <p:pic>
        <p:nvPicPr>
          <p:cNvPr id="14" name="Image 2" descr="/home/claude/icons/shield.png"/>
          <p:cNvPicPr>
            <a:picLocks noChangeAspect="1"/>
          </p:cNvPicPr>
          <p:nvPr/>
        </p:nvPicPr>
        <p:blipFill>
          <a:blip r:embed="rId5"/>
          <a:stretch>
            <a:fillRect/>
          </a:stretch>
        </p:blipFill>
        <p:spPr>
          <a:xfrm>
            <a:off x="672084" y="2894076"/>
            <a:ext cx="301752" cy="301752"/>
          </a:xfrm>
          <a:prstGeom prst="rect">
            <a:avLst/>
          </a:prstGeom>
        </p:spPr>
      </p:pic>
      <p:sp>
        <p:nvSpPr>
          <p:cNvPr id="15" name="Text 10"/>
          <p:cNvSpPr/>
          <p:nvPr/>
        </p:nvSpPr>
        <p:spPr>
          <a:xfrm>
            <a:off x="1280160" y="2752344"/>
            <a:ext cx="6309360" cy="274320"/>
          </a:xfrm>
          <a:prstGeom prst="rect">
            <a:avLst/>
          </a:prstGeom>
          <a:noFill/>
          <a:ln/>
        </p:spPr>
        <p:txBody>
          <a:bodyPr wrap="square" rtlCol="0" anchor="ctr"/>
          <a:lstStyle/>
          <a:p>
            <a:pPr marL="0" indent="0">
              <a:buNone/>
            </a:pPr>
            <a:r>
              <a:rPr lang="en-US" sz="1400" b="1" dirty="0">
                <a:solidFill>
                  <a:srgbClr val="7A0C0C"/>
                </a:solidFill>
                <a:latin typeface="Calibri" pitchFamily="34" charset="0"/>
                <a:ea typeface="Calibri" pitchFamily="34" charset="-122"/>
                <a:cs typeface="Calibri" pitchFamily="34" charset="-120"/>
              </a:rPr>
              <a:t>Middleware Stack</a:t>
            </a:r>
            <a:endParaRPr lang="en-US" sz="1400" dirty="0"/>
          </a:p>
        </p:txBody>
      </p:sp>
      <p:sp>
        <p:nvSpPr>
          <p:cNvPr id="16" name="Text 11"/>
          <p:cNvSpPr/>
          <p:nvPr/>
        </p:nvSpPr>
        <p:spPr>
          <a:xfrm>
            <a:off x="1280160" y="3044952"/>
            <a:ext cx="6309360" cy="548640"/>
          </a:xfrm>
          <a:prstGeom prst="rect">
            <a:avLst/>
          </a:prstGeom>
          <a:noFill/>
          <a:ln/>
        </p:spPr>
        <p:txBody>
          <a:bodyPr wrap="square" rtlCol="0" anchor="ctr"/>
          <a:lstStyle/>
          <a:p>
            <a:pPr marL="0" indent="0">
              <a:lnSpc>
                <a:spcPct val="115000"/>
              </a:lnSpc>
              <a:buNone/>
            </a:pPr>
            <a:r>
              <a:rPr lang="en-US" sz="1200" dirty="0">
                <a:solidFill>
                  <a:srgbClr val="6B6B7B"/>
                </a:solidFill>
                <a:latin typeface="Calibri" pitchFamily="34" charset="0"/>
                <a:ea typeface="Calibri" pitchFamily="34" charset="-122"/>
                <a:cs typeface="Calibri" pitchFamily="34" charset="-120"/>
              </a:rPr>
              <a:t>cors() enables cross-origin requests; express.json() parses incoming request bodies.</a:t>
            </a:r>
            <a:endParaRPr lang="en-US" sz="1200" dirty="0"/>
          </a:p>
        </p:txBody>
      </p:sp>
      <p:sp>
        <p:nvSpPr>
          <p:cNvPr id="17" name="Shape 12"/>
          <p:cNvSpPr/>
          <p:nvPr/>
        </p:nvSpPr>
        <p:spPr>
          <a:xfrm>
            <a:off x="548640" y="3803904"/>
            <a:ext cx="548640" cy="548640"/>
          </a:xfrm>
          <a:prstGeom prst="ellipse">
            <a:avLst/>
          </a:prstGeom>
          <a:solidFill>
            <a:srgbClr val="C81D25"/>
          </a:solidFill>
          <a:ln/>
        </p:spPr>
        <p:txBody>
          <a:bodyPr/>
          <a:lstStyle/>
          <a:p>
            <a:endParaRPr lang="en-IN"/>
          </a:p>
        </p:txBody>
      </p:sp>
      <p:pic>
        <p:nvPicPr>
          <p:cNvPr id="18" name="Image 3" descr="/home/claude/icons/database.png"/>
          <p:cNvPicPr>
            <a:picLocks noChangeAspect="1"/>
          </p:cNvPicPr>
          <p:nvPr/>
        </p:nvPicPr>
        <p:blipFill>
          <a:blip r:embed="rId6"/>
          <a:stretch>
            <a:fillRect/>
          </a:stretch>
        </p:blipFill>
        <p:spPr>
          <a:xfrm>
            <a:off x="672084" y="3927348"/>
            <a:ext cx="301752" cy="301752"/>
          </a:xfrm>
          <a:prstGeom prst="rect">
            <a:avLst/>
          </a:prstGeom>
        </p:spPr>
      </p:pic>
      <p:sp>
        <p:nvSpPr>
          <p:cNvPr id="19" name="Text 13"/>
          <p:cNvSpPr/>
          <p:nvPr/>
        </p:nvSpPr>
        <p:spPr>
          <a:xfrm>
            <a:off x="1280160" y="3785616"/>
            <a:ext cx="6309360" cy="274320"/>
          </a:xfrm>
          <a:prstGeom prst="rect">
            <a:avLst/>
          </a:prstGeom>
          <a:noFill/>
          <a:ln/>
        </p:spPr>
        <p:txBody>
          <a:bodyPr wrap="square" rtlCol="0" anchor="ctr"/>
          <a:lstStyle/>
          <a:p>
            <a:pPr marL="0" indent="0">
              <a:buNone/>
            </a:pPr>
            <a:r>
              <a:rPr lang="en-US" sz="1400" b="1" dirty="0">
                <a:solidFill>
                  <a:srgbClr val="7A0C0C"/>
                </a:solidFill>
                <a:latin typeface="Calibri" pitchFamily="34" charset="0"/>
                <a:ea typeface="Calibri" pitchFamily="34" charset="-122"/>
                <a:cs typeface="Calibri" pitchFamily="34" charset="-120"/>
              </a:rPr>
              <a:t>PostgreSQL Pool</a:t>
            </a:r>
            <a:endParaRPr lang="en-US" sz="1400" dirty="0"/>
          </a:p>
        </p:txBody>
      </p:sp>
      <p:sp>
        <p:nvSpPr>
          <p:cNvPr id="20" name="Text 14"/>
          <p:cNvSpPr/>
          <p:nvPr/>
        </p:nvSpPr>
        <p:spPr>
          <a:xfrm>
            <a:off x="1280160" y="4078224"/>
            <a:ext cx="6309360" cy="548640"/>
          </a:xfrm>
          <a:prstGeom prst="rect">
            <a:avLst/>
          </a:prstGeom>
          <a:noFill/>
          <a:ln/>
        </p:spPr>
        <p:txBody>
          <a:bodyPr wrap="square" rtlCol="0" anchor="ctr"/>
          <a:lstStyle/>
          <a:p>
            <a:pPr marL="0" indent="0">
              <a:lnSpc>
                <a:spcPct val="115000"/>
              </a:lnSpc>
              <a:buNone/>
            </a:pPr>
            <a:r>
              <a:rPr lang="en-US" sz="1200" dirty="0">
                <a:solidFill>
                  <a:srgbClr val="6B6B7B"/>
                </a:solidFill>
                <a:latin typeface="Calibri" pitchFamily="34" charset="0"/>
                <a:ea typeface="Calibri" pitchFamily="34" charset="-122"/>
                <a:cs typeface="Calibri" pitchFamily="34" charset="-120"/>
              </a:rPr>
              <a:t>Uses the pg library's connection Pool for efficient, reusable database connections.</a:t>
            </a:r>
            <a:endParaRPr lang="en-US" sz="1200" dirty="0"/>
          </a:p>
        </p:txBody>
      </p:sp>
      <p:sp>
        <p:nvSpPr>
          <p:cNvPr id="21" name="Shape 15"/>
          <p:cNvSpPr/>
          <p:nvPr/>
        </p:nvSpPr>
        <p:spPr>
          <a:xfrm>
            <a:off x="548640" y="4837176"/>
            <a:ext cx="548640" cy="548640"/>
          </a:xfrm>
          <a:prstGeom prst="ellipse">
            <a:avLst/>
          </a:prstGeom>
          <a:solidFill>
            <a:srgbClr val="C81D25"/>
          </a:solidFill>
          <a:ln/>
        </p:spPr>
        <p:txBody>
          <a:bodyPr/>
          <a:lstStyle/>
          <a:p>
            <a:endParaRPr lang="en-IN"/>
          </a:p>
        </p:txBody>
      </p:sp>
      <p:pic>
        <p:nvPicPr>
          <p:cNvPr id="22" name="Image 4" descr="/home/claude/icons/lock.png"/>
          <p:cNvPicPr>
            <a:picLocks noChangeAspect="1"/>
          </p:cNvPicPr>
          <p:nvPr/>
        </p:nvPicPr>
        <p:blipFill>
          <a:blip r:embed="rId7"/>
          <a:stretch>
            <a:fillRect/>
          </a:stretch>
        </p:blipFill>
        <p:spPr>
          <a:xfrm>
            <a:off x="672084" y="4960620"/>
            <a:ext cx="301752" cy="301752"/>
          </a:xfrm>
          <a:prstGeom prst="rect">
            <a:avLst/>
          </a:prstGeom>
        </p:spPr>
      </p:pic>
      <p:sp>
        <p:nvSpPr>
          <p:cNvPr id="23" name="Text 16"/>
          <p:cNvSpPr/>
          <p:nvPr/>
        </p:nvSpPr>
        <p:spPr>
          <a:xfrm>
            <a:off x="1280160" y="4818888"/>
            <a:ext cx="6309360" cy="274320"/>
          </a:xfrm>
          <a:prstGeom prst="rect">
            <a:avLst/>
          </a:prstGeom>
          <a:noFill/>
          <a:ln/>
        </p:spPr>
        <p:txBody>
          <a:bodyPr wrap="square" rtlCol="0" anchor="ctr"/>
          <a:lstStyle/>
          <a:p>
            <a:pPr marL="0" indent="0">
              <a:buNone/>
            </a:pPr>
            <a:r>
              <a:rPr lang="en-US" sz="1400" b="1" dirty="0">
                <a:solidFill>
                  <a:srgbClr val="7A0C0C"/>
                </a:solidFill>
                <a:latin typeface="Calibri" pitchFamily="34" charset="0"/>
                <a:ea typeface="Calibri" pitchFamily="34" charset="-122"/>
                <a:cs typeface="Calibri" pitchFamily="34" charset="-120"/>
              </a:rPr>
              <a:t>Environment Config</a:t>
            </a:r>
            <a:endParaRPr lang="en-US" sz="1400" dirty="0"/>
          </a:p>
        </p:txBody>
      </p:sp>
      <p:sp>
        <p:nvSpPr>
          <p:cNvPr id="24" name="Text 17"/>
          <p:cNvSpPr/>
          <p:nvPr/>
        </p:nvSpPr>
        <p:spPr>
          <a:xfrm>
            <a:off x="1280160" y="5111496"/>
            <a:ext cx="6309360" cy="548640"/>
          </a:xfrm>
          <a:prstGeom prst="rect">
            <a:avLst/>
          </a:prstGeom>
          <a:noFill/>
          <a:ln/>
        </p:spPr>
        <p:txBody>
          <a:bodyPr wrap="square" rtlCol="0" anchor="ctr"/>
          <a:lstStyle/>
          <a:p>
            <a:pPr marL="0" indent="0">
              <a:lnSpc>
                <a:spcPct val="115000"/>
              </a:lnSpc>
              <a:buNone/>
            </a:pPr>
            <a:r>
              <a:rPr lang="en-US" sz="1200" dirty="0">
                <a:solidFill>
                  <a:srgbClr val="6B6B7B"/>
                </a:solidFill>
                <a:latin typeface="Calibri" pitchFamily="34" charset="0"/>
                <a:ea typeface="Calibri" pitchFamily="34" charset="-122"/>
                <a:cs typeface="Calibri" pitchFamily="34" charset="-120"/>
              </a:rPr>
              <a:t>dotenv loads DATABASE_URL and other secrets from a local .env file, kept out of source control.</a:t>
            </a:r>
            <a:endParaRPr lang="en-US" sz="1200" dirty="0"/>
          </a:p>
        </p:txBody>
      </p:sp>
      <p:sp>
        <p:nvSpPr>
          <p:cNvPr id="25" name="Text 18"/>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6B6B7B"/>
                </a:solidFill>
                <a:latin typeface="Calibri" pitchFamily="34" charset="0"/>
                <a:ea typeface="Calibri" pitchFamily="34" charset="-122"/>
                <a:cs typeface="Calibri" pitchFamily="34" charset="-120"/>
              </a:rPr>
              <a:t>ILikeIt — The Ultimate Roast Vault</a:t>
            </a:r>
            <a:endParaRPr lang="en-US" sz="1000" dirty="0"/>
          </a:p>
        </p:txBody>
      </p:sp>
      <p:sp>
        <p:nvSpPr>
          <p:cNvPr id="26" name="Text 19"/>
          <p:cNvSpPr/>
          <p:nvPr/>
        </p:nvSpPr>
        <p:spPr>
          <a:xfrm>
            <a:off x="11430000" y="6537960"/>
            <a:ext cx="457200" cy="274320"/>
          </a:xfrm>
          <a:prstGeom prst="rect">
            <a:avLst/>
          </a:prstGeom>
          <a:noFill/>
          <a:ln/>
        </p:spPr>
        <p:txBody>
          <a:bodyPr wrap="square" rtlCol="0" anchor="ctr"/>
          <a:lstStyle/>
          <a:p>
            <a:pPr marL="0" indent="0" algn="r">
              <a:buNone/>
            </a:pPr>
            <a:r>
              <a:rPr lang="en-US" sz="1000" dirty="0">
                <a:solidFill>
                  <a:srgbClr val="6B6B7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8"/>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marL="0" indent="0">
              <a:buNone/>
            </a:pPr>
            <a:r>
              <a:rPr lang="en-US" sz="3400" b="1" dirty="0">
                <a:solidFill>
                  <a:srgbClr val="7A0C0C"/>
                </a:solidFill>
                <a:latin typeface="Cambria" pitchFamily="34" charset="0"/>
                <a:ea typeface="Cambria" pitchFamily="34" charset="-122"/>
                <a:cs typeface="Cambria" pitchFamily="34" charset="-120"/>
              </a:rPr>
              <a:t>Database Design</a:t>
            </a:r>
            <a:endParaRPr lang="en-US" sz="3400" dirty="0"/>
          </a:p>
        </p:txBody>
      </p:sp>
      <p:sp>
        <p:nvSpPr>
          <p:cNvPr id="3" name="Text 1"/>
          <p:cNvSpPr/>
          <p:nvPr/>
        </p:nvSpPr>
        <p:spPr>
          <a:xfrm>
            <a:off x="548640" y="1143000"/>
            <a:ext cx="8229600" cy="365760"/>
          </a:xfrm>
          <a:prstGeom prst="rect">
            <a:avLst/>
          </a:prstGeom>
          <a:noFill/>
          <a:ln/>
        </p:spPr>
        <p:txBody>
          <a:bodyPr wrap="square" rtlCol="0" anchor="ctr"/>
          <a:lstStyle/>
          <a:p>
            <a:pPr marL="0" indent="0">
              <a:buNone/>
            </a:pPr>
            <a:r>
              <a:rPr lang="en-US" sz="1600" b="1" dirty="0">
                <a:solidFill>
                  <a:srgbClr val="C81D25"/>
                </a:solidFill>
                <a:latin typeface="Calibri" pitchFamily="34" charset="0"/>
                <a:ea typeface="Calibri" pitchFamily="34" charset="-122"/>
                <a:cs typeface="Calibri" pitchFamily="34" charset="-120"/>
              </a:rPr>
              <a:t>PostgreSQL — table: roasts</a:t>
            </a:r>
            <a:endParaRPr lang="en-US" sz="1600" dirty="0"/>
          </a:p>
        </p:txBody>
      </p:sp>
      <p:sp>
        <p:nvSpPr>
          <p:cNvPr id="4" name="Shape 2"/>
          <p:cNvSpPr/>
          <p:nvPr/>
        </p:nvSpPr>
        <p:spPr>
          <a:xfrm>
            <a:off x="548640" y="1783080"/>
            <a:ext cx="777240" cy="777240"/>
          </a:xfrm>
          <a:prstGeom prst="ellipse">
            <a:avLst/>
          </a:prstGeom>
          <a:solidFill>
            <a:srgbClr val="7A0C0C"/>
          </a:solidFill>
          <a:ln/>
        </p:spPr>
        <p:txBody>
          <a:bodyPr/>
          <a:lstStyle/>
          <a:p>
            <a:endParaRPr lang="en-IN"/>
          </a:p>
        </p:txBody>
      </p:sp>
      <p:pic>
        <p:nvPicPr>
          <p:cNvPr id="5" name="Image 0" descr="/home/claude/icons/postgres.png"/>
          <p:cNvPicPr>
            <a:picLocks noChangeAspect="1"/>
          </p:cNvPicPr>
          <p:nvPr/>
        </p:nvPicPr>
        <p:blipFill>
          <a:blip r:embed="rId3"/>
          <a:stretch>
            <a:fillRect/>
          </a:stretch>
        </p:blipFill>
        <p:spPr>
          <a:xfrm>
            <a:off x="723519" y="1957959"/>
            <a:ext cx="427482" cy="427482"/>
          </a:xfrm>
          <a:prstGeom prst="rect">
            <a:avLst/>
          </a:prstGeom>
        </p:spPr>
      </p:pic>
      <p:sp>
        <p:nvSpPr>
          <p:cNvPr id="6" name="Text 3"/>
          <p:cNvSpPr/>
          <p:nvPr/>
        </p:nvSpPr>
        <p:spPr>
          <a:xfrm>
            <a:off x="1508760" y="1783080"/>
            <a:ext cx="5120640" cy="1280160"/>
          </a:xfrm>
          <a:prstGeom prst="rect">
            <a:avLst/>
          </a:prstGeom>
          <a:noFill/>
          <a:ln/>
        </p:spPr>
        <p:txBody>
          <a:bodyPr wrap="square" rtlCol="0" anchor="ctr"/>
          <a:lstStyle/>
          <a:p>
            <a:pPr marL="0" indent="0">
              <a:lnSpc>
                <a:spcPct val="125000"/>
              </a:lnSpc>
              <a:buNone/>
            </a:pPr>
            <a:r>
              <a:rPr lang="en-US" sz="1350" dirty="0">
                <a:solidFill>
                  <a:srgbClr val="26263A"/>
                </a:solidFill>
                <a:latin typeface="Calibri" pitchFamily="34" charset="0"/>
                <a:ea typeface="Calibri" pitchFamily="34" charset="-122"/>
                <a:cs typeface="Calibri" pitchFamily="34" charset="-120"/>
              </a:rPr>
              <a:t>ILikeIt stores every roast in a single PostgreSQL table, accessed through the pg connection pool with SSL enabled for secure, cloud-hosted database connections.</a:t>
            </a:r>
            <a:endParaRPr lang="en-US" sz="13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3246120"/>
          <a:ext cx="6400800" cy="914400"/>
        </p:xfrm>
        <a:graphic>
          <a:graphicData uri="http://schemas.openxmlformats.org/drawingml/2006/table">
            <a:tbl>
              <a:tblPr/>
              <a:tblGrid>
                <a:gridCol w="192024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50292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Column</a:t>
                      </a:r>
                      <a:endParaRPr lang="en-US" sz="1300" dirty="0">
                        <a:latin typeface="Calibri" charset="0"/>
                        <a:ea typeface="Calibri" charset="0"/>
                        <a:cs typeface="Calibri" charset="0"/>
                      </a:endParaRPr>
                    </a:p>
                  </a:txBody>
                  <a:tcPr anchor="ctr">
                    <a:lnL w="12700" cap="flat" cmpd="sng" algn="ctr">
                      <a:solidFill>
                        <a:srgbClr val="E4E4EC"/>
                      </a:solidFill>
                      <a:prstDash val="solid"/>
                      <a:round/>
                      <a:headEnd type="none" w="med" len="med"/>
                      <a:tailEnd type="none" w="med" len="med"/>
                    </a:lnL>
                    <a:lnR w="12700" cap="flat" cmpd="sng" algn="ctr">
                      <a:solidFill>
                        <a:srgbClr val="E4E4EC"/>
                      </a:solidFill>
                      <a:prstDash val="solid"/>
                      <a:round/>
                      <a:headEnd type="none" w="med" len="med"/>
                      <a:tailEnd type="none" w="med" len="med"/>
                    </a:lnR>
                    <a:lnT w="12700" cap="flat" cmpd="sng" algn="ctr">
                      <a:solidFill>
                        <a:srgbClr val="E4E4EC"/>
                      </a:solidFill>
                      <a:prstDash val="solid"/>
                      <a:round/>
                      <a:headEnd type="none" w="med" len="med"/>
                      <a:tailEnd type="none" w="med" len="med"/>
                    </a:lnT>
                    <a:lnB w="12700" cap="flat" cmpd="sng" algn="ctr">
                      <a:solidFill>
                        <a:srgbClr val="E4E4EC"/>
                      </a:solidFill>
                      <a:prstDash val="solid"/>
                      <a:round/>
                      <a:headEnd type="none" w="med" len="med"/>
                      <a:tailEnd type="none" w="med" len="med"/>
                    </a:lnB>
                    <a:solidFill>
                      <a:srgbClr val="7A0C0C"/>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Type</a:t>
                      </a:r>
                      <a:endParaRPr lang="en-US" sz="1300" dirty="0">
                        <a:latin typeface="Calibri" charset="0"/>
                        <a:ea typeface="Calibri" charset="0"/>
                        <a:cs typeface="Calibri" charset="0"/>
                      </a:endParaRPr>
                    </a:p>
                  </a:txBody>
                  <a:tcPr anchor="ctr">
                    <a:lnL w="12700" cap="flat" cmpd="sng" algn="ctr">
                      <a:solidFill>
                        <a:srgbClr val="E4E4EC"/>
                      </a:solidFill>
                      <a:prstDash val="solid"/>
                      <a:round/>
                      <a:headEnd type="none" w="med" len="med"/>
                      <a:tailEnd type="none" w="med" len="med"/>
                    </a:lnL>
                    <a:lnR w="12700" cap="flat" cmpd="sng" algn="ctr">
                      <a:solidFill>
                        <a:srgbClr val="E4E4EC"/>
                      </a:solidFill>
                      <a:prstDash val="solid"/>
                      <a:round/>
                      <a:headEnd type="none" w="med" len="med"/>
                      <a:tailEnd type="none" w="med" len="med"/>
                    </a:lnR>
                    <a:lnT w="12700" cap="flat" cmpd="sng" algn="ctr">
                      <a:solidFill>
                        <a:srgbClr val="E4E4EC"/>
                      </a:solidFill>
                      <a:prstDash val="solid"/>
                      <a:round/>
                      <a:headEnd type="none" w="med" len="med"/>
                      <a:tailEnd type="none" w="med" len="med"/>
                    </a:lnT>
                    <a:lnB w="12700" cap="flat" cmpd="sng" algn="ctr">
                      <a:solidFill>
                        <a:srgbClr val="E4E4EC"/>
                      </a:solidFill>
                      <a:prstDash val="solid"/>
                      <a:round/>
                      <a:headEnd type="none" w="med" len="med"/>
                      <a:tailEnd type="none" w="med" len="med"/>
                    </a:lnB>
                    <a:solidFill>
                      <a:srgbClr val="7A0C0C"/>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Description</a:t>
                      </a:r>
                      <a:endParaRPr lang="en-US" sz="1300" dirty="0">
                        <a:latin typeface="Calibri" charset="0"/>
                        <a:ea typeface="Calibri" charset="0"/>
                        <a:cs typeface="Calibri" charset="0"/>
                      </a:endParaRPr>
                    </a:p>
                  </a:txBody>
                  <a:tcPr anchor="ctr">
                    <a:lnL w="12700" cap="flat" cmpd="sng" algn="ctr">
                      <a:solidFill>
                        <a:srgbClr val="E4E4EC"/>
                      </a:solidFill>
                      <a:prstDash val="solid"/>
                      <a:round/>
                      <a:headEnd type="none" w="med" len="med"/>
                      <a:tailEnd type="none" w="med" len="med"/>
                    </a:lnL>
                    <a:lnR w="12700" cap="flat" cmpd="sng" algn="ctr">
                      <a:solidFill>
                        <a:srgbClr val="E4E4EC"/>
                      </a:solidFill>
                      <a:prstDash val="solid"/>
                      <a:round/>
                      <a:headEnd type="none" w="med" len="med"/>
                      <a:tailEnd type="none" w="med" len="med"/>
                    </a:lnR>
                    <a:lnT w="12700" cap="flat" cmpd="sng" algn="ctr">
                      <a:solidFill>
                        <a:srgbClr val="E4E4EC"/>
                      </a:solidFill>
                      <a:prstDash val="solid"/>
                      <a:round/>
                      <a:headEnd type="none" w="med" len="med"/>
                      <a:tailEnd type="none" w="med" len="med"/>
                    </a:lnT>
                    <a:lnB w="12700" cap="flat" cmpd="sng" algn="ctr">
                      <a:solidFill>
                        <a:srgbClr val="E4E4EC"/>
                      </a:solidFill>
                      <a:prstDash val="solid"/>
                      <a:round/>
                      <a:headEnd type="none" w="med" len="med"/>
                      <a:tailEnd type="none" w="med" len="med"/>
                    </a:lnB>
                    <a:solidFill>
                      <a:srgbClr val="7A0C0C"/>
                    </a:solidFill>
                  </a:tcPr>
                </a:tc>
                <a:extLst>
                  <a:ext uri="{0D108BD9-81ED-4DB2-BD59-A6C34878D82A}">
                    <a16:rowId xmlns:a16="http://schemas.microsoft.com/office/drawing/2014/main" val="10000"/>
                  </a:ext>
                </a:extLst>
              </a:tr>
              <a:tr h="502920">
                <a:tc>
                  <a:txBody>
                    <a:bodyPr/>
                    <a:lstStyle/>
                    <a:p>
                      <a:pPr marL="0" indent="0">
                        <a:buNone/>
                      </a:pPr>
                      <a:r>
                        <a:rPr lang="en-US" sz="1250" dirty="0">
                          <a:solidFill>
                            <a:srgbClr val="26263A"/>
                          </a:solidFill>
                          <a:latin typeface="Courier New" pitchFamily="34" charset="0"/>
                          <a:ea typeface="Courier New" pitchFamily="34" charset="-122"/>
                          <a:cs typeface="Courier New" pitchFamily="34" charset="-120"/>
                        </a:rPr>
                        <a:t>id</a:t>
                      </a:r>
                      <a:endParaRPr lang="en-US" sz="1250" dirty="0">
                        <a:latin typeface="Courier New" charset="0"/>
                        <a:ea typeface="Courier New" charset="0"/>
                        <a:cs typeface="Courier New" charset="0"/>
                      </a:endParaRPr>
                    </a:p>
                  </a:txBody>
                  <a:tcPr anchor="ctr">
                    <a:lnL w="12700" cap="flat" cmpd="sng" algn="ctr">
                      <a:solidFill>
                        <a:srgbClr val="E4E4EC"/>
                      </a:solidFill>
                      <a:prstDash val="solid"/>
                      <a:round/>
                      <a:headEnd type="none" w="med" len="med"/>
                      <a:tailEnd type="none" w="med" len="med"/>
                    </a:lnL>
                    <a:lnR w="12700" cap="flat" cmpd="sng" algn="ctr">
                      <a:solidFill>
                        <a:srgbClr val="E4E4EC"/>
                      </a:solidFill>
                      <a:prstDash val="solid"/>
                      <a:round/>
                      <a:headEnd type="none" w="med" len="med"/>
                      <a:tailEnd type="none" w="med" len="med"/>
                    </a:lnR>
                    <a:lnT w="12700" cap="flat" cmpd="sng" algn="ctr">
                      <a:solidFill>
                        <a:srgbClr val="E4E4EC"/>
                      </a:solidFill>
                      <a:prstDash val="solid"/>
                      <a:round/>
                      <a:headEnd type="none" w="med" len="med"/>
                      <a:tailEnd type="none" w="med" len="med"/>
                    </a:lnT>
                    <a:lnB w="12700" cap="flat" cmpd="sng" algn="ctr">
                      <a:solidFill>
                        <a:srgbClr val="E4E4EC"/>
                      </a:solidFill>
                      <a:prstDash val="solid"/>
                      <a:round/>
                      <a:headEnd type="none" w="med" len="med"/>
                      <a:tailEnd type="none" w="med" len="med"/>
                    </a:lnB>
                    <a:solidFill>
                      <a:srgbClr val="FFFFFF"/>
                    </a:solidFill>
                  </a:tcPr>
                </a:tc>
                <a:tc>
                  <a:txBody>
                    <a:bodyPr/>
                    <a:lstStyle/>
                    <a:p>
                      <a:pPr marL="0" indent="0">
                        <a:buNone/>
                      </a:pPr>
                      <a:r>
                        <a:rPr lang="en-US" sz="1250" dirty="0">
                          <a:solidFill>
                            <a:srgbClr val="26263A"/>
                          </a:solidFill>
                          <a:latin typeface="Calibri" pitchFamily="34" charset="0"/>
                          <a:ea typeface="Calibri" pitchFamily="34" charset="-122"/>
                          <a:cs typeface="Calibri" pitchFamily="34" charset="-120"/>
                        </a:rPr>
                        <a:t>SERIAL (PK)</a:t>
                      </a:r>
                      <a:endParaRPr lang="en-US" sz="1250" dirty="0">
                        <a:latin typeface="Calibri" charset="0"/>
                        <a:ea typeface="Calibri" charset="0"/>
                        <a:cs typeface="Calibri" charset="0"/>
                      </a:endParaRPr>
                    </a:p>
                  </a:txBody>
                  <a:tcPr anchor="ctr">
                    <a:lnL w="12700" cap="flat" cmpd="sng" algn="ctr">
                      <a:solidFill>
                        <a:srgbClr val="E4E4EC"/>
                      </a:solidFill>
                      <a:prstDash val="solid"/>
                      <a:round/>
                      <a:headEnd type="none" w="med" len="med"/>
                      <a:tailEnd type="none" w="med" len="med"/>
                    </a:lnL>
                    <a:lnR w="12700" cap="flat" cmpd="sng" algn="ctr">
                      <a:solidFill>
                        <a:srgbClr val="E4E4EC"/>
                      </a:solidFill>
                      <a:prstDash val="solid"/>
                      <a:round/>
                      <a:headEnd type="none" w="med" len="med"/>
                      <a:tailEnd type="none" w="med" len="med"/>
                    </a:lnR>
                    <a:lnT w="12700" cap="flat" cmpd="sng" algn="ctr">
                      <a:solidFill>
                        <a:srgbClr val="E4E4EC"/>
                      </a:solidFill>
                      <a:prstDash val="solid"/>
                      <a:round/>
                      <a:headEnd type="none" w="med" len="med"/>
                      <a:tailEnd type="none" w="med" len="med"/>
                    </a:lnT>
                    <a:lnB w="12700" cap="flat" cmpd="sng" algn="ctr">
                      <a:solidFill>
                        <a:srgbClr val="E4E4EC"/>
                      </a:solidFill>
                      <a:prstDash val="solid"/>
                      <a:round/>
                      <a:headEnd type="none" w="med" len="med"/>
                      <a:tailEnd type="none" w="med" len="med"/>
                    </a:lnB>
                    <a:solidFill>
                      <a:srgbClr val="FFFFFF"/>
                    </a:solidFill>
                  </a:tcPr>
                </a:tc>
                <a:tc>
                  <a:txBody>
                    <a:bodyPr/>
                    <a:lstStyle/>
                    <a:p>
                      <a:pPr marL="0" indent="0">
                        <a:buNone/>
                      </a:pPr>
                      <a:r>
                        <a:rPr lang="en-US" sz="1250" dirty="0">
                          <a:solidFill>
                            <a:srgbClr val="26263A"/>
                          </a:solidFill>
                          <a:latin typeface="Calibri" pitchFamily="34" charset="0"/>
                          <a:ea typeface="Calibri" pitchFamily="34" charset="-122"/>
                          <a:cs typeface="Calibri" pitchFamily="34" charset="-120"/>
                        </a:rPr>
                        <a:t>Unique auto-incrementing identifier</a:t>
                      </a:r>
                      <a:endParaRPr lang="en-US" sz="1250" dirty="0">
                        <a:latin typeface="Calibri" charset="0"/>
                        <a:ea typeface="Calibri" charset="0"/>
                        <a:cs typeface="Calibri" charset="0"/>
                      </a:endParaRPr>
                    </a:p>
                  </a:txBody>
                  <a:tcPr anchor="ctr">
                    <a:lnL w="12700" cap="flat" cmpd="sng" algn="ctr">
                      <a:solidFill>
                        <a:srgbClr val="E4E4EC"/>
                      </a:solidFill>
                      <a:prstDash val="solid"/>
                      <a:round/>
                      <a:headEnd type="none" w="med" len="med"/>
                      <a:tailEnd type="none" w="med" len="med"/>
                    </a:lnL>
                    <a:lnR w="12700" cap="flat" cmpd="sng" algn="ctr">
                      <a:solidFill>
                        <a:srgbClr val="E4E4EC"/>
                      </a:solidFill>
                      <a:prstDash val="solid"/>
                      <a:round/>
                      <a:headEnd type="none" w="med" len="med"/>
                      <a:tailEnd type="none" w="med" len="med"/>
                    </a:lnR>
                    <a:lnT w="12700" cap="flat" cmpd="sng" algn="ctr">
                      <a:solidFill>
                        <a:srgbClr val="E4E4EC"/>
                      </a:solidFill>
                      <a:prstDash val="solid"/>
                      <a:round/>
                      <a:headEnd type="none" w="med" len="med"/>
                      <a:tailEnd type="none" w="med" len="med"/>
                    </a:lnT>
                    <a:lnB w="12700" cap="flat" cmpd="sng" algn="ctr">
                      <a:solidFill>
                        <a:srgbClr val="E4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250" dirty="0">
                          <a:solidFill>
                            <a:srgbClr val="26263A"/>
                          </a:solidFill>
                          <a:latin typeface="Courier New" pitchFamily="34" charset="0"/>
                          <a:ea typeface="Courier New" pitchFamily="34" charset="-122"/>
                          <a:cs typeface="Courier New" pitchFamily="34" charset="-120"/>
                        </a:rPr>
                        <a:t>friend_name</a:t>
                      </a:r>
                      <a:endParaRPr lang="en-US" sz="1250" dirty="0">
                        <a:latin typeface="Courier New" charset="0"/>
                        <a:ea typeface="Courier New" charset="0"/>
                        <a:cs typeface="Courier New" charset="0"/>
                      </a:endParaRPr>
                    </a:p>
                  </a:txBody>
                  <a:tcPr anchor="ctr">
                    <a:lnL w="12700" cap="flat" cmpd="sng" algn="ctr">
                      <a:solidFill>
                        <a:srgbClr val="E4E4EC"/>
                      </a:solidFill>
                      <a:prstDash val="solid"/>
                      <a:round/>
                      <a:headEnd type="none" w="med" len="med"/>
                      <a:tailEnd type="none" w="med" len="med"/>
                    </a:lnL>
                    <a:lnR w="12700" cap="flat" cmpd="sng" algn="ctr">
                      <a:solidFill>
                        <a:srgbClr val="E4E4EC"/>
                      </a:solidFill>
                      <a:prstDash val="solid"/>
                      <a:round/>
                      <a:headEnd type="none" w="med" len="med"/>
                      <a:tailEnd type="none" w="med" len="med"/>
                    </a:lnR>
                    <a:lnT w="12700" cap="flat" cmpd="sng" algn="ctr">
                      <a:solidFill>
                        <a:srgbClr val="E4E4EC"/>
                      </a:solidFill>
                      <a:prstDash val="solid"/>
                      <a:round/>
                      <a:headEnd type="none" w="med" len="med"/>
                      <a:tailEnd type="none" w="med" len="med"/>
                    </a:lnT>
                    <a:lnB w="12700" cap="flat" cmpd="sng" algn="ctr">
                      <a:solidFill>
                        <a:srgbClr val="E4E4EC"/>
                      </a:solidFill>
                      <a:prstDash val="solid"/>
                      <a:round/>
                      <a:headEnd type="none" w="med" len="med"/>
                      <a:tailEnd type="none" w="med" len="med"/>
                    </a:lnB>
                    <a:solidFill>
                      <a:srgbClr val="FFFFFF"/>
                    </a:solidFill>
                  </a:tcPr>
                </a:tc>
                <a:tc>
                  <a:txBody>
                    <a:bodyPr/>
                    <a:lstStyle/>
                    <a:p>
                      <a:pPr marL="0" indent="0">
                        <a:buNone/>
                      </a:pPr>
                      <a:r>
                        <a:rPr lang="en-US" sz="1250" dirty="0">
                          <a:solidFill>
                            <a:srgbClr val="26263A"/>
                          </a:solidFill>
                          <a:latin typeface="Calibri" pitchFamily="34" charset="0"/>
                          <a:ea typeface="Calibri" pitchFamily="34" charset="-122"/>
                          <a:cs typeface="Calibri" pitchFamily="34" charset="-120"/>
                        </a:rPr>
                        <a:t>TEXT</a:t>
                      </a:r>
                      <a:endParaRPr lang="en-US" sz="1250" dirty="0">
                        <a:latin typeface="Calibri" charset="0"/>
                        <a:ea typeface="Calibri" charset="0"/>
                        <a:cs typeface="Calibri" charset="0"/>
                      </a:endParaRPr>
                    </a:p>
                  </a:txBody>
                  <a:tcPr anchor="ctr">
                    <a:lnL w="12700" cap="flat" cmpd="sng" algn="ctr">
                      <a:solidFill>
                        <a:srgbClr val="E4E4EC"/>
                      </a:solidFill>
                      <a:prstDash val="solid"/>
                      <a:round/>
                      <a:headEnd type="none" w="med" len="med"/>
                      <a:tailEnd type="none" w="med" len="med"/>
                    </a:lnL>
                    <a:lnR w="12700" cap="flat" cmpd="sng" algn="ctr">
                      <a:solidFill>
                        <a:srgbClr val="E4E4EC"/>
                      </a:solidFill>
                      <a:prstDash val="solid"/>
                      <a:round/>
                      <a:headEnd type="none" w="med" len="med"/>
                      <a:tailEnd type="none" w="med" len="med"/>
                    </a:lnR>
                    <a:lnT w="12700" cap="flat" cmpd="sng" algn="ctr">
                      <a:solidFill>
                        <a:srgbClr val="E4E4EC"/>
                      </a:solidFill>
                      <a:prstDash val="solid"/>
                      <a:round/>
                      <a:headEnd type="none" w="med" len="med"/>
                      <a:tailEnd type="none" w="med" len="med"/>
                    </a:lnT>
                    <a:lnB w="12700" cap="flat" cmpd="sng" algn="ctr">
                      <a:solidFill>
                        <a:srgbClr val="E4E4EC"/>
                      </a:solidFill>
                      <a:prstDash val="solid"/>
                      <a:round/>
                      <a:headEnd type="none" w="med" len="med"/>
                      <a:tailEnd type="none" w="med" len="med"/>
                    </a:lnB>
                    <a:solidFill>
                      <a:srgbClr val="FFFFFF"/>
                    </a:solidFill>
                  </a:tcPr>
                </a:tc>
                <a:tc>
                  <a:txBody>
                    <a:bodyPr/>
                    <a:lstStyle/>
                    <a:p>
                      <a:pPr marL="0" indent="0">
                        <a:buNone/>
                      </a:pPr>
                      <a:r>
                        <a:rPr lang="en-US" sz="1250" dirty="0">
                          <a:solidFill>
                            <a:srgbClr val="26263A"/>
                          </a:solidFill>
                          <a:latin typeface="Calibri" pitchFamily="34" charset="0"/>
                          <a:ea typeface="Calibri" pitchFamily="34" charset="-122"/>
                          <a:cs typeface="Calibri" pitchFamily="34" charset="-120"/>
                        </a:rPr>
                        <a:t>Name of the friend being roasted</a:t>
                      </a:r>
                      <a:endParaRPr lang="en-US" sz="1250" dirty="0">
                        <a:latin typeface="Calibri" charset="0"/>
                        <a:ea typeface="Calibri" charset="0"/>
                        <a:cs typeface="Calibri" charset="0"/>
                      </a:endParaRPr>
                    </a:p>
                  </a:txBody>
                  <a:tcPr anchor="ctr">
                    <a:lnL w="12700" cap="flat" cmpd="sng" algn="ctr">
                      <a:solidFill>
                        <a:srgbClr val="E4E4EC"/>
                      </a:solidFill>
                      <a:prstDash val="solid"/>
                      <a:round/>
                      <a:headEnd type="none" w="med" len="med"/>
                      <a:tailEnd type="none" w="med" len="med"/>
                    </a:lnL>
                    <a:lnR w="12700" cap="flat" cmpd="sng" algn="ctr">
                      <a:solidFill>
                        <a:srgbClr val="E4E4EC"/>
                      </a:solidFill>
                      <a:prstDash val="solid"/>
                      <a:round/>
                      <a:headEnd type="none" w="med" len="med"/>
                      <a:tailEnd type="none" w="med" len="med"/>
                    </a:lnR>
                    <a:lnT w="12700" cap="flat" cmpd="sng" algn="ctr">
                      <a:solidFill>
                        <a:srgbClr val="E4E4EC"/>
                      </a:solidFill>
                      <a:prstDash val="solid"/>
                      <a:round/>
                      <a:headEnd type="none" w="med" len="med"/>
                      <a:tailEnd type="none" w="med" len="med"/>
                    </a:lnT>
                    <a:lnB w="12700" cap="flat" cmpd="sng" algn="ctr">
                      <a:solidFill>
                        <a:srgbClr val="E4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250" dirty="0">
                          <a:solidFill>
                            <a:srgbClr val="26263A"/>
                          </a:solidFill>
                          <a:latin typeface="Courier New" pitchFamily="34" charset="0"/>
                          <a:ea typeface="Courier New" pitchFamily="34" charset="-122"/>
                          <a:cs typeface="Courier New" pitchFamily="34" charset="-120"/>
                        </a:rPr>
                        <a:t>category</a:t>
                      </a:r>
                      <a:endParaRPr lang="en-US" sz="1250" dirty="0">
                        <a:latin typeface="Courier New" charset="0"/>
                        <a:ea typeface="Courier New" charset="0"/>
                        <a:cs typeface="Courier New" charset="0"/>
                      </a:endParaRPr>
                    </a:p>
                  </a:txBody>
                  <a:tcPr anchor="ctr">
                    <a:lnL w="12700" cap="flat" cmpd="sng" algn="ctr">
                      <a:solidFill>
                        <a:srgbClr val="E4E4EC"/>
                      </a:solidFill>
                      <a:prstDash val="solid"/>
                      <a:round/>
                      <a:headEnd type="none" w="med" len="med"/>
                      <a:tailEnd type="none" w="med" len="med"/>
                    </a:lnL>
                    <a:lnR w="12700" cap="flat" cmpd="sng" algn="ctr">
                      <a:solidFill>
                        <a:srgbClr val="E4E4EC"/>
                      </a:solidFill>
                      <a:prstDash val="solid"/>
                      <a:round/>
                      <a:headEnd type="none" w="med" len="med"/>
                      <a:tailEnd type="none" w="med" len="med"/>
                    </a:lnR>
                    <a:lnT w="12700" cap="flat" cmpd="sng" algn="ctr">
                      <a:solidFill>
                        <a:srgbClr val="E4E4EC"/>
                      </a:solidFill>
                      <a:prstDash val="solid"/>
                      <a:round/>
                      <a:headEnd type="none" w="med" len="med"/>
                      <a:tailEnd type="none" w="med" len="med"/>
                    </a:lnT>
                    <a:lnB w="12700" cap="flat" cmpd="sng" algn="ctr">
                      <a:solidFill>
                        <a:srgbClr val="E4E4EC"/>
                      </a:solidFill>
                      <a:prstDash val="solid"/>
                      <a:round/>
                      <a:headEnd type="none" w="med" len="med"/>
                      <a:tailEnd type="none" w="med" len="med"/>
                    </a:lnB>
                    <a:solidFill>
                      <a:srgbClr val="FFFFFF"/>
                    </a:solidFill>
                  </a:tcPr>
                </a:tc>
                <a:tc>
                  <a:txBody>
                    <a:bodyPr/>
                    <a:lstStyle/>
                    <a:p>
                      <a:pPr marL="0" indent="0">
                        <a:buNone/>
                      </a:pPr>
                      <a:r>
                        <a:rPr lang="en-US" sz="1250" dirty="0">
                          <a:solidFill>
                            <a:srgbClr val="26263A"/>
                          </a:solidFill>
                          <a:latin typeface="Calibri" pitchFamily="34" charset="0"/>
                          <a:ea typeface="Calibri" pitchFamily="34" charset="-122"/>
                          <a:cs typeface="Calibri" pitchFamily="34" charset="-120"/>
                        </a:rPr>
                        <a:t>TEXT</a:t>
                      </a:r>
                      <a:endParaRPr lang="en-US" sz="1250" dirty="0">
                        <a:latin typeface="Calibri" charset="0"/>
                        <a:ea typeface="Calibri" charset="0"/>
                        <a:cs typeface="Calibri" charset="0"/>
                      </a:endParaRPr>
                    </a:p>
                  </a:txBody>
                  <a:tcPr anchor="ctr">
                    <a:lnL w="12700" cap="flat" cmpd="sng" algn="ctr">
                      <a:solidFill>
                        <a:srgbClr val="E4E4EC"/>
                      </a:solidFill>
                      <a:prstDash val="solid"/>
                      <a:round/>
                      <a:headEnd type="none" w="med" len="med"/>
                      <a:tailEnd type="none" w="med" len="med"/>
                    </a:lnL>
                    <a:lnR w="12700" cap="flat" cmpd="sng" algn="ctr">
                      <a:solidFill>
                        <a:srgbClr val="E4E4EC"/>
                      </a:solidFill>
                      <a:prstDash val="solid"/>
                      <a:round/>
                      <a:headEnd type="none" w="med" len="med"/>
                      <a:tailEnd type="none" w="med" len="med"/>
                    </a:lnR>
                    <a:lnT w="12700" cap="flat" cmpd="sng" algn="ctr">
                      <a:solidFill>
                        <a:srgbClr val="E4E4EC"/>
                      </a:solidFill>
                      <a:prstDash val="solid"/>
                      <a:round/>
                      <a:headEnd type="none" w="med" len="med"/>
                      <a:tailEnd type="none" w="med" len="med"/>
                    </a:lnT>
                    <a:lnB w="12700" cap="flat" cmpd="sng" algn="ctr">
                      <a:solidFill>
                        <a:srgbClr val="E4E4EC"/>
                      </a:solidFill>
                      <a:prstDash val="solid"/>
                      <a:round/>
                      <a:headEnd type="none" w="med" len="med"/>
                      <a:tailEnd type="none" w="med" len="med"/>
                    </a:lnB>
                    <a:solidFill>
                      <a:srgbClr val="FFFFFF"/>
                    </a:solidFill>
                  </a:tcPr>
                </a:tc>
                <a:tc>
                  <a:txBody>
                    <a:bodyPr/>
                    <a:lstStyle/>
                    <a:p>
                      <a:pPr marL="0" indent="0">
                        <a:buNone/>
                      </a:pPr>
                      <a:r>
                        <a:rPr lang="en-US" sz="1250" dirty="0">
                          <a:solidFill>
                            <a:srgbClr val="26263A"/>
                          </a:solidFill>
                          <a:latin typeface="Calibri" pitchFamily="34" charset="0"/>
                          <a:ea typeface="Calibri" pitchFamily="34" charset="-122"/>
                          <a:cs typeface="Calibri" pitchFamily="34" charset="-120"/>
                        </a:rPr>
                        <a:t>Roast category (e.g. Cooking, Gaming)</a:t>
                      </a:r>
                      <a:endParaRPr lang="en-US" sz="1250" dirty="0">
                        <a:latin typeface="Calibri" charset="0"/>
                        <a:ea typeface="Calibri" charset="0"/>
                        <a:cs typeface="Calibri" charset="0"/>
                      </a:endParaRPr>
                    </a:p>
                  </a:txBody>
                  <a:tcPr anchor="ctr">
                    <a:lnL w="12700" cap="flat" cmpd="sng" algn="ctr">
                      <a:solidFill>
                        <a:srgbClr val="E4E4EC"/>
                      </a:solidFill>
                      <a:prstDash val="solid"/>
                      <a:round/>
                      <a:headEnd type="none" w="med" len="med"/>
                      <a:tailEnd type="none" w="med" len="med"/>
                    </a:lnL>
                    <a:lnR w="12700" cap="flat" cmpd="sng" algn="ctr">
                      <a:solidFill>
                        <a:srgbClr val="E4E4EC"/>
                      </a:solidFill>
                      <a:prstDash val="solid"/>
                      <a:round/>
                      <a:headEnd type="none" w="med" len="med"/>
                      <a:tailEnd type="none" w="med" len="med"/>
                    </a:lnR>
                    <a:lnT w="12700" cap="flat" cmpd="sng" algn="ctr">
                      <a:solidFill>
                        <a:srgbClr val="E4E4EC"/>
                      </a:solidFill>
                      <a:prstDash val="solid"/>
                      <a:round/>
                      <a:headEnd type="none" w="med" len="med"/>
                      <a:tailEnd type="none" w="med" len="med"/>
                    </a:lnT>
                    <a:lnB w="12700" cap="flat" cmpd="sng" algn="ctr">
                      <a:solidFill>
                        <a:srgbClr val="E4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250" dirty="0">
                          <a:solidFill>
                            <a:srgbClr val="26263A"/>
                          </a:solidFill>
                          <a:latin typeface="Courier New" pitchFamily="34" charset="0"/>
                          <a:ea typeface="Courier New" pitchFamily="34" charset="-122"/>
                          <a:cs typeface="Courier New" pitchFamily="34" charset="-120"/>
                        </a:rPr>
                        <a:t>roast</a:t>
                      </a:r>
                      <a:endParaRPr lang="en-US" sz="1250" dirty="0">
                        <a:latin typeface="Courier New" charset="0"/>
                        <a:ea typeface="Courier New" charset="0"/>
                        <a:cs typeface="Courier New" charset="0"/>
                      </a:endParaRPr>
                    </a:p>
                  </a:txBody>
                  <a:tcPr anchor="ctr">
                    <a:lnL w="12700" cap="flat" cmpd="sng" algn="ctr">
                      <a:solidFill>
                        <a:srgbClr val="E4E4EC"/>
                      </a:solidFill>
                      <a:prstDash val="solid"/>
                      <a:round/>
                      <a:headEnd type="none" w="med" len="med"/>
                      <a:tailEnd type="none" w="med" len="med"/>
                    </a:lnL>
                    <a:lnR w="12700" cap="flat" cmpd="sng" algn="ctr">
                      <a:solidFill>
                        <a:srgbClr val="E4E4EC"/>
                      </a:solidFill>
                      <a:prstDash val="solid"/>
                      <a:round/>
                      <a:headEnd type="none" w="med" len="med"/>
                      <a:tailEnd type="none" w="med" len="med"/>
                    </a:lnR>
                    <a:lnT w="12700" cap="flat" cmpd="sng" algn="ctr">
                      <a:solidFill>
                        <a:srgbClr val="E4E4EC"/>
                      </a:solidFill>
                      <a:prstDash val="solid"/>
                      <a:round/>
                      <a:headEnd type="none" w="med" len="med"/>
                      <a:tailEnd type="none" w="med" len="med"/>
                    </a:lnT>
                    <a:lnB w="12700" cap="flat" cmpd="sng" algn="ctr">
                      <a:solidFill>
                        <a:srgbClr val="E4E4EC"/>
                      </a:solidFill>
                      <a:prstDash val="solid"/>
                      <a:round/>
                      <a:headEnd type="none" w="med" len="med"/>
                      <a:tailEnd type="none" w="med" len="med"/>
                    </a:lnB>
                    <a:solidFill>
                      <a:srgbClr val="FFFFFF"/>
                    </a:solidFill>
                  </a:tcPr>
                </a:tc>
                <a:tc>
                  <a:txBody>
                    <a:bodyPr/>
                    <a:lstStyle/>
                    <a:p>
                      <a:pPr marL="0" indent="0">
                        <a:buNone/>
                      </a:pPr>
                      <a:r>
                        <a:rPr lang="en-US" sz="1250" dirty="0">
                          <a:solidFill>
                            <a:srgbClr val="26263A"/>
                          </a:solidFill>
                          <a:latin typeface="Calibri" pitchFamily="34" charset="0"/>
                          <a:ea typeface="Calibri" pitchFamily="34" charset="-122"/>
                          <a:cs typeface="Calibri" pitchFamily="34" charset="-120"/>
                        </a:rPr>
                        <a:t>TEXT</a:t>
                      </a:r>
                      <a:endParaRPr lang="en-US" sz="1250" dirty="0">
                        <a:latin typeface="Calibri" charset="0"/>
                        <a:ea typeface="Calibri" charset="0"/>
                        <a:cs typeface="Calibri" charset="0"/>
                      </a:endParaRPr>
                    </a:p>
                  </a:txBody>
                  <a:tcPr anchor="ctr">
                    <a:lnL w="12700" cap="flat" cmpd="sng" algn="ctr">
                      <a:solidFill>
                        <a:srgbClr val="E4E4EC"/>
                      </a:solidFill>
                      <a:prstDash val="solid"/>
                      <a:round/>
                      <a:headEnd type="none" w="med" len="med"/>
                      <a:tailEnd type="none" w="med" len="med"/>
                    </a:lnL>
                    <a:lnR w="12700" cap="flat" cmpd="sng" algn="ctr">
                      <a:solidFill>
                        <a:srgbClr val="E4E4EC"/>
                      </a:solidFill>
                      <a:prstDash val="solid"/>
                      <a:round/>
                      <a:headEnd type="none" w="med" len="med"/>
                      <a:tailEnd type="none" w="med" len="med"/>
                    </a:lnR>
                    <a:lnT w="12700" cap="flat" cmpd="sng" algn="ctr">
                      <a:solidFill>
                        <a:srgbClr val="E4E4EC"/>
                      </a:solidFill>
                      <a:prstDash val="solid"/>
                      <a:round/>
                      <a:headEnd type="none" w="med" len="med"/>
                      <a:tailEnd type="none" w="med" len="med"/>
                    </a:lnT>
                    <a:lnB w="12700" cap="flat" cmpd="sng" algn="ctr">
                      <a:solidFill>
                        <a:srgbClr val="E4E4EC"/>
                      </a:solidFill>
                      <a:prstDash val="solid"/>
                      <a:round/>
                      <a:headEnd type="none" w="med" len="med"/>
                      <a:tailEnd type="none" w="med" len="med"/>
                    </a:lnB>
                    <a:solidFill>
                      <a:srgbClr val="FFFFFF"/>
                    </a:solidFill>
                  </a:tcPr>
                </a:tc>
                <a:tc>
                  <a:txBody>
                    <a:bodyPr/>
                    <a:lstStyle/>
                    <a:p>
                      <a:pPr marL="0" indent="0">
                        <a:buNone/>
                      </a:pPr>
                      <a:r>
                        <a:rPr lang="en-US" sz="1250" dirty="0">
                          <a:solidFill>
                            <a:srgbClr val="26263A"/>
                          </a:solidFill>
                          <a:latin typeface="Calibri" pitchFamily="34" charset="0"/>
                          <a:ea typeface="Calibri" pitchFamily="34" charset="-122"/>
                          <a:cs typeface="Calibri" pitchFamily="34" charset="-120"/>
                        </a:rPr>
                        <a:t>The roast content itself</a:t>
                      </a:r>
                      <a:endParaRPr lang="en-US" sz="1250" dirty="0">
                        <a:latin typeface="Calibri" charset="0"/>
                        <a:ea typeface="Calibri" charset="0"/>
                        <a:cs typeface="Calibri" charset="0"/>
                      </a:endParaRPr>
                    </a:p>
                  </a:txBody>
                  <a:tcPr anchor="ctr">
                    <a:lnL w="12700" cap="flat" cmpd="sng" algn="ctr">
                      <a:solidFill>
                        <a:srgbClr val="E4E4EC"/>
                      </a:solidFill>
                      <a:prstDash val="solid"/>
                      <a:round/>
                      <a:headEnd type="none" w="med" len="med"/>
                      <a:tailEnd type="none" w="med" len="med"/>
                    </a:lnL>
                    <a:lnR w="12700" cap="flat" cmpd="sng" algn="ctr">
                      <a:solidFill>
                        <a:srgbClr val="E4E4EC"/>
                      </a:solidFill>
                      <a:prstDash val="solid"/>
                      <a:round/>
                      <a:headEnd type="none" w="med" len="med"/>
                      <a:tailEnd type="none" w="med" len="med"/>
                    </a:lnR>
                    <a:lnT w="12700" cap="flat" cmpd="sng" algn="ctr">
                      <a:solidFill>
                        <a:srgbClr val="E4E4EC"/>
                      </a:solidFill>
                      <a:prstDash val="solid"/>
                      <a:round/>
                      <a:headEnd type="none" w="med" len="med"/>
                      <a:tailEnd type="none" w="med" len="med"/>
                    </a:lnT>
                    <a:lnB w="12700" cap="flat" cmpd="sng" algn="ctr">
                      <a:solidFill>
                        <a:srgbClr val="E4E4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Shape 4"/>
          <p:cNvSpPr/>
          <p:nvPr/>
        </p:nvSpPr>
        <p:spPr>
          <a:xfrm>
            <a:off x="7315200" y="1783080"/>
            <a:ext cx="4297680" cy="4160520"/>
          </a:xfrm>
          <a:prstGeom prst="roundRect">
            <a:avLst>
              <a:gd name="adj" fmla="val 2637"/>
            </a:avLst>
          </a:prstGeom>
          <a:solidFill>
            <a:srgbClr val="7A0C0C"/>
          </a:solidFill>
          <a:ln/>
        </p:spPr>
        <p:txBody>
          <a:bodyPr/>
          <a:lstStyle/>
          <a:p>
            <a:endParaRPr lang="en-IN"/>
          </a:p>
        </p:txBody>
      </p:sp>
      <p:sp>
        <p:nvSpPr>
          <p:cNvPr id="9" name="Text 5"/>
          <p:cNvSpPr/>
          <p:nvPr/>
        </p:nvSpPr>
        <p:spPr>
          <a:xfrm>
            <a:off x="7589520" y="2011680"/>
            <a:ext cx="3749040" cy="365760"/>
          </a:xfrm>
          <a:prstGeom prst="rect">
            <a:avLst/>
          </a:prstGeom>
          <a:noFill/>
          <a:ln/>
        </p:spPr>
        <p:txBody>
          <a:bodyPr wrap="square" rtlCol="0" anchor="ctr"/>
          <a:lstStyle/>
          <a:p>
            <a:pPr marL="0" indent="0">
              <a:buNone/>
            </a:pPr>
            <a:r>
              <a:rPr lang="en-US" sz="1500" b="1" dirty="0">
                <a:solidFill>
                  <a:srgbClr val="D4AF37"/>
                </a:solidFill>
                <a:latin typeface="Calibri" pitchFamily="34" charset="0"/>
                <a:ea typeface="Calibri" pitchFamily="34" charset="-122"/>
                <a:cs typeface="Calibri" pitchFamily="34" charset="-120"/>
              </a:rPr>
              <a:t>Why PostgreSQL?</a:t>
            </a:r>
            <a:endParaRPr lang="en-US" sz="1500" dirty="0"/>
          </a:p>
        </p:txBody>
      </p:sp>
      <p:sp>
        <p:nvSpPr>
          <p:cNvPr id="10" name="Shape 6"/>
          <p:cNvSpPr/>
          <p:nvPr/>
        </p:nvSpPr>
        <p:spPr>
          <a:xfrm>
            <a:off x="7589520" y="2468880"/>
            <a:ext cx="457200" cy="457200"/>
          </a:xfrm>
          <a:prstGeom prst="ellipse">
            <a:avLst/>
          </a:prstGeom>
          <a:solidFill>
            <a:srgbClr val="C81D25"/>
          </a:solidFill>
          <a:ln/>
        </p:spPr>
        <p:txBody>
          <a:bodyPr/>
          <a:lstStyle/>
          <a:p>
            <a:endParaRPr lang="en-IN"/>
          </a:p>
        </p:txBody>
      </p:sp>
      <p:pic>
        <p:nvPicPr>
          <p:cNvPr id="11" name="Image 1" descr="/home/claude/icons/sitemap.png"/>
          <p:cNvPicPr>
            <a:picLocks noChangeAspect="1"/>
          </p:cNvPicPr>
          <p:nvPr/>
        </p:nvPicPr>
        <p:blipFill>
          <a:blip r:embed="rId4"/>
          <a:stretch>
            <a:fillRect/>
          </a:stretch>
        </p:blipFill>
        <p:spPr>
          <a:xfrm>
            <a:off x="7692390" y="2571750"/>
            <a:ext cx="251460" cy="251460"/>
          </a:xfrm>
          <a:prstGeom prst="rect">
            <a:avLst/>
          </a:prstGeom>
        </p:spPr>
      </p:pic>
      <p:sp>
        <p:nvSpPr>
          <p:cNvPr id="12" name="Text 7"/>
          <p:cNvSpPr/>
          <p:nvPr/>
        </p:nvSpPr>
        <p:spPr>
          <a:xfrm>
            <a:off x="8211312" y="2395728"/>
            <a:ext cx="3246120" cy="594360"/>
          </a:xfrm>
          <a:prstGeom prst="rect">
            <a:avLst/>
          </a:prstGeom>
          <a:noFill/>
          <a:ln/>
        </p:spPr>
        <p:txBody>
          <a:bodyPr wrap="square" rtlCol="0" anchor="ctr"/>
          <a:lstStyle/>
          <a:p>
            <a:pPr marL="0" indent="0">
              <a:lnSpc>
                <a:spcPct val="120000"/>
              </a:lnSpc>
              <a:buNone/>
            </a:pPr>
            <a:r>
              <a:rPr lang="en-US" sz="1200" dirty="0">
                <a:solidFill>
                  <a:srgbClr val="F5E0D6"/>
                </a:solidFill>
                <a:latin typeface="Calibri" pitchFamily="34" charset="0"/>
                <a:ea typeface="Calibri" pitchFamily="34" charset="-122"/>
                <a:cs typeface="Calibri" pitchFamily="34" charset="-120"/>
              </a:rPr>
              <a:t>Relational structure fits a clean, single-resource roast model</a:t>
            </a:r>
            <a:endParaRPr lang="en-US" sz="1200" dirty="0"/>
          </a:p>
        </p:txBody>
      </p:sp>
      <p:sp>
        <p:nvSpPr>
          <p:cNvPr id="13" name="Shape 8"/>
          <p:cNvSpPr/>
          <p:nvPr/>
        </p:nvSpPr>
        <p:spPr>
          <a:xfrm>
            <a:off x="7589520" y="3310128"/>
            <a:ext cx="457200" cy="457200"/>
          </a:xfrm>
          <a:prstGeom prst="ellipse">
            <a:avLst/>
          </a:prstGeom>
          <a:solidFill>
            <a:srgbClr val="C81D25"/>
          </a:solidFill>
          <a:ln/>
        </p:spPr>
        <p:txBody>
          <a:bodyPr/>
          <a:lstStyle/>
          <a:p>
            <a:endParaRPr lang="en-IN"/>
          </a:p>
        </p:txBody>
      </p:sp>
      <p:pic>
        <p:nvPicPr>
          <p:cNvPr id="14" name="Image 2" descr="/home/claude/icons/checkcircle.png"/>
          <p:cNvPicPr>
            <a:picLocks noChangeAspect="1"/>
          </p:cNvPicPr>
          <p:nvPr/>
        </p:nvPicPr>
        <p:blipFill>
          <a:blip r:embed="rId5"/>
          <a:stretch>
            <a:fillRect/>
          </a:stretch>
        </p:blipFill>
        <p:spPr>
          <a:xfrm>
            <a:off x="7692390" y="3412998"/>
            <a:ext cx="251460" cy="251460"/>
          </a:xfrm>
          <a:prstGeom prst="rect">
            <a:avLst/>
          </a:prstGeom>
        </p:spPr>
      </p:pic>
      <p:sp>
        <p:nvSpPr>
          <p:cNvPr id="15" name="Text 9"/>
          <p:cNvSpPr/>
          <p:nvPr/>
        </p:nvSpPr>
        <p:spPr>
          <a:xfrm>
            <a:off x="8211312" y="3236976"/>
            <a:ext cx="3246120" cy="594360"/>
          </a:xfrm>
          <a:prstGeom prst="rect">
            <a:avLst/>
          </a:prstGeom>
          <a:noFill/>
          <a:ln/>
        </p:spPr>
        <p:txBody>
          <a:bodyPr wrap="square" rtlCol="0" anchor="ctr"/>
          <a:lstStyle/>
          <a:p>
            <a:pPr marL="0" indent="0">
              <a:lnSpc>
                <a:spcPct val="120000"/>
              </a:lnSpc>
              <a:buNone/>
            </a:pPr>
            <a:r>
              <a:rPr lang="en-US" sz="1200" dirty="0">
                <a:solidFill>
                  <a:srgbClr val="F5E0D6"/>
                </a:solidFill>
                <a:latin typeface="Calibri" pitchFamily="34" charset="0"/>
                <a:ea typeface="Calibri" pitchFamily="34" charset="-122"/>
                <a:cs typeface="Calibri" pitchFamily="34" charset="-120"/>
              </a:rPr>
              <a:t>Strong data integrity with typed columns and constraints</a:t>
            </a:r>
            <a:endParaRPr lang="en-US" sz="1200" dirty="0"/>
          </a:p>
        </p:txBody>
      </p:sp>
      <p:sp>
        <p:nvSpPr>
          <p:cNvPr id="16" name="Shape 10"/>
          <p:cNvSpPr/>
          <p:nvPr/>
        </p:nvSpPr>
        <p:spPr>
          <a:xfrm>
            <a:off x="7589520" y="4151376"/>
            <a:ext cx="457200" cy="457200"/>
          </a:xfrm>
          <a:prstGeom prst="ellipse">
            <a:avLst/>
          </a:prstGeom>
          <a:solidFill>
            <a:srgbClr val="C81D25"/>
          </a:solidFill>
          <a:ln/>
        </p:spPr>
        <p:txBody>
          <a:bodyPr/>
          <a:lstStyle/>
          <a:p>
            <a:endParaRPr lang="en-IN"/>
          </a:p>
        </p:txBody>
      </p:sp>
      <p:pic>
        <p:nvPicPr>
          <p:cNvPr id="17" name="Image 3" descr="/home/claude/icons/cloudicon.png"/>
          <p:cNvPicPr>
            <a:picLocks noChangeAspect="1"/>
          </p:cNvPicPr>
          <p:nvPr/>
        </p:nvPicPr>
        <p:blipFill>
          <a:blip r:embed="rId6"/>
          <a:stretch>
            <a:fillRect/>
          </a:stretch>
        </p:blipFill>
        <p:spPr>
          <a:xfrm>
            <a:off x="7692390" y="4254246"/>
            <a:ext cx="251460" cy="251460"/>
          </a:xfrm>
          <a:prstGeom prst="rect">
            <a:avLst/>
          </a:prstGeom>
        </p:spPr>
      </p:pic>
      <p:sp>
        <p:nvSpPr>
          <p:cNvPr id="18" name="Text 11"/>
          <p:cNvSpPr/>
          <p:nvPr/>
        </p:nvSpPr>
        <p:spPr>
          <a:xfrm>
            <a:off x="8211312" y="4078224"/>
            <a:ext cx="3246120" cy="594360"/>
          </a:xfrm>
          <a:prstGeom prst="rect">
            <a:avLst/>
          </a:prstGeom>
          <a:noFill/>
          <a:ln/>
        </p:spPr>
        <p:txBody>
          <a:bodyPr wrap="square" rtlCol="0" anchor="ctr"/>
          <a:lstStyle/>
          <a:p>
            <a:pPr marL="0" indent="0">
              <a:lnSpc>
                <a:spcPct val="120000"/>
              </a:lnSpc>
              <a:buNone/>
            </a:pPr>
            <a:r>
              <a:rPr lang="en-US" sz="1200" dirty="0">
                <a:solidFill>
                  <a:srgbClr val="F5E0D6"/>
                </a:solidFill>
                <a:latin typeface="Calibri" pitchFamily="34" charset="0"/>
                <a:ea typeface="Calibri" pitchFamily="34" charset="-122"/>
                <a:cs typeface="Calibri" pitchFamily="34" charset="-120"/>
              </a:rPr>
              <a:t>Battle-tested, cloud-deployable (e.g. Render, Supabase, Neon)</a:t>
            </a:r>
            <a:endParaRPr lang="en-US" sz="1200" dirty="0"/>
          </a:p>
        </p:txBody>
      </p:sp>
      <p:sp>
        <p:nvSpPr>
          <p:cNvPr id="19" name="Shape 12"/>
          <p:cNvSpPr/>
          <p:nvPr/>
        </p:nvSpPr>
        <p:spPr>
          <a:xfrm>
            <a:off x="7589520" y="4992624"/>
            <a:ext cx="457200" cy="457200"/>
          </a:xfrm>
          <a:prstGeom prst="ellipse">
            <a:avLst/>
          </a:prstGeom>
          <a:solidFill>
            <a:srgbClr val="C81D25"/>
          </a:solidFill>
          <a:ln/>
        </p:spPr>
        <p:txBody>
          <a:bodyPr/>
          <a:lstStyle/>
          <a:p>
            <a:endParaRPr lang="en-IN"/>
          </a:p>
        </p:txBody>
      </p:sp>
      <p:pic>
        <p:nvPicPr>
          <p:cNvPr id="20" name="Image 4" descr="/home/claude/icons/plug.png"/>
          <p:cNvPicPr>
            <a:picLocks noChangeAspect="1"/>
          </p:cNvPicPr>
          <p:nvPr/>
        </p:nvPicPr>
        <p:blipFill>
          <a:blip r:embed="rId7"/>
          <a:stretch>
            <a:fillRect/>
          </a:stretch>
        </p:blipFill>
        <p:spPr>
          <a:xfrm>
            <a:off x="7692390" y="5095494"/>
            <a:ext cx="251460" cy="251460"/>
          </a:xfrm>
          <a:prstGeom prst="rect">
            <a:avLst/>
          </a:prstGeom>
        </p:spPr>
      </p:pic>
      <p:sp>
        <p:nvSpPr>
          <p:cNvPr id="21" name="Text 13"/>
          <p:cNvSpPr/>
          <p:nvPr/>
        </p:nvSpPr>
        <p:spPr>
          <a:xfrm>
            <a:off x="8211312" y="4919472"/>
            <a:ext cx="3246120" cy="594360"/>
          </a:xfrm>
          <a:prstGeom prst="rect">
            <a:avLst/>
          </a:prstGeom>
          <a:noFill/>
          <a:ln/>
        </p:spPr>
        <p:txBody>
          <a:bodyPr wrap="square" rtlCol="0" anchor="ctr"/>
          <a:lstStyle/>
          <a:p>
            <a:pPr marL="0" indent="0">
              <a:lnSpc>
                <a:spcPct val="120000"/>
              </a:lnSpc>
              <a:buNone/>
            </a:pPr>
            <a:r>
              <a:rPr lang="en-US" sz="1200" dirty="0">
                <a:solidFill>
                  <a:srgbClr val="F5E0D6"/>
                </a:solidFill>
                <a:latin typeface="Calibri" pitchFamily="34" charset="0"/>
                <a:ea typeface="Calibri" pitchFamily="34" charset="-122"/>
                <a:cs typeface="Calibri" pitchFamily="34" charset="-120"/>
              </a:rPr>
              <a:t>Native support in Node via the pg driver</a:t>
            </a:r>
            <a:endParaRPr lang="en-US" sz="1200" dirty="0"/>
          </a:p>
        </p:txBody>
      </p:sp>
      <p:sp>
        <p:nvSpPr>
          <p:cNvPr id="22" name="Text 14"/>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6B6B7B"/>
                </a:solidFill>
                <a:latin typeface="Calibri" pitchFamily="34" charset="0"/>
                <a:ea typeface="Calibri" pitchFamily="34" charset="-122"/>
                <a:cs typeface="Calibri" pitchFamily="34" charset="-120"/>
              </a:rPr>
              <a:t>ILikeIt — The Ultimate Roast Vault</a:t>
            </a:r>
            <a:endParaRPr lang="en-US" sz="1000" dirty="0"/>
          </a:p>
        </p:txBody>
      </p:sp>
      <p:sp>
        <p:nvSpPr>
          <p:cNvPr id="23" name="Text 15"/>
          <p:cNvSpPr/>
          <p:nvPr/>
        </p:nvSpPr>
        <p:spPr>
          <a:xfrm>
            <a:off x="11430000" y="6537960"/>
            <a:ext cx="457200" cy="274320"/>
          </a:xfrm>
          <a:prstGeom prst="rect">
            <a:avLst/>
          </a:prstGeom>
          <a:noFill/>
          <a:ln/>
        </p:spPr>
        <p:txBody>
          <a:bodyPr wrap="square" rtlCol="0" anchor="ctr"/>
          <a:lstStyle/>
          <a:p>
            <a:pPr marL="0" indent="0" algn="r">
              <a:buNone/>
            </a:pPr>
            <a:r>
              <a:rPr lang="en-US" sz="1000" dirty="0">
                <a:solidFill>
                  <a:srgbClr val="6B6B7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8"/>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marL="0" indent="0">
              <a:buNone/>
            </a:pPr>
            <a:r>
              <a:rPr lang="en-US" sz="3400" b="1" dirty="0">
                <a:solidFill>
                  <a:srgbClr val="7A0C0C"/>
                </a:solidFill>
                <a:latin typeface="Cambria" pitchFamily="34" charset="0"/>
                <a:ea typeface="Cambria" pitchFamily="34" charset="-122"/>
                <a:cs typeface="Cambria" pitchFamily="34" charset="-120"/>
              </a:rPr>
              <a:t>System Architecture</a:t>
            </a:r>
            <a:endParaRPr lang="en-US" sz="3400" dirty="0"/>
          </a:p>
        </p:txBody>
      </p:sp>
      <p:sp>
        <p:nvSpPr>
          <p:cNvPr id="3" name="Text 1"/>
          <p:cNvSpPr/>
          <p:nvPr/>
        </p:nvSpPr>
        <p:spPr>
          <a:xfrm>
            <a:off x="548640" y="1143000"/>
            <a:ext cx="8229600" cy="365760"/>
          </a:xfrm>
          <a:prstGeom prst="rect">
            <a:avLst/>
          </a:prstGeom>
          <a:noFill/>
          <a:ln/>
        </p:spPr>
        <p:txBody>
          <a:bodyPr wrap="square" rtlCol="0" anchor="ctr"/>
          <a:lstStyle/>
          <a:p>
            <a:pPr marL="0" indent="0">
              <a:buNone/>
            </a:pPr>
            <a:r>
              <a:rPr lang="en-US" sz="1600" b="1" dirty="0">
                <a:solidFill>
                  <a:srgbClr val="C81D25"/>
                </a:solidFill>
                <a:latin typeface="Calibri" pitchFamily="34" charset="0"/>
                <a:ea typeface="Calibri" pitchFamily="34" charset="-122"/>
                <a:cs typeface="Calibri" pitchFamily="34" charset="-120"/>
              </a:rPr>
              <a:t>Three-tier client → API → database flow</a:t>
            </a:r>
            <a:endParaRPr lang="en-US" sz="1600" dirty="0"/>
          </a:p>
        </p:txBody>
      </p:sp>
      <p:sp>
        <p:nvSpPr>
          <p:cNvPr id="4" name="Shape 2"/>
          <p:cNvSpPr/>
          <p:nvPr/>
        </p:nvSpPr>
        <p:spPr>
          <a:xfrm>
            <a:off x="548640" y="2377440"/>
            <a:ext cx="2834640" cy="2011680"/>
          </a:xfrm>
          <a:prstGeom prst="roundRect">
            <a:avLst>
              <a:gd name="adj" fmla="val 5455"/>
            </a:avLst>
          </a:prstGeom>
          <a:solidFill>
            <a:srgbClr val="FFFFFF"/>
          </a:solidFill>
          <a:ln w="12700">
            <a:solidFill>
              <a:srgbClr val="E4E4EC"/>
            </a:solidFill>
            <a:prstDash val="solid"/>
          </a:ln>
          <a:effectLst>
            <a:outerShdw blurRad="101600" dist="38100" dir="5400000" algn="bl" rotWithShape="0">
              <a:srgbClr val="999999">
                <a:alpha val="25000"/>
              </a:srgbClr>
            </a:outerShdw>
          </a:effectLst>
        </p:spPr>
        <p:txBody>
          <a:bodyPr/>
          <a:lstStyle/>
          <a:p>
            <a:endParaRPr lang="en-IN"/>
          </a:p>
        </p:txBody>
      </p:sp>
      <p:sp>
        <p:nvSpPr>
          <p:cNvPr id="5" name="Shape 3"/>
          <p:cNvSpPr/>
          <p:nvPr/>
        </p:nvSpPr>
        <p:spPr>
          <a:xfrm>
            <a:off x="1600200" y="2651760"/>
            <a:ext cx="731520" cy="731520"/>
          </a:xfrm>
          <a:prstGeom prst="ellipse">
            <a:avLst/>
          </a:prstGeom>
          <a:solidFill>
            <a:srgbClr val="C81D25"/>
          </a:solidFill>
          <a:ln/>
        </p:spPr>
        <p:txBody>
          <a:bodyPr/>
          <a:lstStyle/>
          <a:p>
            <a:endParaRPr lang="en-IN"/>
          </a:p>
        </p:txBody>
      </p:sp>
      <p:pic>
        <p:nvPicPr>
          <p:cNvPr id="6" name="Image 0" descr="/home/claude/icons/desktop.png"/>
          <p:cNvPicPr>
            <a:picLocks noChangeAspect="1"/>
          </p:cNvPicPr>
          <p:nvPr/>
        </p:nvPicPr>
        <p:blipFill>
          <a:blip r:embed="rId3"/>
          <a:stretch>
            <a:fillRect/>
          </a:stretch>
        </p:blipFill>
        <p:spPr>
          <a:xfrm>
            <a:off x="1764792" y="2816352"/>
            <a:ext cx="402336" cy="402336"/>
          </a:xfrm>
          <a:prstGeom prst="rect">
            <a:avLst/>
          </a:prstGeom>
        </p:spPr>
      </p:pic>
      <p:sp>
        <p:nvSpPr>
          <p:cNvPr id="7" name="Text 4"/>
          <p:cNvSpPr/>
          <p:nvPr/>
        </p:nvSpPr>
        <p:spPr>
          <a:xfrm>
            <a:off x="685800" y="3474720"/>
            <a:ext cx="2560320" cy="365760"/>
          </a:xfrm>
          <a:prstGeom prst="rect">
            <a:avLst/>
          </a:prstGeom>
          <a:noFill/>
          <a:ln/>
        </p:spPr>
        <p:txBody>
          <a:bodyPr wrap="square" rtlCol="0" anchor="ctr"/>
          <a:lstStyle/>
          <a:p>
            <a:pPr marL="0" indent="0" algn="ctr">
              <a:buNone/>
            </a:pPr>
            <a:r>
              <a:rPr lang="en-US" sz="1500" b="1" dirty="0">
                <a:solidFill>
                  <a:srgbClr val="7A0C0C"/>
                </a:solidFill>
                <a:latin typeface="Calibri" pitchFamily="34" charset="0"/>
                <a:ea typeface="Calibri" pitchFamily="34" charset="-122"/>
                <a:cs typeface="Calibri" pitchFamily="34" charset="-120"/>
              </a:rPr>
              <a:t>React Client</a:t>
            </a:r>
            <a:endParaRPr lang="en-US" sz="1500" dirty="0"/>
          </a:p>
        </p:txBody>
      </p:sp>
      <p:sp>
        <p:nvSpPr>
          <p:cNvPr id="8" name="Text 5"/>
          <p:cNvSpPr/>
          <p:nvPr/>
        </p:nvSpPr>
        <p:spPr>
          <a:xfrm>
            <a:off x="685800" y="3822192"/>
            <a:ext cx="2560320" cy="502920"/>
          </a:xfrm>
          <a:prstGeom prst="rect">
            <a:avLst/>
          </a:prstGeom>
          <a:noFill/>
          <a:ln/>
        </p:spPr>
        <p:txBody>
          <a:bodyPr wrap="square" rtlCol="0" anchor="ctr"/>
          <a:lstStyle/>
          <a:p>
            <a:pPr marL="0" indent="0" algn="ctr">
              <a:lnSpc>
                <a:spcPct val="115000"/>
              </a:lnSpc>
              <a:buNone/>
            </a:pPr>
            <a:r>
              <a:rPr lang="en-US" sz="1050" dirty="0">
                <a:solidFill>
                  <a:srgbClr val="6B6B7B"/>
                </a:solidFill>
                <a:latin typeface="Calibri" pitchFamily="34" charset="0"/>
                <a:ea typeface="Calibri" pitchFamily="34" charset="-122"/>
                <a:cs typeface="Calibri" pitchFamily="34" charset="-120"/>
              </a:rPr>
              <a:t>Vite dev server / static build</a:t>
            </a:r>
            <a:endParaRPr lang="en-US" sz="1050" dirty="0"/>
          </a:p>
          <a:p>
            <a:pPr marL="0" indent="0" algn="ctr">
              <a:lnSpc>
                <a:spcPct val="115000"/>
              </a:lnSpc>
              <a:buNone/>
            </a:pPr>
            <a:r>
              <a:rPr lang="en-US" sz="1050" dirty="0">
                <a:solidFill>
                  <a:srgbClr val="6B6B7B"/>
                </a:solidFill>
                <a:latin typeface="Calibri" pitchFamily="34" charset="0"/>
                <a:ea typeface="Calibri" pitchFamily="34" charset="-122"/>
                <a:cs typeface="Calibri" pitchFamily="34" charset="-120"/>
              </a:rPr>
              <a:t>Runs in the browser</a:t>
            </a:r>
            <a:endParaRPr lang="en-US" sz="1050" dirty="0"/>
          </a:p>
        </p:txBody>
      </p:sp>
      <p:sp>
        <p:nvSpPr>
          <p:cNvPr id="9" name="Shape 6"/>
          <p:cNvSpPr/>
          <p:nvPr/>
        </p:nvSpPr>
        <p:spPr>
          <a:xfrm>
            <a:off x="4663440" y="2377440"/>
            <a:ext cx="2834640" cy="2011680"/>
          </a:xfrm>
          <a:prstGeom prst="roundRect">
            <a:avLst>
              <a:gd name="adj" fmla="val 5455"/>
            </a:avLst>
          </a:prstGeom>
          <a:solidFill>
            <a:srgbClr val="FFFFFF"/>
          </a:solidFill>
          <a:ln w="12700">
            <a:solidFill>
              <a:srgbClr val="E4E4EC"/>
            </a:solidFill>
            <a:prstDash val="solid"/>
          </a:ln>
          <a:effectLst>
            <a:outerShdw blurRad="101600" dist="38100" dir="5400000" algn="bl" rotWithShape="0">
              <a:srgbClr val="999999">
                <a:alpha val="25000"/>
              </a:srgbClr>
            </a:outerShdw>
          </a:effectLst>
        </p:spPr>
        <p:txBody>
          <a:bodyPr/>
          <a:lstStyle/>
          <a:p>
            <a:endParaRPr lang="en-IN"/>
          </a:p>
        </p:txBody>
      </p:sp>
      <p:sp>
        <p:nvSpPr>
          <p:cNvPr id="10" name="Shape 7"/>
          <p:cNvSpPr/>
          <p:nvPr/>
        </p:nvSpPr>
        <p:spPr>
          <a:xfrm>
            <a:off x="5715000" y="2651760"/>
            <a:ext cx="731520" cy="731520"/>
          </a:xfrm>
          <a:prstGeom prst="ellipse">
            <a:avLst/>
          </a:prstGeom>
          <a:solidFill>
            <a:srgbClr val="C81D25"/>
          </a:solidFill>
          <a:ln/>
        </p:spPr>
        <p:txBody>
          <a:bodyPr/>
          <a:lstStyle/>
          <a:p>
            <a:endParaRPr lang="en-IN"/>
          </a:p>
        </p:txBody>
      </p:sp>
      <p:pic>
        <p:nvPicPr>
          <p:cNvPr id="11" name="Image 1" descr="/home/claude/icons/server.png"/>
          <p:cNvPicPr>
            <a:picLocks noChangeAspect="1"/>
          </p:cNvPicPr>
          <p:nvPr/>
        </p:nvPicPr>
        <p:blipFill>
          <a:blip r:embed="rId4"/>
          <a:stretch>
            <a:fillRect/>
          </a:stretch>
        </p:blipFill>
        <p:spPr>
          <a:xfrm>
            <a:off x="5879592" y="2816352"/>
            <a:ext cx="402336" cy="402336"/>
          </a:xfrm>
          <a:prstGeom prst="rect">
            <a:avLst/>
          </a:prstGeom>
        </p:spPr>
      </p:pic>
      <p:sp>
        <p:nvSpPr>
          <p:cNvPr id="12" name="Text 8"/>
          <p:cNvSpPr/>
          <p:nvPr/>
        </p:nvSpPr>
        <p:spPr>
          <a:xfrm>
            <a:off x="4800600" y="3474720"/>
            <a:ext cx="2560320" cy="365760"/>
          </a:xfrm>
          <a:prstGeom prst="rect">
            <a:avLst/>
          </a:prstGeom>
          <a:noFill/>
          <a:ln/>
        </p:spPr>
        <p:txBody>
          <a:bodyPr wrap="square" rtlCol="0" anchor="ctr"/>
          <a:lstStyle/>
          <a:p>
            <a:pPr marL="0" indent="0" algn="ctr">
              <a:buNone/>
            </a:pPr>
            <a:r>
              <a:rPr lang="en-US" sz="1500" b="1" dirty="0">
                <a:solidFill>
                  <a:srgbClr val="7A0C0C"/>
                </a:solidFill>
                <a:latin typeface="Calibri" pitchFamily="34" charset="0"/>
                <a:ea typeface="Calibri" pitchFamily="34" charset="-122"/>
                <a:cs typeface="Calibri" pitchFamily="34" charset="-120"/>
              </a:rPr>
              <a:t>Express API</a:t>
            </a:r>
            <a:endParaRPr lang="en-US" sz="1500" dirty="0"/>
          </a:p>
        </p:txBody>
      </p:sp>
      <p:sp>
        <p:nvSpPr>
          <p:cNvPr id="13" name="Text 9"/>
          <p:cNvSpPr/>
          <p:nvPr/>
        </p:nvSpPr>
        <p:spPr>
          <a:xfrm>
            <a:off x="4800600" y="3822192"/>
            <a:ext cx="2560320" cy="502920"/>
          </a:xfrm>
          <a:prstGeom prst="rect">
            <a:avLst/>
          </a:prstGeom>
          <a:noFill/>
          <a:ln/>
        </p:spPr>
        <p:txBody>
          <a:bodyPr wrap="square" rtlCol="0" anchor="ctr"/>
          <a:lstStyle/>
          <a:p>
            <a:pPr marL="0" indent="0" algn="ctr">
              <a:lnSpc>
                <a:spcPct val="115000"/>
              </a:lnSpc>
              <a:buNone/>
            </a:pPr>
            <a:r>
              <a:rPr lang="en-US" sz="1050" dirty="0">
                <a:solidFill>
                  <a:srgbClr val="6B6B7B"/>
                </a:solidFill>
                <a:latin typeface="Calibri" pitchFamily="34" charset="0"/>
                <a:ea typeface="Calibri" pitchFamily="34" charset="-122"/>
                <a:cs typeface="Calibri" pitchFamily="34" charset="-120"/>
              </a:rPr>
              <a:t>Node.js + Express 5</a:t>
            </a:r>
            <a:endParaRPr lang="en-US" sz="1050" dirty="0"/>
          </a:p>
          <a:p>
            <a:pPr marL="0" indent="0" algn="ctr">
              <a:lnSpc>
                <a:spcPct val="115000"/>
              </a:lnSpc>
              <a:buNone/>
            </a:pPr>
            <a:r>
              <a:rPr lang="en-US" sz="1050" dirty="0">
                <a:solidFill>
                  <a:srgbClr val="6B6B7B"/>
                </a:solidFill>
                <a:latin typeface="Calibri" pitchFamily="34" charset="0"/>
                <a:ea typeface="Calibri" pitchFamily="34" charset="-122"/>
                <a:cs typeface="Calibri" pitchFamily="34" charset="-120"/>
              </a:rPr>
              <a:t>Port 5000, REST routes</a:t>
            </a:r>
            <a:endParaRPr lang="en-US" sz="1050" dirty="0"/>
          </a:p>
        </p:txBody>
      </p:sp>
      <p:sp>
        <p:nvSpPr>
          <p:cNvPr id="14" name="Shape 10"/>
          <p:cNvSpPr/>
          <p:nvPr/>
        </p:nvSpPr>
        <p:spPr>
          <a:xfrm>
            <a:off x="8778240" y="2377440"/>
            <a:ext cx="2834640" cy="2011680"/>
          </a:xfrm>
          <a:prstGeom prst="roundRect">
            <a:avLst>
              <a:gd name="adj" fmla="val 5455"/>
            </a:avLst>
          </a:prstGeom>
          <a:solidFill>
            <a:srgbClr val="FFFFFF"/>
          </a:solidFill>
          <a:ln w="12700">
            <a:solidFill>
              <a:srgbClr val="E4E4EC"/>
            </a:solidFill>
            <a:prstDash val="solid"/>
          </a:ln>
          <a:effectLst>
            <a:outerShdw blurRad="101600" dist="38100" dir="5400000" algn="bl" rotWithShape="0">
              <a:srgbClr val="999999">
                <a:alpha val="25000"/>
              </a:srgbClr>
            </a:outerShdw>
          </a:effectLst>
        </p:spPr>
        <p:txBody>
          <a:bodyPr/>
          <a:lstStyle/>
          <a:p>
            <a:endParaRPr lang="en-IN"/>
          </a:p>
        </p:txBody>
      </p:sp>
      <p:sp>
        <p:nvSpPr>
          <p:cNvPr id="15" name="Shape 11"/>
          <p:cNvSpPr/>
          <p:nvPr/>
        </p:nvSpPr>
        <p:spPr>
          <a:xfrm>
            <a:off x="9829800" y="2651760"/>
            <a:ext cx="731520" cy="731520"/>
          </a:xfrm>
          <a:prstGeom prst="ellipse">
            <a:avLst/>
          </a:prstGeom>
          <a:solidFill>
            <a:srgbClr val="C81D25"/>
          </a:solidFill>
          <a:ln/>
        </p:spPr>
        <p:txBody>
          <a:bodyPr/>
          <a:lstStyle/>
          <a:p>
            <a:endParaRPr lang="en-IN"/>
          </a:p>
        </p:txBody>
      </p:sp>
      <p:pic>
        <p:nvPicPr>
          <p:cNvPr id="16" name="Image 2" descr="/home/claude/icons/database.png"/>
          <p:cNvPicPr>
            <a:picLocks noChangeAspect="1"/>
          </p:cNvPicPr>
          <p:nvPr/>
        </p:nvPicPr>
        <p:blipFill>
          <a:blip r:embed="rId5"/>
          <a:stretch>
            <a:fillRect/>
          </a:stretch>
        </p:blipFill>
        <p:spPr>
          <a:xfrm>
            <a:off x="9994392" y="2816352"/>
            <a:ext cx="402336" cy="402336"/>
          </a:xfrm>
          <a:prstGeom prst="rect">
            <a:avLst/>
          </a:prstGeom>
        </p:spPr>
      </p:pic>
      <p:sp>
        <p:nvSpPr>
          <p:cNvPr id="17" name="Text 12"/>
          <p:cNvSpPr/>
          <p:nvPr/>
        </p:nvSpPr>
        <p:spPr>
          <a:xfrm>
            <a:off x="8915400" y="3474720"/>
            <a:ext cx="2560320" cy="365760"/>
          </a:xfrm>
          <a:prstGeom prst="rect">
            <a:avLst/>
          </a:prstGeom>
          <a:noFill/>
          <a:ln/>
        </p:spPr>
        <p:txBody>
          <a:bodyPr wrap="square" rtlCol="0" anchor="ctr"/>
          <a:lstStyle/>
          <a:p>
            <a:pPr marL="0" indent="0" algn="ctr">
              <a:buNone/>
            </a:pPr>
            <a:r>
              <a:rPr lang="en-US" sz="1500" b="1" dirty="0">
                <a:solidFill>
                  <a:srgbClr val="7A0C0C"/>
                </a:solidFill>
                <a:latin typeface="Calibri" pitchFamily="34" charset="0"/>
                <a:ea typeface="Calibri" pitchFamily="34" charset="-122"/>
                <a:cs typeface="Calibri" pitchFamily="34" charset="-120"/>
              </a:rPr>
              <a:t>PostgreSQL</a:t>
            </a:r>
            <a:endParaRPr lang="en-US" sz="1500" dirty="0"/>
          </a:p>
        </p:txBody>
      </p:sp>
      <p:sp>
        <p:nvSpPr>
          <p:cNvPr id="18" name="Text 13"/>
          <p:cNvSpPr/>
          <p:nvPr/>
        </p:nvSpPr>
        <p:spPr>
          <a:xfrm>
            <a:off x="8915400" y="3822192"/>
            <a:ext cx="2560320" cy="502920"/>
          </a:xfrm>
          <a:prstGeom prst="rect">
            <a:avLst/>
          </a:prstGeom>
          <a:noFill/>
          <a:ln/>
        </p:spPr>
        <p:txBody>
          <a:bodyPr wrap="square" rtlCol="0" anchor="ctr"/>
          <a:lstStyle/>
          <a:p>
            <a:pPr marL="0" indent="0" algn="ctr">
              <a:lnSpc>
                <a:spcPct val="115000"/>
              </a:lnSpc>
              <a:buNone/>
            </a:pPr>
            <a:r>
              <a:rPr lang="en-US" sz="1050" dirty="0">
                <a:solidFill>
                  <a:srgbClr val="6B6B7B"/>
                </a:solidFill>
                <a:latin typeface="Calibri" pitchFamily="34" charset="0"/>
                <a:ea typeface="Calibri" pitchFamily="34" charset="-122"/>
                <a:cs typeface="Calibri" pitchFamily="34" charset="-120"/>
              </a:rPr>
              <a:t>Managed cloud database</a:t>
            </a:r>
            <a:endParaRPr lang="en-US" sz="1050" dirty="0"/>
          </a:p>
          <a:p>
            <a:pPr marL="0" indent="0" algn="ctr">
              <a:lnSpc>
                <a:spcPct val="115000"/>
              </a:lnSpc>
              <a:buNone/>
            </a:pPr>
            <a:r>
              <a:rPr lang="en-US" sz="1050" dirty="0">
                <a:solidFill>
                  <a:srgbClr val="6B6B7B"/>
                </a:solidFill>
                <a:latin typeface="Calibri" pitchFamily="34" charset="0"/>
                <a:ea typeface="Calibri" pitchFamily="34" charset="-122"/>
                <a:cs typeface="Calibri" pitchFamily="34" charset="-120"/>
              </a:rPr>
              <a:t>SSL connection via pg Pool</a:t>
            </a:r>
            <a:endParaRPr lang="en-US" sz="1050" dirty="0"/>
          </a:p>
        </p:txBody>
      </p:sp>
      <p:sp>
        <p:nvSpPr>
          <p:cNvPr id="19" name="Shape 14"/>
          <p:cNvSpPr/>
          <p:nvPr/>
        </p:nvSpPr>
        <p:spPr>
          <a:xfrm>
            <a:off x="3456432" y="3383280"/>
            <a:ext cx="1133856" cy="0"/>
          </a:xfrm>
          <a:prstGeom prst="line">
            <a:avLst/>
          </a:prstGeom>
          <a:noFill/>
          <a:ln w="28575">
            <a:solidFill>
              <a:srgbClr val="7A0C0C"/>
            </a:solidFill>
            <a:prstDash val="solid"/>
            <a:tailEnd type="triangle"/>
          </a:ln>
        </p:spPr>
        <p:txBody>
          <a:bodyPr/>
          <a:lstStyle/>
          <a:p>
            <a:endParaRPr lang="en-IN"/>
          </a:p>
        </p:txBody>
      </p:sp>
      <p:sp>
        <p:nvSpPr>
          <p:cNvPr id="20" name="Text 15"/>
          <p:cNvSpPr/>
          <p:nvPr/>
        </p:nvSpPr>
        <p:spPr>
          <a:xfrm>
            <a:off x="3456432" y="2999232"/>
            <a:ext cx="1133856" cy="320040"/>
          </a:xfrm>
          <a:prstGeom prst="rect">
            <a:avLst/>
          </a:prstGeom>
          <a:noFill/>
          <a:ln/>
        </p:spPr>
        <p:txBody>
          <a:bodyPr wrap="square" rtlCol="0" anchor="ctr"/>
          <a:lstStyle/>
          <a:p>
            <a:pPr marL="0" indent="0" algn="ctr">
              <a:buNone/>
            </a:pPr>
            <a:r>
              <a:rPr lang="en-US" sz="1050" b="1" dirty="0">
                <a:solidFill>
                  <a:srgbClr val="7A0C0C"/>
                </a:solidFill>
                <a:latin typeface="Calibri" pitchFamily="34" charset="0"/>
                <a:ea typeface="Calibri" pitchFamily="34" charset="-122"/>
                <a:cs typeface="Calibri" pitchFamily="34" charset="-120"/>
              </a:rPr>
              <a:t>HTTP / fetch()</a:t>
            </a:r>
            <a:endParaRPr lang="en-US" sz="1050" dirty="0"/>
          </a:p>
        </p:txBody>
      </p:sp>
      <p:sp>
        <p:nvSpPr>
          <p:cNvPr id="21" name="Shape 16"/>
          <p:cNvSpPr/>
          <p:nvPr/>
        </p:nvSpPr>
        <p:spPr>
          <a:xfrm>
            <a:off x="7571232" y="3383280"/>
            <a:ext cx="1133856" cy="0"/>
          </a:xfrm>
          <a:prstGeom prst="line">
            <a:avLst/>
          </a:prstGeom>
          <a:noFill/>
          <a:ln w="28575">
            <a:solidFill>
              <a:srgbClr val="7A0C0C"/>
            </a:solidFill>
            <a:prstDash val="solid"/>
            <a:tailEnd type="triangle"/>
          </a:ln>
        </p:spPr>
        <p:txBody>
          <a:bodyPr/>
          <a:lstStyle/>
          <a:p>
            <a:endParaRPr lang="en-IN"/>
          </a:p>
        </p:txBody>
      </p:sp>
      <p:sp>
        <p:nvSpPr>
          <p:cNvPr id="22" name="Text 17"/>
          <p:cNvSpPr/>
          <p:nvPr/>
        </p:nvSpPr>
        <p:spPr>
          <a:xfrm>
            <a:off x="7571232" y="2999232"/>
            <a:ext cx="1133856" cy="320040"/>
          </a:xfrm>
          <a:prstGeom prst="rect">
            <a:avLst/>
          </a:prstGeom>
          <a:noFill/>
          <a:ln/>
        </p:spPr>
        <p:txBody>
          <a:bodyPr wrap="square" rtlCol="0" anchor="ctr"/>
          <a:lstStyle/>
          <a:p>
            <a:pPr marL="0" indent="0" algn="ctr">
              <a:buNone/>
            </a:pPr>
            <a:r>
              <a:rPr lang="en-US" sz="1050" b="1" dirty="0">
                <a:solidFill>
                  <a:srgbClr val="7A0C0C"/>
                </a:solidFill>
                <a:latin typeface="Calibri" pitchFamily="34" charset="0"/>
                <a:ea typeface="Calibri" pitchFamily="34" charset="-122"/>
                <a:cs typeface="Calibri" pitchFamily="34" charset="-120"/>
              </a:rPr>
              <a:t>SQL Queries</a:t>
            </a:r>
            <a:endParaRPr lang="en-US" sz="1050" dirty="0"/>
          </a:p>
        </p:txBody>
      </p:sp>
      <p:sp>
        <p:nvSpPr>
          <p:cNvPr id="23" name="Shape 18"/>
          <p:cNvSpPr/>
          <p:nvPr/>
        </p:nvSpPr>
        <p:spPr>
          <a:xfrm>
            <a:off x="548640" y="4892040"/>
            <a:ext cx="11064240" cy="1051560"/>
          </a:xfrm>
          <a:prstGeom prst="roundRect">
            <a:avLst>
              <a:gd name="adj" fmla="val 8696"/>
            </a:avLst>
          </a:prstGeom>
          <a:solidFill>
            <a:srgbClr val="7A0C0C"/>
          </a:solidFill>
          <a:ln/>
        </p:spPr>
        <p:txBody>
          <a:bodyPr/>
          <a:lstStyle/>
          <a:p>
            <a:endParaRPr lang="en-IN"/>
          </a:p>
        </p:txBody>
      </p:sp>
      <p:sp>
        <p:nvSpPr>
          <p:cNvPr id="24" name="Text 19"/>
          <p:cNvSpPr/>
          <p:nvPr/>
        </p:nvSpPr>
        <p:spPr>
          <a:xfrm>
            <a:off x="868680" y="5029200"/>
            <a:ext cx="10424160" cy="777240"/>
          </a:xfrm>
          <a:prstGeom prst="rect">
            <a:avLst/>
          </a:prstGeom>
          <a:noFill/>
          <a:ln/>
        </p:spPr>
        <p:txBody>
          <a:bodyPr wrap="square" rtlCol="0" anchor="ctr"/>
          <a:lstStyle/>
          <a:p>
            <a:pPr marL="0" indent="0">
              <a:lnSpc>
                <a:spcPct val="125000"/>
              </a:lnSpc>
              <a:buNone/>
            </a:pPr>
            <a:r>
              <a:rPr lang="en-US" sz="1300" dirty="0">
                <a:solidFill>
                  <a:srgbClr val="FFFFFF"/>
                </a:solidFill>
                <a:latin typeface="Calibri" pitchFamily="34" charset="0"/>
                <a:ea typeface="Calibri" pitchFamily="34" charset="-122"/>
                <a:cs typeface="Calibri" pitchFamily="34" charset="-120"/>
              </a:rPr>
              <a:t>The React client sends REST requests to the Express API. Express validates and forwards queries through the pg connection pool to PostgreSQL, then returns JSON responses that update the UI in real time.</a:t>
            </a:r>
            <a:endParaRPr lang="en-US" sz="1300" dirty="0"/>
          </a:p>
        </p:txBody>
      </p:sp>
      <p:sp>
        <p:nvSpPr>
          <p:cNvPr id="25" name="Text 20"/>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6B6B7B"/>
                </a:solidFill>
                <a:latin typeface="Calibri" pitchFamily="34" charset="0"/>
                <a:ea typeface="Calibri" pitchFamily="34" charset="-122"/>
                <a:cs typeface="Calibri" pitchFamily="34" charset="-120"/>
              </a:rPr>
              <a:t>ILikeIt — The Ultimate Roast Vault</a:t>
            </a:r>
            <a:endParaRPr lang="en-US" sz="1000" dirty="0"/>
          </a:p>
        </p:txBody>
      </p:sp>
      <p:sp>
        <p:nvSpPr>
          <p:cNvPr id="26" name="Text 21"/>
          <p:cNvSpPr/>
          <p:nvPr/>
        </p:nvSpPr>
        <p:spPr>
          <a:xfrm>
            <a:off x="11430000" y="6537960"/>
            <a:ext cx="457200" cy="274320"/>
          </a:xfrm>
          <a:prstGeom prst="rect">
            <a:avLst/>
          </a:prstGeom>
          <a:noFill/>
          <a:ln/>
        </p:spPr>
        <p:txBody>
          <a:bodyPr wrap="square" rtlCol="0" anchor="ctr"/>
          <a:lstStyle/>
          <a:p>
            <a:pPr marL="0" indent="0" algn="r">
              <a:buNone/>
            </a:pPr>
            <a:r>
              <a:rPr lang="en-US" sz="1000" dirty="0">
                <a:solidFill>
                  <a:srgbClr val="6B6B7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8"/>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marL="0" indent="0">
              <a:buNone/>
            </a:pPr>
            <a:r>
              <a:rPr lang="en-US" sz="3400" b="1" dirty="0">
                <a:solidFill>
                  <a:srgbClr val="7A0C0C"/>
                </a:solidFill>
                <a:latin typeface="Cambria" pitchFamily="34" charset="0"/>
                <a:ea typeface="Cambria" pitchFamily="34" charset="-122"/>
                <a:cs typeface="Cambria" pitchFamily="34" charset="-120"/>
              </a:rPr>
              <a:t>REST API Endpoints</a:t>
            </a:r>
            <a:endParaRPr lang="en-US" sz="3400" dirty="0"/>
          </a:p>
        </p:txBody>
      </p:sp>
      <p:sp>
        <p:nvSpPr>
          <p:cNvPr id="3" name="Text 1"/>
          <p:cNvSpPr/>
          <p:nvPr/>
        </p:nvSpPr>
        <p:spPr>
          <a:xfrm>
            <a:off x="548640" y="1143000"/>
            <a:ext cx="8229600" cy="365760"/>
          </a:xfrm>
          <a:prstGeom prst="rect">
            <a:avLst/>
          </a:prstGeom>
          <a:noFill/>
          <a:ln/>
        </p:spPr>
        <p:txBody>
          <a:bodyPr wrap="square" rtlCol="0" anchor="ctr"/>
          <a:lstStyle/>
          <a:p>
            <a:pPr marL="0" indent="0">
              <a:buNone/>
            </a:pPr>
            <a:r>
              <a:rPr lang="en-US" sz="1600" b="1" dirty="0">
                <a:solidFill>
                  <a:srgbClr val="C81D25"/>
                </a:solidFill>
                <a:latin typeface="Calibri" pitchFamily="34" charset="0"/>
                <a:ea typeface="Calibri" pitchFamily="34" charset="-122"/>
                <a:cs typeface="Calibri" pitchFamily="34" charset="-120"/>
              </a:rPr>
              <a:t>Full CRUD exposed on the /roasts resource</a:t>
            </a:r>
            <a:endParaRPr lang="en-US" sz="1600" dirty="0"/>
          </a:p>
        </p:txBody>
      </p:sp>
      <p:sp>
        <p:nvSpPr>
          <p:cNvPr id="4" name="Shape 2"/>
          <p:cNvSpPr/>
          <p:nvPr/>
        </p:nvSpPr>
        <p:spPr>
          <a:xfrm>
            <a:off x="548640" y="1874520"/>
            <a:ext cx="11064240" cy="896112"/>
          </a:xfrm>
          <a:prstGeom prst="roundRect">
            <a:avLst>
              <a:gd name="adj" fmla="val 8163"/>
            </a:avLst>
          </a:prstGeom>
          <a:solidFill>
            <a:srgbClr val="FFFFFF"/>
          </a:solidFill>
          <a:ln/>
          <a:effectLst>
            <a:outerShdw blurRad="63500" dist="25400" dir="5400000" algn="bl" rotWithShape="0">
              <a:srgbClr val="999999">
                <a:alpha val="18000"/>
              </a:srgbClr>
            </a:outerShdw>
          </a:effectLst>
        </p:spPr>
        <p:txBody>
          <a:bodyPr/>
          <a:lstStyle/>
          <a:p>
            <a:endParaRPr lang="en-IN"/>
          </a:p>
        </p:txBody>
      </p:sp>
      <p:sp>
        <p:nvSpPr>
          <p:cNvPr id="5" name="Shape 3"/>
          <p:cNvSpPr/>
          <p:nvPr/>
        </p:nvSpPr>
        <p:spPr>
          <a:xfrm>
            <a:off x="777240" y="2075688"/>
            <a:ext cx="1143000" cy="475488"/>
          </a:xfrm>
          <a:prstGeom prst="roundRect">
            <a:avLst>
              <a:gd name="adj" fmla="val 15385"/>
            </a:avLst>
          </a:prstGeom>
          <a:solidFill>
            <a:srgbClr val="028090"/>
          </a:solidFill>
          <a:ln/>
        </p:spPr>
        <p:txBody>
          <a:bodyPr/>
          <a:lstStyle/>
          <a:p>
            <a:endParaRPr lang="en-IN"/>
          </a:p>
        </p:txBody>
      </p:sp>
      <p:sp>
        <p:nvSpPr>
          <p:cNvPr id="6" name="Text 4"/>
          <p:cNvSpPr/>
          <p:nvPr/>
        </p:nvSpPr>
        <p:spPr>
          <a:xfrm>
            <a:off x="777240" y="2075688"/>
            <a:ext cx="1143000" cy="47548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GET</a:t>
            </a:r>
            <a:endParaRPr lang="en-US" sz="1300" dirty="0"/>
          </a:p>
        </p:txBody>
      </p:sp>
      <p:sp>
        <p:nvSpPr>
          <p:cNvPr id="7" name="Text 5"/>
          <p:cNvSpPr/>
          <p:nvPr/>
        </p:nvSpPr>
        <p:spPr>
          <a:xfrm>
            <a:off x="2148840" y="2057400"/>
            <a:ext cx="3017520" cy="512064"/>
          </a:xfrm>
          <a:prstGeom prst="rect">
            <a:avLst/>
          </a:prstGeom>
          <a:noFill/>
          <a:ln/>
        </p:spPr>
        <p:txBody>
          <a:bodyPr wrap="square" rtlCol="0" anchor="ctr"/>
          <a:lstStyle/>
          <a:p>
            <a:pPr marL="0" indent="0">
              <a:buNone/>
            </a:pPr>
            <a:r>
              <a:rPr lang="en-US" sz="1500" b="1" dirty="0">
                <a:solidFill>
                  <a:srgbClr val="7A0C0C"/>
                </a:solidFill>
                <a:latin typeface="Courier New" pitchFamily="34" charset="0"/>
                <a:ea typeface="Courier New" pitchFamily="34" charset="-122"/>
                <a:cs typeface="Courier New" pitchFamily="34" charset="-120"/>
              </a:rPr>
              <a:t>/roasts</a:t>
            </a:r>
            <a:endParaRPr lang="en-US" sz="1500" dirty="0"/>
          </a:p>
        </p:txBody>
      </p:sp>
      <p:sp>
        <p:nvSpPr>
          <p:cNvPr id="8" name="Text 6"/>
          <p:cNvSpPr/>
          <p:nvPr/>
        </p:nvSpPr>
        <p:spPr>
          <a:xfrm>
            <a:off x="5303520" y="2057400"/>
            <a:ext cx="6126480" cy="512064"/>
          </a:xfrm>
          <a:prstGeom prst="rect">
            <a:avLst/>
          </a:prstGeom>
          <a:noFill/>
          <a:ln/>
        </p:spPr>
        <p:txBody>
          <a:bodyPr wrap="square" rtlCol="0" anchor="ctr"/>
          <a:lstStyle/>
          <a:p>
            <a:pPr marL="0" indent="0">
              <a:buNone/>
            </a:pPr>
            <a:r>
              <a:rPr lang="en-US" sz="1300" dirty="0">
                <a:solidFill>
                  <a:srgbClr val="6B6B7B"/>
                </a:solidFill>
                <a:latin typeface="Calibri" pitchFamily="34" charset="0"/>
                <a:ea typeface="Calibri" pitchFamily="34" charset="-122"/>
                <a:cs typeface="Calibri" pitchFamily="34" charset="-120"/>
              </a:rPr>
              <a:t>Retrieve all roasts, newest first</a:t>
            </a:r>
            <a:endParaRPr lang="en-US" sz="1300" dirty="0"/>
          </a:p>
        </p:txBody>
      </p:sp>
      <p:sp>
        <p:nvSpPr>
          <p:cNvPr id="9" name="Shape 7"/>
          <p:cNvSpPr/>
          <p:nvPr/>
        </p:nvSpPr>
        <p:spPr>
          <a:xfrm>
            <a:off x="548640" y="2953512"/>
            <a:ext cx="11064240" cy="896112"/>
          </a:xfrm>
          <a:prstGeom prst="roundRect">
            <a:avLst>
              <a:gd name="adj" fmla="val 8163"/>
            </a:avLst>
          </a:prstGeom>
          <a:solidFill>
            <a:srgbClr val="FFFFFF"/>
          </a:solidFill>
          <a:ln/>
          <a:effectLst>
            <a:outerShdw blurRad="63500" dist="25400" dir="5400000" algn="bl" rotWithShape="0">
              <a:srgbClr val="999999">
                <a:alpha val="18000"/>
              </a:srgbClr>
            </a:outerShdw>
          </a:effectLst>
        </p:spPr>
        <p:txBody>
          <a:bodyPr/>
          <a:lstStyle/>
          <a:p>
            <a:endParaRPr lang="en-IN"/>
          </a:p>
        </p:txBody>
      </p:sp>
      <p:sp>
        <p:nvSpPr>
          <p:cNvPr id="10" name="Shape 8"/>
          <p:cNvSpPr/>
          <p:nvPr/>
        </p:nvSpPr>
        <p:spPr>
          <a:xfrm>
            <a:off x="777240" y="3154680"/>
            <a:ext cx="1143000" cy="475488"/>
          </a:xfrm>
          <a:prstGeom prst="roundRect">
            <a:avLst>
              <a:gd name="adj" fmla="val 15385"/>
            </a:avLst>
          </a:prstGeom>
          <a:solidFill>
            <a:srgbClr val="C81D25"/>
          </a:solidFill>
          <a:ln/>
        </p:spPr>
        <p:txBody>
          <a:bodyPr/>
          <a:lstStyle/>
          <a:p>
            <a:endParaRPr lang="en-IN"/>
          </a:p>
        </p:txBody>
      </p:sp>
      <p:sp>
        <p:nvSpPr>
          <p:cNvPr id="11" name="Text 9"/>
          <p:cNvSpPr/>
          <p:nvPr/>
        </p:nvSpPr>
        <p:spPr>
          <a:xfrm>
            <a:off x="777240" y="3154680"/>
            <a:ext cx="1143000" cy="47548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POST</a:t>
            </a:r>
            <a:endParaRPr lang="en-US" sz="1300" dirty="0"/>
          </a:p>
        </p:txBody>
      </p:sp>
      <p:sp>
        <p:nvSpPr>
          <p:cNvPr id="12" name="Text 10"/>
          <p:cNvSpPr/>
          <p:nvPr/>
        </p:nvSpPr>
        <p:spPr>
          <a:xfrm>
            <a:off x="2148840" y="3136392"/>
            <a:ext cx="3017520" cy="512064"/>
          </a:xfrm>
          <a:prstGeom prst="rect">
            <a:avLst/>
          </a:prstGeom>
          <a:noFill/>
          <a:ln/>
        </p:spPr>
        <p:txBody>
          <a:bodyPr wrap="square" rtlCol="0" anchor="ctr"/>
          <a:lstStyle/>
          <a:p>
            <a:pPr marL="0" indent="0">
              <a:buNone/>
            </a:pPr>
            <a:r>
              <a:rPr lang="en-US" sz="1500" b="1" dirty="0">
                <a:solidFill>
                  <a:srgbClr val="7A0C0C"/>
                </a:solidFill>
                <a:latin typeface="Courier New" pitchFamily="34" charset="0"/>
                <a:ea typeface="Courier New" pitchFamily="34" charset="-122"/>
                <a:cs typeface="Courier New" pitchFamily="34" charset="-120"/>
              </a:rPr>
              <a:t>/roasts</a:t>
            </a:r>
            <a:endParaRPr lang="en-US" sz="1500" dirty="0"/>
          </a:p>
        </p:txBody>
      </p:sp>
      <p:sp>
        <p:nvSpPr>
          <p:cNvPr id="13" name="Text 11"/>
          <p:cNvSpPr/>
          <p:nvPr/>
        </p:nvSpPr>
        <p:spPr>
          <a:xfrm>
            <a:off x="5303520" y="3136392"/>
            <a:ext cx="6126480" cy="512064"/>
          </a:xfrm>
          <a:prstGeom prst="rect">
            <a:avLst/>
          </a:prstGeom>
          <a:noFill/>
          <a:ln/>
        </p:spPr>
        <p:txBody>
          <a:bodyPr wrap="square" rtlCol="0" anchor="ctr"/>
          <a:lstStyle/>
          <a:p>
            <a:pPr marL="0" indent="0">
              <a:buNone/>
            </a:pPr>
            <a:r>
              <a:rPr lang="en-US" sz="1300" dirty="0">
                <a:solidFill>
                  <a:srgbClr val="6B6B7B"/>
                </a:solidFill>
                <a:latin typeface="Calibri" pitchFamily="34" charset="0"/>
                <a:ea typeface="Calibri" pitchFamily="34" charset="-122"/>
                <a:cs typeface="Calibri" pitchFamily="34" charset="-120"/>
              </a:rPr>
              <a:t>Create a new roast entry</a:t>
            </a:r>
            <a:endParaRPr lang="en-US" sz="1300" dirty="0"/>
          </a:p>
        </p:txBody>
      </p:sp>
      <p:sp>
        <p:nvSpPr>
          <p:cNvPr id="14" name="Shape 12"/>
          <p:cNvSpPr/>
          <p:nvPr/>
        </p:nvSpPr>
        <p:spPr>
          <a:xfrm>
            <a:off x="548640" y="4032504"/>
            <a:ext cx="11064240" cy="896112"/>
          </a:xfrm>
          <a:prstGeom prst="roundRect">
            <a:avLst>
              <a:gd name="adj" fmla="val 8163"/>
            </a:avLst>
          </a:prstGeom>
          <a:solidFill>
            <a:srgbClr val="FFFFFF"/>
          </a:solidFill>
          <a:ln/>
          <a:effectLst>
            <a:outerShdw blurRad="63500" dist="25400" dir="5400000" algn="bl" rotWithShape="0">
              <a:srgbClr val="999999">
                <a:alpha val="18000"/>
              </a:srgbClr>
            </a:outerShdw>
          </a:effectLst>
        </p:spPr>
        <p:txBody>
          <a:bodyPr/>
          <a:lstStyle/>
          <a:p>
            <a:endParaRPr lang="en-IN"/>
          </a:p>
        </p:txBody>
      </p:sp>
      <p:sp>
        <p:nvSpPr>
          <p:cNvPr id="15" name="Shape 13"/>
          <p:cNvSpPr/>
          <p:nvPr/>
        </p:nvSpPr>
        <p:spPr>
          <a:xfrm>
            <a:off x="777240" y="4233672"/>
            <a:ext cx="1143000" cy="475488"/>
          </a:xfrm>
          <a:prstGeom prst="roundRect">
            <a:avLst>
              <a:gd name="adj" fmla="val 15385"/>
            </a:avLst>
          </a:prstGeom>
          <a:solidFill>
            <a:srgbClr val="F9A825"/>
          </a:solidFill>
          <a:ln/>
        </p:spPr>
        <p:txBody>
          <a:bodyPr/>
          <a:lstStyle/>
          <a:p>
            <a:endParaRPr lang="en-IN"/>
          </a:p>
        </p:txBody>
      </p:sp>
      <p:sp>
        <p:nvSpPr>
          <p:cNvPr id="16" name="Text 14"/>
          <p:cNvSpPr/>
          <p:nvPr/>
        </p:nvSpPr>
        <p:spPr>
          <a:xfrm>
            <a:off x="777240" y="4233672"/>
            <a:ext cx="1143000" cy="47548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PUT</a:t>
            </a:r>
            <a:endParaRPr lang="en-US" sz="1300" dirty="0"/>
          </a:p>
        </p:txBody>
      </p:sp>
      <p:sp>
        <p:nvSpPr>
          <p:cNvPr id="17" name="Text 15"/>
          <p:cNvSpPr/>
          <p:nvPr/>
        </p:nvSpPr>
        <p:spPr>
          <a:xfrm>
            <a:off x="2148840" y="4215384"/>
            <a:ext cx="3017520" cy="512064"/>
          </a:xfrm>
          <a:prstGeom prst="rect">
            <a:avLst/>
          </a:prstGeom>
          <a:noFill/>
          <a:ln/>
        </p:spPr>
        <p:txBody>
          <a:bodyPr wrap="square" rtlCol="0" anchor="ctr"/>
          <a:lstStyle/>
          <a:p>
            <a:pPr marL="0" indent="0">
              <a:buNone/>
            </a:pPr>
            <a:r>
              <a:rPr lang="en-US" sz="1500" b="1" dirty="0">
                <a:solidFill>
                  <a:srgbClr val="7A0C0C"/>
                </a:solidFill>
                <a:latin typeface="Courier New" pitchFamily="34" charset="0"/>
                <a:ea typeface="Courier New" pitchFamily="34" charset="-122"/>
                <a:cs typeface="Courier New" pitchFamily="34" charset="-120"/>
              </a:rPr>
              <a:t>/roasts/:id</a:t>
            </a:r>
            <a:endParaRPr lang="en-US" sz="1500" dirty="0"/>
          </a:p>
        </p:txBody>
      </p:sp>
      <p:sp>
        <p:nvSpPr>
          <p:cNvPr id="18" name="Text 16"/>
          <p:cNvSpPr/>
          <p:nvPr/>
        </p:nvSpPr>
        <p:spPr>
          <a:xfrm>
            <a:off x="5303520" y="4215384"/>
            <a:ext cx="6126480" cy="512064"/>
          </a:xfrm>
          <a:prstGeom prst="rect">
            <a:avLst/>
          </a:prstGeom>
          <a:noFill/>
          <a:ln/>
        </p:spPr>
        <p:txBody>
          <a:bodyPr wrap="square" rtlCol="0" anchor="ctr"/>
          <a:lstStyle/>
          <a:p>
            <a:pPr marL="0" indent="0">
              <a:buNone/>
            </a:pPr>
            <a:r>
              <a:rPr lang="en-US" sz="1300" dirty="0">
                <a:solidFill>
                  <a:srgbClr val="6B6B7B"/>
                </a:solidFill>
                <a:latin typeface="Calibri" pitchFamily="34" charset="0"/>
                <a:ea typeface="Calibri" pitchFamily="34" charset="-122"/>
                <a:cs typeface="Calibri" pitchFamily="34" charset="-120"/>
              </a:rPr>
              <a:t>Update an existing roast by ID</a:t>
            </a:r>
            <a:endParaRPr lang="en-US" sz="1300" dirty="0"/>
          </a:p>
        </p:txBody>
      </p:sp>
      <p:sp>
        <p:nvSpPr>
          <p:cNvPr id="19" name="Shape 17"/>
          <p:cNvSpPr/>
          <p:nvPr/>
        </p:nvSpPr>
        <p:spPr>
          <a:xfrm>
            <a:off x="548640" y="5111496"/>
            <a:ext cx="11064240" cy="896112"/>
          </a:xfrm>
          <a:prstGeom prst="roundRect">
            <a:avLst>
              <a:gd name="adj" fmla="val 8163"/>
            </a:avLst>
          </a:prstGeom>
          <a:solidFill>
            <a:srgbClr val="FFFFFF"/>
          </a:solidFill>
          <a:ln/>
          <a:effectLst>
            <a:outerShdw blurRad="63500" dist="25400" dir="5400000" algn="bl" rotWithShape="0">
              <a:srgbClr val="999999">
                <a:alpha val="18000"/>
              </a:srgbClr>
            </a:outerShdw>
          </a:effectLst>
        </p:spPr>
        <p:txBody>
          <a:bodyPr/>
          <a:lstStyle/>
          <a:p>
            <a:endParaRPr lang="en-IN"/>
          </a:p>
        </p:txBody>
      </p:sp>
      <p:sp>
        <p:nvSpPr>
          <p:cNvPr id="20" name="Shape 18"/>
          <p:cNvSpPr/>
          <p:nvPr/>
        </p:nvSpPr>
        <p:spPr>
          <a:xfrm>
            <a:off x="777240" y="5312664"/>
            <a:ext cx="1143000" cy="475488"/>
          </a:xfrm>
          <a:prstGeom prst="roundRect">
            <a:avLst>
              <a:gd name="adj" fmla="val 15385"/>
            </a:avLst>
          </a:prstGeom>
          <a:solidFill>
            <a:srgbClr val="990011"/>
          </a:solidFill>
          <a:ln/>
        </p:spPr>
        <p:txBody>
          <a:bodyPr/>
          <a:lstStyle/>
          <a:p>
            <a:endParaRPr lang="en-IN"/>
          </a:p>
        </p:txBody>
      </p:sp>
      <p:sp>
        <p:nvSpPr>
          <p:cNvPr id="21" name="Text 19"/>
          <p:cNvSpPr/>
          <p:nvPr/>
        </p:nvSpPr>
        <p:spPr>
          <a:xfrm>
            <a:off x="777240" y="5312664"/>
            <a:ext cx="1143000" cy="47548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DELETE</a:t>
            </a:r>
            <a:endParaRPr lang="en-US" sz="1300" dirty="0"/>
          </a:p>
        </p:txBody>
      </p:sp>
      <p:sp>
        <p:nvSpPr>
          <p:cNvPr id="22" name="Text 20"/>
          <p:cNvSpPr/>
          <p:nvPr/>
        </p:nvSpPr>
        <p:spPr>
          <a:xfrm>
            <a:off x="2148840" y="5294376"/>
            <a:ext cx="3017520" cy="512064"/>
          </a:xfrm>
          <a:prstGeom prst="rect">
            <a:avLst/>
          </a:prstGeom>
          <a:noFill/>
          <a:ln/>
        </p:spPr>
        <p:txBody>
          <a:bodyPr wrap="square" rtlCol="0" anchor="ctr"/>
          <a:lstStyle/>
          <a:p>
            <a:pPr marL="0" indent="0">
              <a:buNone/>
            </a:pPr>
            <a:r>
              <a:rPr lang="en-US" sz="1500" b="1" dirty="0">
                <a:solidFill>
                  <a:srgbClr val="7A0C0C"/>
                </a:solidFill>
                <a:latin typeface="Courier New" pitchFamily="34" charset="0"/>
                <a:ea typeface="Courier New" pitchFamily="34" charset="-122"/>
                <a:cs typeface="Courier New" pitchFamily="34" charset="-120"/>
              </a:rPr>
              <a:t>/roasts/:id</a:t>
            </a:r>
            <a:endParaRPr lang="en-US" sz="1500" dirty="0"/>
          </a:p>
        </p:txBody>
      </p:sp>
      <p:sp>
        <p:nvSpPr>
          <p:cNvPr id="23" name="Text 21"/>
          <p:cNvSpPr/>
          <p:nvPr/>
        </p:nvSpPr>
        <p:spPr>
          <a:xfrm>
            <a:off x="5303520" y="5294376"/>
            <a:ext cx="6126480" cy="512064"/>
          </a:xfrm>
          <a:prstGeom prst="rect">
            <a:avLst/>
          </a:prstGeom>
          <a:noFill/>
          <a:ln/>
        </p:spPr>
        <p:txBody>
          <a:bodyPr wrap="square" rtlCol="0" anchor="ctr"/>
          <a:lstStyle/>
          <a:p>
            <a:pPr marL="0" indent="0">
              <a:buNone/>
            </a:pPr>
            <a:r>
              <a:rPr lang="en-US" sz="1300" dirty="0">
                <a:solidFill>
                  <a:srgbClr val="6B6B7B"/>
                </a:solidFill>
                <a:latin typeface="Calibri" pitchFamily="34" charset="0"/>
                <a:ea typeface="Calibri" pitchFamily="34" charset="-122"/>
                <a:cs typeface="Calibri" pitchFamily="34" charset="-120"/>
              </a:rPr>
              <a:t>Delete a roast by ID</a:t>
            </a:r>
            <a:endParaRPr lang="en-US" sz="1300" dirty="0"/>
          </a:p>
        </p:txBody>
      </p:sp>
      <p:sp>
        <p:nvSpPr>
          <p:cNvPr id="24" name="Text 22"/>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6B6B7B"/>
                </a:solidFill>
                <a:latin typeface="Calibri" pitchFamily="34" charset="0"/>
                <a:ea typeface="Calibri" pitchFamily="34" charset="-122"/>
                <a:cs typeface="Calibri" pitchFamily="34" charset="-120"/>
              </a:rPr>
              <a:t>ILikeIt — The Ultimate Roast Vault</a:t>
            </a:r>
            <a:endParaRPr lang="en-US" sz="1000" dirty="0"/>
          </a:p>
        </p:txBody>
      </p:sp>
      <p:sp>
        <p:nvSpPr>
          <p:cNvPr id="25" name="Text 23"/>
          <p:cNvSpPr/>
          <p:nvPr/>
        </p:nvSpPr>
        <p:spPr>
          <a:xfrm>
            <a:off x="11430000" y="6537960"/>
            <a:ext cx="457200" cy="274320"/>
          </a:xfrm>
          <a:prstGeom prst="rect">
            <a:avLst/>
          </a:prstGeom>
          <a:noFill/>
          <a:ln/>
        </p:spPr>
        <p:txBody>
          <a:bodyPr wrap="square" rtlCol="0" anchor="ctr"/>
          <a:lstStyle/>
          <a:p>
            <a:pPr marL="0" indent="0" algn="r">
              <a:buNone/>
            </a:pPr>
            <a:r>
              <a:rPr lang="en-US" sz="1000" dirty="0">
                <a:solidFill>
                  <a:srgbClr val="6B6B7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8"/>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marL="0" indent="0">
              <a:buNone/>
            </a:pPr>
            <a:r>
              <a:rPr lang="en-US" sz="3400" b="1" dirty="0">
                <a:solidFill>
                  <a:srgbClr val="7A0C0C"/>
                </a:solidFill>
                <a:latin typeface="Cambria" pitchFamily="34" charset="0"/>
                <a:ea typeface="Cambria" pitchFamily="34" charset="-122"/>
                <a:cs typeface="Cambria" pitchFamily="34" charset="-120"/>
              </a:rPr>
              <a:t>Application Flow</a:t>
            </a:r>
            <a:endParaRPr lang="en-US" sz="3400" dirty="0"/>
          </a:p>
        </p:txBody>
      </p:sp>
      <p:sp>
        <p:nvSpPr>
          <p:cNvPr id="3" name="Text 1"/>
          <p:cNvSpPr/>
          <p:nvPr/>
        </p:nvSpPr>
        <p:spPr>
          <a:xfrm>
            <a:off x="548640" y="1143000"/>
            <a:ext cx="8229600" cy="365760"/>
          </a:xfrm>
          <a:prstGeom prst="rect">
            <a:avLst/>
          </a:prstGeom>
          <a:noFill/>
          <a:ln/>
        </p:spPr>
        <p:txBody>
          <a:bodyPr wrap="square" rtlCol="0" anchor="ctr"/>
          <a:lstStyle/>
          <a:p>
            <a:pPr marL="0" indent="0">
              <a:buNone/>
            </a:pPr>
            <a:r>
              <a:rPr lang="en-US" sz="1600" b="1" dirty="0">
                <a:solidFill>
                  <a:srgbClr val="C81D25"/>
                </a:solidFill>
                <a:latin typeface="Calibri" pitchFamily="34" charset="0"/>
                <a:ea typeface="Calibri" pitchFamily="34" charset="-122"/>
                <a:cs typeface="Calibri" pitchFamily="34" charset="-120"/>
              </a:rPr>
              <a:t>From user input to a live, shared feed</a:t>
            </a:r>
            <a:endParaRPr lang="en-US" sz="1600" dirty="0"/>
          </a:p>
        </p:txBody>
      </p:sp>
      <p:sp>
        <p:nvSpPr>
          <p:cNvPr id="4" name="Shape 2"/>
          <p:cNvSpPr/>
          <p:nvPr/>
        </p:nvSpPr>
        <p:spPr>
          <a:xfrm>
            <a:off x="548640" y="1965960"/>
            <a:ext cx="2560320" cy="3657600"/>
          </a:xfrm>
          <a:prstGeom prst="roundRect">
            <a:avLst>
              <a:gd name="adj" fmla="val 4286"/>
            </a:avLst>
          </a:prstGeom>
          <a:solidFill>
            <a:srgbClr val="FFFFFF"/>
          </a:solidFill>
          <a:ln/>
          <a:effectLst>
            <a:outerShdw blurRad="76200" dist="38100" dir="5400000" algn="bl" rotWithShape="0">
              <a:srgbClr val="999999">
                <a:alpha val="20000"/>
              </a:srgbClr>
            </a:outerShdw>
          </a:effectLst>
        </p:spPr>
        <p:txBody>
          <a:bodyPr/>
          <a:lstStyle/>
          <a:p>
            <a:endParaRPr lang="en-IN"/>
          </a:p>
        </p:txBody>
      </p:sp>
      <p:sp>
        <p:nvSpPr>
          <p:cNvPr id="5" name="Text 3"/>
          <p:cNvSpPr/>
          <p:nvPr/>
        </p:nvSpPr>
        <p:spPr>
          <a:xfrm>
            <a:off x="731520" y="2103120"/>
            <a:ext cx="1097280" cy="548640"/>
          </a:xfrm>
          <a:prstGeom prst="rect">
            <a:avLst/>
          </a:prstGeom>
          <a:noFill/>
          <a:ln/>
        </p:spPr>
        <p:txBody>
          <a:bodyPr wrap="square" rtlCol="0" anchor="ctr"/>
          <a:lstStyle/>
          <a:p>
            <a:pPr marL="0" indent="0">
              <a:buNone/>
            </a:pPr>
            <a:r>
              <a:rPr lang="en-US" sz="2600" b="1" dirty="0">
                <a:solidFill>
                  <a:srgbClr val="E4E4EC"/>
                </a:solidFill>
                <a:latin typeface="Cambria" pitchFamily="34" charset="0"/>
                <a:ea typeface="Cambria" pitchFamily="34" charset="-122"/>
                <a:cs typeface="Cambria" pitchFamily="34" charset="-120"/>
              </a:rPr>
              <a:t>01</a:t>
            </a:r>
            <a:endParaRPr lang="en-US" sz="2600" dirty="0"/>
          </a:p>
        </p:txBody>
      </p:sp>
      <p:sp>
        <p:nvSpPr>
          <p:cNvPr id="6" name="Shape 4"/>
          <p:cNvSpPr/>
          <p:nvPr/>
        </p:nvSpPr>
        <p:spPr>
          <a:xfrm>
            <a:off x="1463040" y="2651760"/>
            <a:ext cx="731520" cy="731520"/>
          </a:xfrm>
          <a:prstGeom prst="ellipse">
            <a:avLst/>
          </a:prstGeom>
          <a:solidFill>
            <a:srgbClr val="C81D25"/>
          </a:solidFill>
          <a:ln/>
        </p:spPr>
        <p:txBody>
          <a:bodyPr/>
          <a:lstStyle/>
          <a:p>
            <a:endParaRPr lang="en-IN"/>
          </a:p>
        </p:txBody>
      </p:sp>
      <p:pic>
        <p:nvPicPr>
          <p:cNvPr id="7" name="Image 0" descr="/home/claude/icons/pen.png"/>
          <p:cNvPicPr>
            <a:picLocks noChangeAspect="1"/>
          </p:cNvPicPr>
          <p:nvPr/>
        </p:nvPicPr>
        <p:blipFill>
          <a:blip r:embed="rId3"/>
          <a:stretch>
            <a:fillRect/>
          </a:stretch>
        </p:blipFill>
        <p:spPr>
          <a:xfrm>
            <a:off x="1627632" y="2816352"/>
            <a:ext cx="402336" cy="402336"/>
          </a:xfrm>
          <a:prstGeom prst="rect">
            <a:avLst/>
          </a:prstGeom>
        </p:spPr>
      </p:pic>
      <p:sp>
        <p:nvSpPr>
          <p:cNvPr id="8" name="Text 5"/>
          <p:cNvSpPr/>
          <p:nvPr/>
        </p:nvSpPr>
        <p:spPr>
          <a:xfrm>
            <a:off x="731520" y="3566160"/>
            <a:ext cx="2194560" cy="594360"/>
          </a:xfrm>
          <a:prstGeom prst="rect">
            <a:avLst/>
          </a:prstGeom>
          <a:noFill/>
          <a:ln/>
        </p:spPr>
        <p:txBody>
          <a:bodyPr wrap="square" rtlCol="0" anchor="ctr"/>
          <a:lstStyle/>
          <a:p>
            <a:pPr marL="0" indent="0" algn="ctr">
              <a:buNone/>
            </a:pPr>
            <a:r>
              <a:rPr lang="en-US" sz="1450" b="1" dirty="0">
                <a:solidFill>
                  <a:srgbClr val="7A0C0C"/>
                </a:solidFill>
                <a:latin typeface="Calibri" pitchFamily="34" charset="0"/>
                <a:ea typeface="Calibri" pitchFamily="34" charset="-122"/>
                <a:cs typeface="Calibri" pitchFamily="34" charset="-120"/>
              </a:rPr>
              <a:t>Write a Roast</a:t>
            </a:r>
            <a:endParaRPr lang="en-US" sz="1450" dirty="0"/>
          </a:p>
        </p:txBody>
      </p:sp>
      <p:sp>
        <p:nvSpPr>
          <p:cNvPr id="9" name="Text 6"/>
          <p:cNvSpPr/>
          <p:nvPr/>
        </p:nvSpPr>
        <p:spPr>
          <a:xfrm>
            <a:off x="731520" y="4160520"/>
            <a:ext cx="2194560" cy="1371600"/>
          </a:xfrm>
          <a:prstGeom prst="rect">
            <a:avLst/>
          </a:prstGeom>
          <a:noFill/>
          <a:ln/>
        </p:spPr>
        <p:txBody>
          <a:bodyPr wrap="square" rtlCol="0" anchor="ctr"/>
          <a:lstStyle/>
          <a:p>
            <a:pPr marL="0" indent="0" algn="ctr">
              <a:lnSpc>
                <a:spcPct val="120000"/>
              </a:lnSpc>
              <a:buNone/>
            </a:pPr>
            <a:r>
              <a:rPr lang="en-US" sz="1150" dirty="0">
                <a:solidFill>
                  <a:srgbClr val="6B6B7B"/>
                </a:solidFill>
                <a:latin typeface="Calibri" pitchFamily="34" charset="0"/>
                <a:ea typeface="Calibri" pitchFamily="34" charset="-122"/>
                <a:cs typeface="Calibri" pitchFamily="34" charset="-120"/>
              </a:rPr>
              <a:t>User fills in a friend's name, category, and roast text in the form.</a:t>
            </a:r>
            <a:endParaRPr lang="en-US" sz="1150" dirty="0"/>
          </a:p>
        </p:txBody>
      </p:sp>
      <p:sp>
        <p:nvSpPr>
          <p:cNvPr id="10" name="Shape 7"/>
          <p:cNvSpPr/>
          <p:nvPr/>
        </p:nvSpPr>
        <p:spPr>
          <a:xfrm>
            <a:off x="3145536" y="3794760"/>
            <a:ext cx="246888" cy="0"/>
          </a:xfrm>
          <a:prstGeom prst="line">
            <a:avLst/>
          </a:prstGeom>
          <a:noFill/>
          <a:ln w="25400">
            <a:solidFill>
              <a:srgbClr val="C81D25"/>
            </a:solidFill>
            <a:prstDash val="solid"/>
            <a:tailEnd type="triangle"/>
          </a:ln>
        </p:spPr>
        <p:txBody>
          <a:bodyPr/>
          <a:lstStyle/>
          <a:p>
            <a:endParaRPr lang="en-IN"/>
          </a:p>
        </p:txBody>
      </p:sp>
      <p:sp>
        <p:nvSpPr>
          <p:cNvPr id="11" name="Shape 8"/>
          <p:cNvSpPr/>
          <p:nvPr/>
        </p:nvSpPr>
        <p:spPr>
          <a:xfrm>
            <a:off x="3429000" y="1965960"/>
            <a:ext cx="2560320" cy="3657600"/>
          </a:xfrm>
          <a:prstGeom prst="roundRect">
            <a:avLst>
              <a:gd name="adj" fmla="val 4286"/>
            </a:avLst>
          </a:prstGeom>
          <a:solidFill>
            <a:srgbClr val="FFFFFF"/>
          </a:solidFill>
          <a:ln/>
          <a:effectLst>
            <a:outerShdw blurRad="76200" dist="38100" dir="5400000" algn="bl" rotWithShape="0">
              <a:srgbClr val="999999">
                <a:alpha val="20000"/>
              </a:srgbClr>
            </a:outerShdw>
          </a:effectLst>
        </p:spPr>
        <p:txBody>
          <a:bodyPr/>
          <a:lstStyle/>
          <a:p>
            <a:endParaRPr lang="en-IN"/>
          </a:p>
        </p:txBody>
      </p:sp>
      <p:sp>
        <p:nvSpPr>
          <p:cNvPr id="12" name="Text 9"/>
          <p:cNvSpPr/>
          <p:nvPr/>
        </p:nvSpPr>
        <p:spPr>
          <a:xfrm>
            <a:off x="3611880" y="2103120"/>
            <a:ext cx="1097280" cy="548640"/>
          </a:xfrm>
          <a:prstGeom prst="rect">
            <a:avLst/>
          </a:prstGeom>
          <a:noFill/>
          <a:ln/>
        </p:spPr>
        <p:txBody>
          <a:bodyPr wrap="square" rtlCol="0" anchor="ctr"/>
          <a:lstStyle/>
          <a:p>
            <a:pPr marL="0" indent="0">
              <a:buNone/>
            </a:pPr>
            <a:r>
              <a:rPr lang="en-US" sz="2600" b="1" dirty="0">
                <a:solidFill>
                  <a:srgbClr val="E4E4EC"/>
                </a:solidFill>
                <a:latin typeface="Cambria" pitchFamily="34" charset="0"/>
                <a:ea typeface="Cambria" pitchFamily="34" charset="-122"/>
                <a:cs typeface="Cambria" pitchFamily="34" charset="-120"/>
              </a:rPr>
              <a:t>02</a:t>
            </a:r>
            <a:endParaRPr lang="en-US" sz="2600" dirty="0"/>
          </a:p>
        </p:txBody>
      </p:sp>
      <p:sp>
        <p:nvSpPr>
          <p:cNvPr id="13" name="Shape 10"/>
          <p:cNvSpPr/>
          <p:nvPr/>
        </p:nvSpPr>
        <p:spPr>
          <a:xfrm>
            <a:off x="4343400" y="2651760"/>
            <a:ext cx="731520" cy="731520"/>
          </a:xfrm>
          <a:prstGeom prst="ellipse">
            <a:avLst/>
          </a:prstGeom>
          <a:solidFill>
            <a:srgbClr val="C81D25"/>
          </a:solidFill>
          <a:ln/>
        </p:spPr>
        <p:txBody>
          <a:bodyPr/>
          <a:lstStyle/>
          <a:p>
            <a:endParaRPr lang="en-IN"/>
          </a:p>
        </p:txBody>
      </p:sp>
      <p:pic>
        <p:nvPicPr>
          <p:cNvPr id="14" name="Image 1" descr="/home/claude/icons/paperplane.png"/>
          <p:cNvPicPr>
            <a:picLocks noChangeAspect="1"/>
          </p:cNvPicPr>
          <p:nvPr/>
        </p:nvPicPr>
        <p:blipFill>
          <a:blip r:embed="rId4"/>
          <a:stretch>
            <a:fillRect/>
          </a:stretch>
        </p:blipFill>
        <p:spPr>
          <a:xfrm>
            <a:off x="4507992" y="2816352"/>
            <a:ext cx="402336" cy="402336"/>
          </a:xfrm>
          <a:prstGeom prst="rect">
            <a:avLst/>
          </a:prstGeom>
        </p:spPr>
      </p:pic>
      <p:sp>
        <p:nvSpPr>
          <p:cNvPr id="15" name="Text 11"/>
          <p:cNvSpPr/>
          <p:nvPr/>
        </p:nvSpPr>
        <p:spPr>
          <a:xfrm>
            <a:off x="3611880" y="3566160"/>
            <a:ext cx="2194560" cy="594360"/>
          </a:xfrm>
          <a:prstGeom prst="rect">
            <a:avLst/>
          </a:prstGeom>
          <a:noFill/>
          <a:ln/>
        </p:spPr>
        <p:txBody>
          <a:bodyPr wrap="square" rtlCol="0" anchor="ctr"/>
          <a:lstStyle/>
          <a:p>
            <a:pPr marL="0" indent="0" algn="ctr">
              <a:buNone/>
            </a:pPr>
            <a:r>
              <a:rPr lang="en-US" sz="1450" b="1" dirty="0">
                <a:solidFill>
                  <a:srgbClr val="7A0C0C"/>
                </a:solidFill>
                <a:latin typeface="Calibri" pitchFamily="34" charset="0"/>
                <a:ea typeface="Calibri" pitchFamily="34" charset="-122"/>
                <a:cs typeface="Calibri" pitchFamily="34" charset="-120"/>
              </a:rPr>
              <a:t>Submit to API</a:t>
            </a:r>
            <a:endParaRPr lang="en-US" sz="1450" dirty="0"/>
          </a:p>
        </p:txBody>
      </p:sp>
      <p:sp>
        <p:nvSpPr>
          <p:cNvPr id="16" name="Text 12"/>
          <p:cNvSpPr/>
          <p:nvPr/>
        </p:nvSpPr>
        <p:spPr>
          <a:xfrm>
            <a:off x="3611880" y="4160520"/>
            <a:ext cx="2194560" cy="1371600"/>
          </a:xfrm>
          <a:prstGeom prst="rect">
            <a:avLst/>
          </a:prstGeom>
          <a:noFill/>
          <a:ln/>
        </p:spPr>
        <p:txBody>
          <a:bodyPr wrap="square" rtlCol="0" anchor="ctr"/>
          <a:lstStyle/>
          <a:p>
            <a:pPr marL="0" indent="0" algn="ctr">
              <a:lnSpc>
                <a:spcPct val="120000"/>
              </a:lnSpc>
              <a:buNone/>
            </a:pPr>
            <a:r>
              <a:rPr lang="en-US" sz="1150" dirty="0">
                <a:solidFill>
                  <a:srgbClr val="6B6B7B"/>
                </a:solidFill>
                <a:latin typeface="Calibri" pitchFamily="34" charset="0"/>
                <a:ea typeface="Calibri" pitchFamily="34" charset="-122"/>
                <a:cs typeface="Calibri" pitchFamily="34" charset="-120"/>
              </a:rPr>
              <a:t>React sends a POST (or PUT) request with JSON data to the Express server.</a:t>
            </a:r>
            <a:endParaRPr lang="en-US" sz="1150" dirty="0"/>
          </a:p>
        </p:txBody>
      </p:sp>
      <p:sp>
        <p:nvSpPr>
          <p:cNvPr id="17" name="Shape 13"/>
          <p:cNvSpPr/>
          <p:nvPr/>
        </p:nvSpPr>
        <p:spPr>
          <a:xfrm>
            <a:off x="6025896" y="3794760"/>
            <a:ext cx="246888" cy="0"/>
          </a:xfrm>
          <a:prstGeom prst="line">
            <a:avLst/>
          </a:prstGeom>
          <a:noFill/>
          <a:ln w="25400">
            <a:solidFill>
              <a:srgbClr val="C81D25"/>
            </a:solidFill>
            <a:prstDash val="solid"/>
            <a:tailEnd type="triangle"/>
          </a:ln>
        </p:spPr>
        <p:txBody>
          <a:bodyPr/>
          <a:lstStyle/>
          <a:p>
            <a:endParaRPr lang="en-IN"/>
          </a:p>
        </p:txBody>
      </p:sp>
      <p:sp>
        <p:nvSpPr>
          <p:cNvPr id="18" name="Shape 14"/>
          <p:cNvSpPr/>
          <p:nvPr/>
        </p:nvSpPr>
        <p:spPr>
          <a:xfrm>
            <a:off x="6309360" y="1965960"/>
            <a:ext cx="2560320" cy="3657600"/>
          </a:xfrm>
          <a:prstGeom prst="roundRect">
            <a:avLst>
              <a:gd name="adj" fmla="val 4286"/>
            </a:avLst>
          </a:prstGeom>
          <a:solidFill>
            <a:srgbClr val="FFFFFF"/>
          </a:solidFill>
          <a:ln/>
          <a:effectLst>
            <a:outerShdw blurRad="76200" dist="38100" dir="5400000" algn="bl" rotWithShape="0">
              <a:srgbClr val="999999">
                <a:alpha val="20000"/>
              </a:srgbClr>
            </a:outerShdw>
          </a:effectLst>
        </p:spPr>
        <p:txBody>
          <a:bodyPr/>
          <a:lstStyle/>
          <a:p>
            <a:endParaRPr lang="en-IN"/>
          </a:p>
        </p:txBody>
      </p:sp>
      <p:sp>
        <p:nvSpPr>
          <p:cNvPr id="19" name="Text 15"/>
          <p:cNvSpPr/>
          <p:nvPr/>
        </p:nvSpPr>
        <p:spPr>
          <a:xfrm>
            <a:off x="6492240" y="2103120"/>
            <a:ext cx="1097280" cy="548640"/>
          </a:xfrm>
          <a:prstGeom prst="rect">
            <a:avLst/>
          </a:prstGeom>
          <a:noFill/>
          <a:ln/>
        </p:spPr>
        <p:txBody>
          <a:bodyPr wrap="square" rtlCol="0" anchor="ctr"/>
          <a:lstStyle/>
          <a:p>
            <a:pPr marL="0" indent="0">
              <a:buNone/>
            </a:pPr>
            <a:r>
              <a:rPr lang="en-US" sz="2600" b="1" dirty="0">
                <a:solidFill>
                  <a:srgbClr val="E4E4EC"/>
                </a:solidFill>
                <a:latin typeface="Cambria" pitchFamily="34" charset="0"/>
                <a:ea typeface="Cambria" pitchFamily="34" charset="-122"/>
                <a:cs typeface="Cambria" pitchFamily="34" charset="-120"/>
              </a:rPr>
              <a:t>03</a:t>
            </a:r>
            <a:endParaRPr lang="en-US" sz="2600" dirty="0"/>
          </a:p>
        </p:txBody>
      </p:sp>
      <p:sp>
        <p:nvSpPr>
          <p:cNvPr id="20" name="Shape 16"/>
          <p:cNvSpPr/>
          <p:nvPr/>
        </p:nvSpPr>
        <p:spPr>
          <a:xfrm>
            <a:off x="7223760" y="2651760"/>
            <a:ext cx="731520" cy="731520"/>
          </a:xfrm>
          <a:prstGeom prst="ellipse">
            <a:avLst/>
          </a:prstGeom>
          <a:solidFill>
            <a:srgbClr val="C81D25"/>
          </a:solidFill>
          <a:ln/>
        </p:spPr>
        <p:txBody>
          <a:bodyPr/>
          <a:lstStyle/>
          <a:p>
            <a:endParaRPr lang="en-IN"/>
          </a:p>
        </p:txBody>
      </p:sp>
      <p:pic>
        <p:nvPicPr>
          <p:cNvPr id="21" name="Image 2" descr="/home/claude/icons/database.png"/>
          <p:cNvPicPr>
            <a:picLocks noChangeAspect="1"/>
          </p:cNvPicPr>
          <p:nvPr/>
        </p:nvPicPr>
        <p:blipFill>
          <a:blip r:embed="rId5"/>
          <a:stretch>
            <a:fillRect/>
          </a:stretch>
        </p:blipFill>
        <p:spPr>
          <a:xfrm>
            <a:off x="7388352" y="2816352"/>
            <a:ext cx="402336" cy="402336"/>
          </a:xfrm>
          <a:prstGeom prst="rect">
            <a:avLst/>
          </a:prstGeom>
        </p:spPr>
      </p:pic>
      <p:sp>
        <p:nvSpPr>
          <p:cNvPr id="22" name="Text 17"/>
          <p:cNvSpPr/>
          <p:nvPr/>
        </p:nvSpPr>
        <p:spPr>
          <a:xfrm>
            <a:off x="6492240" y="3566160"/>
            <a:ext cx="2194560" cy="594360"/>
          </a:xfrm>
          <a:prstGeom prst="rect">
            <a:avLst/>
          </a:prstGeom>
          <a:noFill/>
          <a:ln/>
        </p:spPr>
        <p:txBody>
          <a:bodyPr wrap="square" rtlCol="0" anchor="ctr"/>
          <a:lstStyle/>
          <a:p>
            <a:pPr marL="0" indent="0" algn="ctr">
              <a:buNone/>
            </a:pPr>
            <a:r>
              <a:rPr lang="en-US" sz="1450" b="1" dirty="0">
                <a:solidFill>
                  <a:srgbClr val="7A0C0C"/>
                </a:solidFill>
                <a:latin typeface="Calibri" pitchFamily="34" charset="0"/>
                <a:ea typeface="Calibri" pitchFamily="34" charset="-122"/>
                <a:cs typeface="Calibri" pitchFamily="34" charset="-120"/>
              </a:rPr>
              <a:t>Persist to DB</a:t>
            </a:r>
            <a:endParaRPr lang="en-US" sz="1450" dirty="0"/>
          </a:p>
        </p:txBody>
      </p:sp>
      <p:sp>
        <p:nvSpPr>
          <p:cNvPr id="23" name="Text 18"/>
          <p:cNvSpPr/>
          <p:nvPr/>
        </p:nvSpPr>
        <p:spPr>
          <a:xfrm>
            <a:off x="6492240" y="4160520"/>
            <a:ext cx="2194560" cy="1371600"/>
          </a:xfrm>
          <a:prstGeom prst="rect">
            <a:avLst/>
          </a:prstGeom>
          <a:noFill/>
          <a:ln/>
        </p:spPr>
        <p:txBody>
          <a:bodyPr wrap="square" rtlCol="0" anchor="ctr"/>
          <a:lstStyle/>
          <a:p>
            <a:pPr marL="0" indent="0" algn="ctr">
              <a:lnSpc>
                <a:spcPct val="120000"/>
              </a:lnSpc>
              <a:buNone/>
            </a:pPr>
            <a:r>
              <a:rPr lang="en-US" sz="1150" dirty="0">
                <a:solidFill>
                  <a:srgbClr val="6B6B7B"/>
                </a:solidFill>
                <a:latin typeface="Calibri" pitchFamily="34" charset="0"/>
                <a:ea typeface="Calibri" pitchFamily="34" charset="-122"/>
                <a:cs typeface="Calibri" pitchFamily="34" charset="-120"/>
              </a:rPr>
              <a:t>Express validates the request and writes the record to PostgreSQL.</a:t>
            </a:r>
            <a:endParaRPr lang="en-US" sz="1150" dirty="0"/>
          </a:p>
        </p:txBody>
      </p:sp>
      <p:sp>
        <p:nvSpPr>
          <p:cNvPr id="24" name="Shape 19"/>
          <p:cNvSpPr/>
          <p:nvPr/>
        </p:nvSpPr>
        <p:spPr>
          <a:xfrm>
            <a:off x="8906256" y="3794760"/>
            <a:ext cx="246888" cy="0"/>
          </a:xfrm>
          <a:prstGeom prst="line">
            <a:avLst/>
          </a:prstGeom>
          <a:noFill/>
          <a:ln w="25400">
            <a:solidFill>
              <a:srgbClr val="C81D25"/>
            </a:solidFill>
            <a:prstDash val="solid"/>
            <a:tailEnd type="triangle"/>
          </a:ln>
        </p:spPr>
        <p:txBody>
          <a:bodyPr/>
          <a:lstStyle/>
          <a:p>
            <a:endParaRPr lang="en-IN"/>
          </a:p>
        </p:txBody>
      </p:sp>
      <p:sp>
        <p:nvSpPr>
          <p:cNvPr id="25" name="Shape 20"/>
          <p:cNvSpPr/>
          <p:nvPr/>
        </p:nvSpPr>
        <p:spPr>
          <a:xfrm>
            <a:off x="9189720" y="1965960"/>
            <a:ext cx="2560320" cy="3657600"/>
          </a:xfrm>
          <a:prstGeom prst="roundRect">
            <a:avLst>
              <a:gd name="adj" fmla="val 4286"/>
            </a:avLst>
          </a:prstGeom>
          <a:solidFill>
            <a:srgbClr val="FFFFFF"/>
          </a:solidFill>
          <a:ln/>
          <a:effectLst>
            <a:outerShdw blurRad="76200" dist="38100" dir="5400000" algn="bl" rotWithShape="0">
              <a:srgbClr val="999999">
                <a:alpha val="20000"/>
              </a:srgbClr>
            </a:outerShdw>
          </a:effectLst>
        </p:spPr>
        <p:txBody>
          <a:bodyPr/>
          <a:lstStyle/>
          <a:p>
            <a:endParaRPr lang="en-IN"/>
          </a:p>
        </p:txBody>
      </p:sp>
      <p:sp>
        <p:nvSpPr>
          <p:cNvPr id="26" name="Text 21"/>
          <p:cNvSpPr/>
          <p:nvPr/>
        </p:nvSpPr>
        <p:spPr>
          <a:xfrm>
            <a:off x="9372600" y="2103120"/>
            <a:ext cx="1097280" cy="548640"/>
          </a:xfrm>
          <a:prstGeom prst="rect">
            <a:avLst/>
          </a:prstGeom>
          <a:noFill/>
          <a:ln/>
        </p:spPr>
        <p:txBody>
          <a:bodyPr wrap="square" rtlCol="0" anchor="ctr"/>
          <a:lstStyle/>
          <a:p>
            <a:pPr marL="0" indent="0">
              <a:buNone/>
            </a:pPr>
            <a:r>
              <a:rPr lang="en-US" sz="2600" b="1" dirty="0">
                <a:solidFill>
                  <a:srgbClr val="E4E4EC"/>
                </a:solidFill>
                <a:latin typeface="Cambria" pitchFamily="34" charset="0"/>
                <a:ea typeface="Cambria" pitchFamily="34" charset="-122"/>
                <a:cs typeface="Cambria" pitchFamily="34" charset="-120"/>
              </a:rPr>
              <a:t>04</a:t>
            </a:r>
            <a:endParaRPr lang="en-US" sz="2600" dirty="0"/>
          </a:p>
        </p:txBody>
      </p:sp>
      <p:sp>
        <p:nvSpPr>
          <p:cNvPr id="27" name="Shape 22"/>
          <p:cNvSpPr/>
          <p:nvPr/>
        </p:nvSpPr>
        <p:spPr>
          <a:xfrm>
            <a:off x="10104120" y="2651760"/>
            <a:ext cx="731520" cy="731520"/>
          </a:xfrm>
          <a:prstGeom prst="ellipse">
            <a:avLst/>
          </a:prstGeom>
          <a:solidFill>
            <a:srgbClr val="C81D25"/>
          </a:solidFill>
          <a:ln/>
        </p:spPr>
        <p:txBody>
          <a:bodyPr/>
          <a:lstStyle/>
          <a:p>
            <a:endParaRPr lang="en-IN"/>
          </a:p>
        </p:txBody>
      </p:sp>
      <p:pic>
        <p:nvPicPr>
          <p:cNvPr id="28" name="Image 3" descr="/home/claude/icons/grid.png"/>
          <p:cNvPicPr>
            <a:picLocks noChangeAspect="1"/>
          </p:cNvPicPr>
          <p:nvPr/>
        </p:nvPicPr>
        <p:blipFill>
          <a:blip r:embed="rId6"/>
          <a:stretch>
            <a:fillRect/>
          </a:stretch>
        </p:blipFill>
        <p:spPr>
          <a:xfrm>
            <a:off x="10268712" y="2816352"/>
            <a:ext cx="402336" cy="402336"/>
          </a:xfrm>
          <a:prstGeom prst="rect">
            <a:avLst/>
          </a:prstGeom>
        </p:spPr>
      </p:pic>
      <p:sp>
        <p:nvSpPr>
          <p:cNvPr id="29" name="Text 23"/>
          <p:cNvSpPr/>
          <p:nvPr/>
        </p:nvSpPr>
        <p:spPr>
          <a:xfrm>
            <a:off x="9372600" y="3566160"/>
            <a:ext cx="2194560" cy="594360"/>
          </a:xfrm>
          <a:prstGeom prst="rect">
            <a:avLst/>
          </a:prstGeom>
          <a:noFill/>
          <a:ln/>
        </p:spPr>
        <p:txBody>
          <a:bodyPr wrap="square" rtlCol="0" anchor="ctr"/>
          <a:lstStyle/>
          <a:p>
            <a:pPr marL="0" indent="0" algn="ctr">
              <a:buNone/>
            </a:pPr>
            <a:r>
              <a:rPr lang="en-US" sz="1450" b="1" dirty="0">
                <a:solidFill>
                  <a:srgbClr val="7A0C0C"/>
                </a:solidFill>
                <a:latin typeface="Calibri" pitchFamily="34" charset="0"/>
                <a:ea typeface="Calibri" pitchFamily="34" charset="-122"/>
                <a:cs typeface="Calibri" pitchFamily="34" charset="-120"/>
              </a:rPr>
              <a:t>Refresh the Feed</a:t>
            </a:r>
            <a:endParaRPr lang="en-US" sz="1450" dirty="0"/>
          </a:p>
        </p:txBody>
      </p:sp>
      <p:sp>
        <p:nvSpPr>
          <p:cNvPr id="30" name="Text 24"/>
          <p:cNvSpPr/>
          <p:nvPr/>
        </p:nvSpPr>
        <p:spPr>
          <a:xfrm>
            <a:off x="9372600" y="4160520"/>
            <a:ext cx="2194560" cy="1371600"/>
          </a:xfrm>
          <a:prstGeom prst="rect">
            <a:avLst/>
          </a:prstGeom>
          <a:noFill/>
          <a:ln/>
        </p:spPr>
        <p:txBody>
          <a:bodyPr wrap="square" rtlCol="0" anchor="ctr"/>
          <a:lstStyle/>
          <a:p>
            <a:pPr marL="0" indent="0" algn="ctr">
              <a:lnSpc>
                <a:spcPct val="120000"/>
              </a:lnSpc>
              <a:buNone/>
            </a:pPr>
            <a:r>
              <a:rPr lang="en-US" sz="1150" dirty="0">
                <a:solidFill>
                  <a:srgbClr val="6B6B7B"/>
                </a:solidFill>
                <a:latin typeface="Calibri" pitchFamily="34" charset="0"/>
                <a:ea typeface="Calibri" pitchFamily="34" charset="-122"/>
                <a:cs typeface="Calibri" pitchFamily="34" charset="-120"/>
              </a:rPr>
              <a:t>The client re-fetches /roasts and instantly renders the updated card grid.</a:t>
            </a:r>
            <a:endParaRPr lang="en-US" sz="1150" dirty="0"/>
          </a:p>
        </p:txBody>
      </p:sp>
      <p:sp>
        <p:nvSpPr>
          <p:cNvPr id="31" name="Text 25"/>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6B6B7B"/>
                </a:solidFill>
                <a:latin typeface="Calibri" pitchFamily="34" charset="0"/>
                <a:ea typeface="Calibri" pitchFamily="34" charset="-122"/>
                <a:cs typeface="Calibri" pitchFamily="34" charset="-120"/>
              </a:rPr>
              <a:t>ILikeIt — The Ultimate Roast Vault</a:t>
            </a:r>
            <a:endParaRPr lang="en-US" sz="1000" dirty="0"/>
          </a:p>
        </p:txBody>
      </p:sp>
      <p:sp>
        <p:nvSpPr>
          <p:cNvPr id="32" name="Text 26"/>
          <p:cNvSpPr/>
          <p:nvPr/>
        </p:nvSpPr>
        <p:spPr>
          <a:xfrm>
            <a:off x="11430000" y="6537960"/>
            <a:ext cx="457200" cy="274320"/>
          </a:xfrm>
          <a:prstGeom prst="rect">
            <a:avLst/>
          </a:prstGeom>
          <a:noFill/>
          <a:ln/>
        </p:spPr>
        <p:txBody>
          <a:bodyPr wrap="square" rtlCol="0" anchor="ctr"/>
          <a:lstStyle/>
          <a:p>
            <a:pPr marL="0" indent="0" algn="r">
              <a:buNone/>
            </a:pPr>
            <a:r>
              <a:rPr lang="en-US" sz="1000" dirty="0">
                <a:solidFill>
                  <a:srgbClr val="6B6B7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8"/>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marL="0" indent="0">
              <a:buNone/>
            </a:pPr>
            <a:r>
              <a:rPr lang="en-US" sz="3400" b="1" dirty="0">
                <a:solidFill>
                  <a:srgbClr val="7A0C0C"/>
                </a:solidFill>
                <a:latin typeface="Cambria" pitchFamily="34" charset="0"/>
                <a:ea typeface="Cambria" pitchFamily="34" charset="-122"/>
                <a:cs typeface="Cambria" pitchFamily="34" charset="-120"/>
              </a:rPr>
              <a:t>Development &amp; Tooling</a:t>
            </a:r>
            <a:endParaRPr lang="en-US" sz="3400" dirty="0"/>
          </a:p>
        </p:txBody>
      </p:sp>
      <p:sp>
        <p:nvSpPr>
          <p:cNvPr id="3" name="Text 1"/>
          <p:cNvSpPr/>
          <p:nvPr/>
        </p:nvSpPr>
        <p:spPr>
          <a:xfrm>
            <a:off x="548640" y="1143000"/>
            <a:ext cx="9144000" cy="365760"/>
          </a:xfrm>
          <a:prstGeom prst="rect">
            <a:avLst/>
          </a:prstGeom>
          <a:noFill/>
          <a:ln/>
        </p:spPr>
        <p:txBody>
          <a:bodyPr wrap="square" rtlCol="0" anchor="ctr"/>
          <a:lstStyle/>
          <a:p>
            <a:pPr marL="0" indent="0">
              <a:buNone/>
            </a:pPr>
            <a:r>
              <a:rPr lang="en-US" sz="1600" b="1" dirty="0">
                <a:solidFill>
                  <a:srgbClr val="C81D25"/>
                </a:solidFill>
                <a:latin typeface="Calibri" pitchFamily="34" charset="0"/>
                <a:ea typeface="Calibri" pitchFamily="34" charset="-122"/>
                <a:cs typeface="Calibri" pitchFamily="34" charset="-120"/>
              </a:rPr>
              <a:t>How the project is built, versioned, and configured</a:t>
            </a:r>
            <a:endParaRPr lang="en-US" sz="1600" dirty="0"/>
          </a:p>
        </p:txBody>
      </p:sp>
      <p:sp>
        <p:nvSpPr>
          <p:cNvPr id="4" name="Shape 2"/>
          <p:cNvSpPr/>
          <p:nvPr/>
        </p:nvSpPr>
        <p:spPr>
          <a:xfrm>
            <a:off x="548640" y="1783080"/>
            <a:ext cx="3611880" cy="1874520"/>
          </a:xfrm>
          <a:prstGeom prst="roundRect">
            <a:avLst>
              <a:gd name="adj" fmla="val 4878"/>
            </a:avLst>
          </a:prstGeom>
          <a:solidFill>
            <a:srgbClr val="FFFFFF"/>
          </a:solidFill>
          <a:ln/>
          <a:effectLst>
            <a:outerShdw blurRad="76200" dist="38100" dir="5400000" algn="bl" rotWithShape="0">
              <a:srgbClr val="999999">
                <a:alpha val="20000"/>
              </a:srgbClr>
            </a:outerShdw>
          </a:effectLst>
        </p:spPr>
        <p:txBody>
          <a:bodyPr/>
          <a:lstStyle/>
          <a:p>
            <a:endParaRPr lang="en-IN"/>
          </a:p>
        </p:txBody>
      </p:sp>
      <p:sp>
        <p:nvSpPr>
          <p:cNvPr id="5" name="Shape 3"/>
          <p:cNvSpPr/>
          <p:nvPr/>
        </p:nvSpPr>
        <p:spPr>
          <a:xfrm>
            <a:off x="804672" y="2039112"/>
            <a:ext cx="594360" cy="594360"/>
          </a:xfrm>
          <a:prstGeom prst="ellipse">
            <a:avLst/>
          </a:prstGeom>
          <a:solidFill>
            <a:srgbClr val="7A0C0C"/>
          </a:solidFill>
          <a:ln/>
        </p:spPr>
        <p:txBody>
          <a:bodyPr/>
          <a:lstStyle/>
          <a:p>
            <a:endParaRPr lang="en-IN"/>
          </a:p>
        </p:txBody>
      </p:sp>
      <p:pic>
        <p:nvPicPr>
          <p:cNvPr id="6" name="Image 0" descr="/home/claude/icons/git.png"/>
          <p:cNvPicPr>
            <a:picLocks noChangeAspect="1"/>
          </p:cNvPicPr>
          <p:nvPr/>
        </p:nvPicPr>
        <p:blipFill>
          <a:blip r:embed="rId3"/>
          <a:stretch>
            <a:fillRect/>
          </a:stretch>
        </p:blipFill>
        <p:spPr>
          <a:xfrm>
            <a:off x="938403" y="2172843"/>
            <a:ext cx="326898" cy="326898"/>
          </a:xfrm>
          <a:prstGeom prst="rect">
            <a:avLst/>
          </a:prstGeom>
        </p:spPr>
      </p:pic>
      <p:sp>
        <p:nvSpPr>
          <p:cNvPr id="7" name="Text 4"/>
          <p:cNvSpPr/>
          <p:nvPr/>
        </p:nvSpPr>
        <p:spPr>
          <a:xfrm>
            <a:off x="804672" y="2743200"/>
            <a:ext cx="3099816" cy="320040"/>
          </a:xfrm>
          <a:prstGeom prst="rect">
            <a:avLst/>
          </a:prstGeom>
          <a:noFill/>
          <a:ln/>
        </p:spPr>
        <p:txBody>
          <a:bodyPr wrap="square" rtlCol="0" anchor="ctr"/>
          <a:lstStyle/>
          <a:p>
            <a:pPr marL="0" indent="0">
              <a:buNone/>
            </a:pPr>
            <a:r>
              <a:rPr lang="en-US" sz="1350" b="1" dirty="0">
                <a:solidFill>
                  <a:srgbClr val="7A0C0C"/>
                </a:solidFill>
                <a:latin typeface="Calibri" pitchFamily="34" charset="0"/>
                <a:ea typeface="Calibri" pitchFamily="34" charset="-122"/>
                <a:cs typeface="Calibri" pitchFamily="34" charset="-120"/>
              </a:rPr>
              <a:t>Git &amp; GitHub</a:t>
            </a:r>
            <a:endParaRPr lang="en-US" sz="1350" dirty="0"/>
          </a:p>
        </p:txBody>
      </p:sp>
      <p:sp>
        <p:nvSpPr>
          <p:cNvPr id="8" name="Text 5"/>
          <p:cNvSpPr/>
          <p:nvPr/>
        </p:nvSpPr>
        <p:spPr>
          <a:xfrm>
            <a:off x="804672" y="3044952"/>
            <a:ext cx="3099816" cy="548640"/>
          </a:xfrm>
          <a:prstGeom prst="rect">
            <a:avLst/>
          </a:prstGeom>
          <a:noFill/>
          <a:ln/>
        </p:spPr>
        <p:txBody>
          <a:bodyPr wrap="square" rtlCol="0" anchor="ctr"/>
          <a:lstStyle/>
          <a:p>
            <a:pPr marL="0" indent="0">
              <a:lnSpc>
                <a:spcPct val="115000"/>
              </a:lnSpc>
              <a:buNone/>
            </a:pPr>
            <a:r>
              <a:rPr lang="en-US" sz="1050" dirty="0">
                <a:solidFill>
                  <a:srgbClr val="6B6B7B"/>
                </a:solidFill>
                <a:latin typeface="Calibri" pitchFamily="34" charset="0"/>
                <a:ea typeface="Calibri" pitchFamily="34" charset="-122"/>
                <a:cs typeface="Calibri" pitchFamily="34" charset="-120"/>
              </a:rPr>
              <a:t>Source control and repository hosting for version history and collaboration.</a:t>
            </a:r>
            <a:endParaRPr lang="en-US" sz="1050" dirty="0"/>
          </a:p>
        </p:txBody>
      </p:sp>
      <p:sp>
        <p:nvSpPr>
          <p:cNvPr id="9" name="Shape 6"/>
          <p:cNvSpPr/>
          <p:nvPr/>
        </p:nvSpPr>
        <p:spPr>
          <a:xfrm>
            <a:off x="4480560" y="1783080"/>
            <a:ext cx="3611880" cy="1874520"/>
          </a:xfrm>
          <a:prstGeom prst="roundRect">
            <a:avLst>
              <a:gd name="adj" fmla="val 4878"/>
            </a:avLst>
          </a:prstGeom>
          <a:solidFill>
            <a:srgbClr val="FFFFFF"/>
          </a:solidFill>
          <a:ln/>
          <a:effectLst>
            <a:outerShdw blurRad="76200" dist="38100" dir="5400000" algn="bl" rotWithShape="0">
              <a:srgbClr val="999999">
                <a:alpha val="20000"/>
              </a:srgbClr>
            </a:outerShdw>
          </a:effectLst>
        </p:spPr>
        <p:txBody>
          <a:bodyPr/>
          <a:lstStyle/>
          <a:p>
            <a:endParaRPr lang="en-IN"/>
          </a:p>
        </p:txBody>
      </p:sp>
      <p:sp>
        <p:nvSpPr>
          <p:cNvPr id="10" name="Shape 7"/>
          <p:cNvSpPr/>
          <p:nvPr/>
        </p:nvSpPr>
        <p:spPr>
          <a:xfrm>
            <a:off x="4736592" y="2039112"/>
            <a:ext cx="594360" cy="594360"/>
          </a:xfrm>
          <a:prstGeom prst="ellipse">
            <a:avLst/>
          </a:prstGeom>
          <a:solidFill>
            <a:srgbClr val="7A0C0C"/>
          </a:solidFill>
          <a:ln/>
        </p:spPr>
        <p:txBody>
          <a:bodyPr/>
          <a:lstStyle/>
          <a:p>
            <a:endParaRPr lang="en-IN"/>
          </a:p>
        </p:txBody>
      </p:sp>
      <p:pic>
        <p:nvPicPr>
          <p:cNvPr id="11" name="Image 1" descr="/home/claude/icons/npm.png"/>
          <p:cNvPicPr>
            <a:picLocks noChangeAspect="1"/>
          </p:cNvPicPr>
          <p:nvPr/>
        </p:nvPicPr>
        <p:blipFill>
          <a:blip r:embed="rId4"/>
          <a:stretch>
            <a:fillRect/>
          </a:stretch>
        </p:blipFill>
        <p:spPr>
          <a:xfrm>
            <a:off x="4870323" y="2172843"/>
            <a:ext cx="326898" cy="326898"/>
          </a:xfrm>
          <a:prstGeom prst="rect">
            <a:avLst/>
          </a:prstGeom>
        </p:spPr>
      </p:pic>
      <p:sp>
        <p:nvSpPr>
          <p:cNvPr id="12" name="Text 8"/>
          <p:cNvSpPr/>
          <p:nvPr/>
        </p:nvSpPr>
        <p:spPr>
          <a:xfrm>
            <a:off x="4736592" y="2743200"/>
            <a:ext cx="3099816" cy="320040"/>
          </a:xfrm>
          <a:prstGeom prst="rect">
            <a:avLst/>
          </a:prstGeom>
          <a:noFill/>
          <a:ln/>
        </p:spPr>
        <p:txBody>
          <a:bodyPr wrap="square" rtlCol="0" anchor="ctr"/>
          <a:lstStyle/>
          <a:p>
            <a:pPr marL="0" indent="0">
              <a:buNone/>
            </a:pPr>
            <a:r>
              <a:rPr lang="en-US" sz="1350" b="1" dirty="0">
                <a:solidFill>
                  <a:srgbClr val="7A0C0C"/>
                </a:solidFill>
                <a:latin typeface="Calibri" pitchFamily="34" charset="0"/>
                <a:ea typeface="Calibri" pitchFamily="34" charset="-122"/>
                <a:cs typeface="Calibri" pitchFamily="34" charset="-120"/>
              </a:rPr>
              <a:t>npm</a:t>
            </a:r>
            <a:endParaRPr lang="en-US" sz="1350" dirty="0"/>
          </a:p>
        </p:txBody>
      </p:sp>
      <p:sp>
        <p:nvSpPr>
          <p:cNvPr id="13" name="Text 9"/>
          <p:cNvSpPr/>
          <p:nvPr/>
        </p:nvSpPr>
        <p:spPr>
          <a:xfrm>
            <a:off x="4736592" y="3044952"/>
            <a:ext cx="3099816" cy="548640"/>
          </a:xfrm>
          <a:prstGeom prst="rect">
            <a:avLst/>
          </a:prstGeom>
          <a:noFill/>
          <a:ln/>
        </p:spPr>
        <p:txBody>
          <a:bodyPr wrap="square" rtlCol="0" anchor="ctr"/>
          <a:lstStyle/>
          <a:p>
            <a:pPr marL="0" indent="0">
              <a:lnSpc>
                <a:spcPct val="115000"/>
              </a:lnSpc>
              <a:buNone/>
            </a:pPr>
            <a:r>
              <a:rPr lang="en-US" sz="1050" dirty="0">
                <a:solidFill>
                  <a:srgbClr val="6B6B7B"/>
                </a:solidFill>
                <a:latin typeface="Calibri" pitchFamily="34" charset="0"/>
                <a:ea typeface="Calibri" pitchFamily="34" charset="-122"/>
                <a:cs typeface="Calibri" pitchFamily="34" charset="-120"/>
              </a:rPr>
              <a:t>Manages dependencies for both the Frontend and Backend workspaces independently.</a:t>
            </a:r>
            <a:endParaRPr lang="en-US" sz="1050" dirty="0"/>
          </a:p>
        </p:txBody>
      </p:sp>
      <p:sp>
        <p:nvSpPr>
          <p:cNvPr id="14" name="Shape 10"/>
          <p:cNvSpPr/>
          <p:nvPr/>
        </p:nvSpPr>
        <p:spPr>
          <a:xfrm>
            <a:off x="8412480" y="1783080"/>
            <a:ext cx="3611880" cy="1874520"/>
          </a:xfrm>
          <a:prstGeom prst="roundRect">
            <a:avLst>
              <a:gd name="adj" fmla="val 4878"/>
            </a:avLst>
          </a:prstGeom>
          <a:solidFill>
            <a:srgbClr val="FFFFFF"/>
          </a:solidFill>
          <a:ln/>
          <a:effectLst>
            <a:outerShdw blurRad="76200" dist="38100" dir="5400000" algn="bl" rotWithShape="0">
              <a:srgbClr val="999999">
                <a:alpha val="20000"/>
              </a:srgbClr>
            </a:outerShdw>
          </a:effectLst>
        </p:spPr>
        <p:txBody>
          <a:bodyPr/>
          <a:lstStyle/>
          <a:p>
            <a:endParaRPr lang="en-IN"/>
          </a:p>
        </p:txBody>
      </p:sp>
      <p:sp>
        <p:nvSpPr>
          <p:cNvPr id="15" name="Shape 11"/>
          <p:cNvSpPr/>
          <p:nvPr/>
        </p:nvSpPr>
        <p:spPr>
          <a:xfrm>
            <a:off x="8668512" y="2039112"/>
            <a:ext cx="594360" cy="594360"/>
          </a:xfrm>
          <a:prstGeom prst="ellipse">
            <a:avLst/>
          </a:prstGeom>
          <a:solidFill>
            <a:srgbClr val="7A0C0C"/>
          </a:solidFill>
          <a:ln/>
        </p:spPr>
        <p:txBody>
          <a:bodyPr/>
          <a:lstStyle/>
          <a:p>
            <a:endParaRPr lang="en-IN"/>
          </a:p>
        </p:txBody>
      </p:sp>
      <p:pic>
        <p:nvPicPr>
          <p:cNvPr id="16" name="Image 2" descr="/home/claude/icons/cogs.png"/>
          <p:cNvPicPr>
            <a:picLocks noChangeAspect="1"/>
          </p:cNvPicPr>
          <p:nvPr/>
        </p:nvPicPr>
        <p:blipFill>
          <a:blip r:embed="rId5"/>
          <a:stretch>
            <a:fillRect/>
          </a:stretch>
        </p:blipFill>
        <p:spPr>
          <a:xfrm>
            <a:off x="8802243" y="2172843"/>
            <a:ext cx="326898" cy="326898"/>
          </a:xfrm>
          <a:prstGeom prst="rect">
            <a:avLst/>
          </a:prstGeom>
        </p:spPr>
      </p:pic>
      <p:sp>
        <p:nvSpPr>
          <p:cNvPr id="17" name="Text 12"/>
          <p:cNvSpPr/>
          <p:nvPr/>
        </p:nvSpPr>
        <p:spPr>
          <a:xfrm>
            <a:off x="8668512" y="2743200"/>
            <a:ext cx="3099816" cy="320040"/>
          </a:xfrm>
          <a:prstGeom prst="rect">
            <a:avLst/>
          </a:prstGeom>
          <a:noFill/>
          <a:ln/>
        </p:spPr>
        <p:txBody>
          <a:bodyPr wrap="square" rtlCol="0" anchor="ctr"/>
          <a:lstStyle/>
          <a:p>
            <a:pPr marL="0" indent="0">
              <a:buNone/>
            </a:pPr>
            <a:r>
              <a:rPr lang="en-US" sz="1350" b="1" dirty="0">
                <a:solidFill>
                  <a:srgbClr val="7A0C0C"/>
                </a:solidFill>
                <a:latin typeface="Calibri" pitchFamily="34" charset="0"/>
                <a:ea typeface="Calibri" pitchFamily="34" charset="-122"/>
                <a:cs typeface="Calibri" pitchFamily="34" charset="-120"/>
              </a:rPr>
              <a:t>Vite Dev Server</a:t>
            </a:r>
            <a:endParaRPr lang="en-US" sz="1350" dirty="0"/>
          </a:p>
        </p:txBody>
      </p:sp>
      <p:sp>
        <p:nvSpPr>
          <p:cNvPr id="18" name="Text 13"/>
          <p:cNvSpPr/>
          <p:nvPr/>
        </p:nvSpPr>
        <p:spPr>
          <a:xfrm>
            <a:off x="8668512" y="3044952"/>
            <a:ext cx="3099816" cy="548640"/>
          </a:xfrm>
          <a:prstGeom prst="rect">
            <a:avLst/>
          </a:prstGeom>
          <a:noFill/>
          <a:ln/>
        </p:spPr>
        <p:txBody>
          <a:bodyPr wrap="square" rtlCol="0" anchor="ctr"/>
          <a:lstStyle/>
          <a:p>
            <a:pPr marL="0" indent="0">
              <a:lnSpc>
                <a:spcPct val="115000"/>
              </a:lnSpc>
              <a:buNone/>
            </a:pPr>
            <a:r>
              <a:rPr lang="en-US" sz="1050" dirty="0">
                <a:solidFill>
                  <a:srgbClr val="6B6B7B"/>
                </a:solidFill>
                <a:latin typeface="Calibri" pitchFamily="34" charset="0"/>
                <a:ea typeface="Calibri" pitchFamily="34" charset="-122"/>
                <a:cs typeface="Calibri" pitchFamily="34" charset="-120"/>
              </a:rPr>
              <a:t>Instant hot-module reload during development; optimized bundle for production.</a:t>
            </a:r>
            <a:endParaRPr lang="en-US" sz="1050" dirty="0"/>
          </a:p>
        </p:txBody>
      </p:sp>
      <p:sp>
        <p:nvSpPr>
          <p:cNvPr id="19" name="Shape 14"/>
          <p:cNvSpPr/>
          <p:nvPr/>
        </p:nvSpPr>
        <p:spPr>
          <a:xfrm>
            <a:off x="548640" y="3931920"/>
            <a:ext cx="3611880" cy="1874520"/>
          </a:xfrm>
          <a:prstGeom prst="roundRect">
            <a:avLst>
              <a:gd name="adj" fmla="val 4878"/>
            </a:avLst>
          </a:prstGeom>
          <a:solidFill>
            <a:srgbClr val="FFFFFF"/>
          </a:solidFill>
          <a:ln/>
          <a:effectLst>
            <a:outerShdw blurRad="76200" dist="38100" dir="5400000" algn="bl" rotWithShape="0">
              <a:srgbClr val="999999">
                <a:alpha val="20000"/>
              </a:srgbClr>
            </a:outerShdw>
          </a:effectLst>
        </p:spPr>
        <p:txBody>
          <a:bodyPr/>
          <a:lstStyle/>
          <a:p>
            <a:endParaRPr lang="en-IN"/>
          </a:p>
        </p:txBody>
      </p:sp>
      <p:sp>
        <p:nvSpPr>
          <p:cNvPr id="20" name="Shape 15"/>
          <p:cNvSpPr/>
          <p:nvPr/>
        </p:nvSpPr>
        <p:spPr>
          <a:xfrm>
            <a:off x="804672" y="4187952"/>
            <a:ext cx="594360" cy="594360"/>
          </a:xfrm>
          <a:prstGeom prst="ellipse">
            <a:avLst/>
          </a:prstGeom>
          <a:solidFill>
            <a:srgbClr val="7A0C0C"/>
          </a:solidFill>
          <a:ln/>
        </p:spPr>
        <p:txBody>
          <a:bodyPr/>
          <a:lstStyle/>
          <a:p>
            <a:endParaRPr lang="en-IN"/>
          </a:p>
        </p:txBody>
      </p:sp>
      <p:pic>
        <p:nvPicPr>
          <p:cNvPr id="21" name="Image 3" descr="/home/claude/icons/lock.png"/>
          <p:cNvPicPr>
            <a:picLocks noChangeAspect="1"/>
          </p:cNvPicPr>
          <p:nvPr/>
        </p:nvPicPr>
        <p:blipFill>
          <a:blip r:embed="rId6"/>
          <a:stretch>
            <a:fillRect/>
          </a:stretch>
        </p:blipFill>
        <p:spPr>
          <a:xfrm>
            <a:off x="938403" y="4321683"/>
            <a:ext cx="326898" cy="326898"/>
          </a:xfrm>
          <a:prstGeom prst="rect">
            <a:avLst/>
          </a:prstGeom>
        </p:spPr>
      </p:pic>
      <p:sp>
        <p:nvSpPr>
          <p:cNvPr id="22" name="Text 16"/>
          <p:cNvSpPr/>
          <p:nvPr/>
        </p:nvSpPr>
        <p:spPr>
          <a:xfrm>
            <a:off x="804672" y="4892040"/>
            <a:ext cx="3099816" cy="320040"/>
          </a:xfrm>
          <a:prstGeom prst="rect">
            <a:avLst/>
          </a:prstGeom>
          <a:noFill/>
          <a:ln/>
        </p:spPr>
        <p:txBody>
          <a:bodyPr wrap="square" rtlCol="0" anchor="ctr"/>
          <a:lstStyle/>
          <a:p>
            <a:pPr marL="0" indent="0">
              <a:buNone/>
            </a:pPr>
            <a:r>
              <a:rPr lang="en-US" sz="1350" b="1" dirty="0">
                <a:solidFill>
                  <a:srgbClr val="7A0C0C"/>
                </a:solidFill>
                <a:latin typeface="Calibri" pitchFamily="34" charset="0"/>
                <a:ea typeface="Calibri" pitchFamily="34" charset="-122"/>
                <a:cs typeface="Calibri" pitchFamily="34" charset="-120"/>
              </a:rPr>
              <a:t>Environment Variables</a:t>
            </a:r>
            <a:endParaRPr lang="en-US" sz="1350" dirty="0"/>
          </a:p>
        </p:txBody>
      </p:sp>
      <p:sp>
        <p:nvSpPr>
          <p:cNvPr id="23" name="Text 17"/>
          <p:cNvSpPr/>
          <p:nvPr/>
        </p:nvSpPr>
        <p:spPr>
          <a:xfrm>
            <a:off x="804672" y="5193792"/>
            <a:ext cx="3099816" cy="548640"/>
          </a:xfrm>
          <a:prstGeom prst="rect">
            <a:avLst/>
          </a:prstGeom>
          <a:noFill/>
          <a:ln/>
        </p:spPr>
        <p:txBody>
          <a:bodyPr wrap="square" rtlCol="0" anchor="ctr"/>
          <a:lstStyle/>
          <a:p>
            <a:pPr marL="0" indent="0">
              <a:lnSpc>
                <a:spcPct val="115000"/>
              </a:lnSpc>
              <a:buNone/>
            </a:pPr>
            <a:r>
              <a:rPr lang="en-US" sz="1050" dirty="0">
                <a:solidFill>
                  <a:srgbClr val="6B6B7B"/>
                </a:solidFill>
                <a:latin typeface="Calibri" pitchFamily="34" charset="0"/>
                <a:ea typeface="Calibri" pitchFamily="34" charset="-122"/>
                <a:cs typeface="Calibri" pitchFamily="34" charset="-120"/>
              </a:rPr>
              <a:t>VITE_API_URL and DATABASE_URL keep configuration and secrets out of the codebase.</a:t>
            </a:r>
            <a:endParaRPr lang="en-US" sz="1050" dirty="0"/>
          </a:p>
        </p:txBody>
      </p:sp>
      <p:sp>
        <p:nvSpPr>
          <p:cNvPr id="24" name="Shape 18"/>
          <p:cNvSpPr/>
          <p:nvPr/>
        </p:nvSpPr>
        <p:spPr>
          <a:xfrm>
            <a:off x="4480560" y="3931920"/>
            <a:ext cx="3611880" cy="1874520"/>
          </a:xfrm>
          <a:prstGeom prst="roundRect">
            <a:avLst>
              <a:gd name="adj" fmla="val 4878"/>
            </a:avLst>
          </a:prstGeom>
          <a:solidFill>
            <a:srgbClr val="FFFFFF"/>
          </a:solidFill>
          <a:ln/>
          <a:effectLst>
            <a:outerShdw blurRad="76200" dist="38100" dir="5400000" algn="bl" rotWithShape="0">
              <a:srgbClr val="999999">
                <a:alpha val="20000"/>
              </a:srgbClr>
            </a:outerShdw>
          </a:effectLst>
        </p:spPr>
        <p:txBody>
          <a:bodyPr/>
          <a:lstStyle/>
          <a:p>
            <a:endParaRPr lang="en-IN"/>
          </a:p>
        </p:txBody>
      </p:sp>
      <p:sp>
        <p:nvSpPr>
          <p:cNvPr id="25" name="Shape 19"/>
          <p:cNvSpPr/>
          <p:nvPr/>
        </p:nvSpPr>
        <p:spPr>
          <a:xfrm>
            <a:off x="4736592" y="4187952"/>
            <a:ext cx="594360" cy="594360"/>
          </a:xfrm>
          <a:prstGeom prst="ellipse">
            <a:avLst/>
          </a:prstGeom>
          <a:solidFill>
            <a:srgbClr val="7A0C0C"/>
          </a:solidFill>
          <a:ln/>
        </p:spPr>
        <p:txBody>
          <a:bodyPr/>
          <a:lstStyle/>
          <a:p>
            <a:endParaRPr lang="en-IN"/>
          </a:p>
        </p:txBody>
      </p:sp>
      <p:pic>
        <p:nvPicPr>
          <p:cNvPr id="26" name="Image 4" descr="/home/claude/icons/shield.png"/>
          <p:cNvPicPr>
            <a:picLocks noChangeAspect="1"/>
          </p:cNvPicPr>
          <p:nvPr/>
        </p:nvPicPr>
        <p:blipFill>
          <a:blip r:embed="rId7"/>
          <a:stretch>
            <a:fillRect/>
          </a:stretch>
        </p:blipFill>
        <p:spPr>
          <a:xfrm>
            <a:off x="4870323" y="4321683"/>
            <a:ext cx="326898" cy="326898"/>
          </a:xfrm>
          <a:prstGeom prst="rect">
            <a:avLst/>
          </a:prstGeom>
        </p:spPr>
      </p:pic>
      <p:sp>
        <p:nvSpPr>
          <p:cNvPr id="27" name="Text 20"/>
          <p:cNvSpPr/>
          <p:nvPr/>
        </p:nvSpPr>
        <p:spPr>
          <a:xfrm>
            <a:off x="4736592" y="4892040"/>
            <a:ext cx="3099816" cy="320040"/>
          </a:xfrm>
          <a:prstGeom prst="rect">
            <a:avLst/>
          </a:prstGeom>
          <a:noFill/>
          <a:ln/>
        </p:spPr>
        <p:txBody>
          <a:bodyPr wrap="square" rtlCol="0" anchor="ctr"/>
          <a:lstStyle/>
          <a:p>
            <a:pPr marL="0" indent="0">
              <a:buNone/>
            </a:pPr>
            <a:r>
              <a:rPr lang="en-US" sz="1350" b="1" dirty="0">
                <a:solidFill>
                  <a:srgbClr val="7A0C0C"/>
                </a:solidFill>
                <a:latin typeface="Calibri" pitchFamily="34" charset="0"/>
                <a:ea typeface="Calibri" pitchFamily="34" charset="-122"/>
                <a:cs typeface="Calibri" pitchFamily="34" charset="-120"/>
              </a:rPr>
              <a:t>ESLint</a:t>
            </a:r>
            <a:endParaRPr lang="en-US" sz="1350" dirty="0"/>
          </a:p>
        </p:txBody>
      </p:sp>
      <p:sp>
        <p:nvSpPr>
          <p:cNvPr id="28" name="Text 21"/>
          <p:cNvSpPr/>
          <p:nvPr/>
        </p:nvSpPr>
        <p:spPr>
          <a:xfrm>
            <a:off x="4736592" y="5193792"/>
            <a:ext cx="3099816" cy="548640"/>
          </a:xfrm>
          <a:prstGeom prst="rect">
            <a:avLst/>
          </a:prstGeom>
          <a:noFill/>
          <a:ln/>
        </p:spPr>
        <p:txBody>
          <a:bodyPr wrap="square" rtlCol="0" anchor="ctr"/>
          <a:lstStyle/>
          <a:p>
            <a:pPr marL="0" indent="0">
              <a:lnSpc>
                <a:spcPct val="115000"/>
              </a:lnSpc>
              <a:buNone/>
            </a:pPr>
            <a:r>
              <a:rPr lang="en-US" sz="1050" dirty="0">
                <a:solidFill>
                  <a:srgbClr val="6B6B7B"/>
                </a:solidFill>
                <a:latin typeface="Calibri" pitchFamily="34" charset="0"/>
                <a:ea typeface="Calibri" pitchFamily="34" charset="-122"/>
                <a:cs typeface="Calibri" pitchFamily="34" charset="-120"/>
              </a:rPr>
              <a:t>Enforces consistent code quality and catches issues in the React codebase.</a:t>
            </a:r>
            <a:endParaRPr lang="en-US" sz="1050" dirty="0"/>
          </a:p>
        </p:txBody>
      </p:sp>
      <p:sp>
        <p:nvSpPr>
          <p:cNvPr id="29" name="Shape 22"/>
          <p:cNvSpPr/>
          <p:nvPr/>
        </p:nvSpPr>
        <p:spPr>
          <a:xfrm>
            <a:off x="8412480" y="3931920"/>
            <a:ext cx="3611880" cy="1874520"/>
          </a:xfrm>
          <a:prstGeom prst="roundRect">
            <a:avLst>
              <a:gd name="adj" fmla="val 4878"/>
            </a:avLst>
          </a:prstGeom>
          <a:solidFill>
            <a:srgbClr val="FFFFFF"/>
          </a:solidFill>
          <a:ln/>
          <a:effectLst>
            <a:outerShdw blurRad="76200" dist="38100" dir="5400000" algn="bl" rotWithShape="0">
              <a:srgbClr val="999999">
                <a:alpha val="20000"/>
              </a:srgbClr>
            </a:outerShdw>
          </a:effectLst>
        </p:spPr>
        <p:txBody>
          <a:bodyPr/>
          <a:lstStyle/>
          <a:p>
            <a:endParaRPr lang="en-IN"/>
          </a:p>
        </p:txBody>
      </p:sp>
      <p:sp>
        <p:nvSpPr>
          <p:cNvPr id="30" name="Shape 23"/>
          <p:cNvSpPr/>
          <p:nvPr/>
        </p:nvSpPr>
        <p:spPr>
          <a:xfrm>
            <a:off x="8668512" y="4187952"/>
            <a:ext cx="594360" cy="594360"/>
          </a:xfrm>
          <a:prstGeom prst="ellipse">
            <a:avLst/>
          </a:prstGeom>
          <a:solidFill>
            <a:srgbClr val="7A0C0C"/>
          </a:solidFill>
          <a:ln/>
        </p:spPr>
        <p:txBody>
          <a:bodyPr/>
          <a:lstStyle/>
          <a:p>
            <a:endParaRPr lang="en-IN"/>
          </a:p>
        </p:txBody>
      </p:sp>
      <p:pic>
        <p:nvPicPr>
          <p:cNvPr id="31" name="Image 5" descr="/home/claude/icons/cloud.png"/>
          <p:cNvPicPr>
            <a:picLocks noChangeAspect="1"/>
          </p:cNvPicPr>
          <p:nvPr/>
        </p:nvPicPr>
        <p:blipFill>
          <a:blip r:embed="rId8"/>
          <a:stretch>
            <a:fillRect/>
          </a:stretch>
        </p:blipFill>
        <p:spPr>
          <a:xfrm>
            <a:off x="8802243" y="4321683"/>
            <a:ext cx="326898" cy="326898"/>
          </a:xfrm>
          <a:prstGeom prst="rect">
            <a:avLst/>
          </a:prstGeom>
        </p:spPr>
      </p:pic>
      <p:sp>
        <p:nvSpPr>
          <p:cNvPr id="32" name="Text 24"/>
          <p:cNvSpPr/>
          <p:nvPr/>
        </p:nvSpPr>
        <p:spPr>
          <a:xfrm>
            <a:off x="8668512" y="4892040"/>
            <a:ext cx="3099816" cy="320040"/>
          </a:xfrm>
          <a:prstGeom prst="rect">
            <a:avLst/>
          </a:prstGeom>
          <a:noFill/>
          <a:ln/>
        </p:spPr>
        <p:txBody>
          <a:bodyPr wrap="square" rtlCol="0" anchor="ctr"/>
          <a:lstStyle/>
          <a:p>
            <a:pPr marL="0" indent="0">
              <a:buNone/>
            </a:pPr>
            <a:r>
              <a:rPr lang="en-US" sz="1350" b="1" dirty="0">
                <a:solidFill>
                  <a:srgbClr val="7A0C0C"/>
                </a:solidFill>
                <a:latin typeface="Calibri" pitchFamily="34" charset="0"/>
                <a:ea typeface="Calibri" pitchFamily="34" charset="-122"/>
                <a:cs typeface="Calibri" pitchFamily="34" charset="-120"/>
              </a:rPr>
              <a:t>Cloud-Ready</a:t>
            </a:r>
            <a:endParaRPr lang="en-US" sz="1350" dirty="0"/>
          </a:p>
        </p:txBody>
      </p:sp>
      <p:sp>
        <p:nvSpPr>
          <p:cNvPr id="33" name="Text 25"/>
          <p:cNvSpPr/>
          <p:nvPr/>
        </p:nvSpPr>
        <p:spPr>
          <a:xfrm>
            <a:off x="8668512" y="5193792"/>
            <a:ext cx="3099816" cy="548640"/>
          </a:xfrm>
          <a:prstGeom prst="rect">
            <a:avLst/>
          </a:prstGeom>
          <a:noFill/>
          <a:ln/>
        </p:spPr>
        <p:txBody>
          <a:bodyPr wrap="square" rtlCol="0" anchor="ctr"/>
          <a:lstStyle/>
          <a:p>
            <a:pPr marL="0" indent="0">
              <a:lnSpc>
                <a:spcPct val="115000"/>
              </a:lnSpc>
              <a:buNone/>
            </a:pPr>
            <a:r>
              <a:rPr lang="en-US" sz="1050" dirty="0">
                <a:solidFill>
                  <a:srgbClr val="6B6B7B"/>
                </a:solidFill>
                <a:latin typeface="Calibri" pitchFamily="34" charset="0"/>
                <a:ea typeface="Calibri" pitchFamily="34" charset="-122"/>
                <a:cs typeface="Calibri" pitchFamily="34" charset="-120"/>
              </a:rPr>
              <a:t>Structured as separate Frontend/Backend apps, ready for platforms like Vercel + Render.</a:t>
            </a:r>
            <a:endParaRPr lang="en-US" sz="1050" dirty="0"/>
          </a:p>
        </p:txBody>
      </p:sp>
      <p:sp>
        <p:nvSpPr>
          <p:cNvPr id="34" name="Text 26"/>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6B6B7B"/>
                </a:solidFill>
                <a:latin typeface="Calibri" pitchFamily="34" charset="0"/>
                <a:ea typeface="Calibri" pitchFamily="34" charset="-122"/>
                <a:cs typeface="Calibri" pitchFamily="34" charset="-120"/>
              </a:rPr>
              <a:t>ILikeIt — The Ultimate Roast Vault</a:t>
            </a:r>
            <a:endParaRPr lang="en-US" sz="1000" dirty="0"/>
          </a:p>
        </p:txBody>
      </p:sp>
      <p:sp>
        <p:nvSpPr>
          <p:cNvPr id="35" name="Text 27"/>
          <p:cNvSpPr/>
          <p:nvPr/>
        </p:nvSpPr>
        <p:spPr>
          <a:xfrm>
            <a:off x="11430000" y="6537960"/>
            <a:ext cx="457200" cy="274320"/>
          </a:xfrm>
          <a:prstGeom prst="rect">
            <a:avLst/>
          </a:prstGeom>
          <a:noFill/>
          <a:ln/>
        </p:spPr>
        <p:txBody>
          <a:bodyPr wrap="square" rtlCol="0" anchor="ctr"/>
          <a:lstStyle/>
          <a:p>
            <a:pPr marL="0" indent="0" algn="r">
              <a:buNone/>
            </a:pPr>
            <a:r>
              <a:rPr lang="en-US" sz="1000" dirty="0">
                <a:solidFill>
                  <a:srgbClr val="6B6B7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7A0C0C"/>
        </a:solidFill>
        <a:effectLst/>
      </p:bgPr>
    </p:bg>
    <p:spTree>
      <p:nvGrpSpPr>
        <p:cNvPr id="1" name=""/>
        <p:cNvGrpSpPr/>
        <p:nvPr/>
      </p:nvGrpSpPr>
      <p:grpSpPr>
        <a:xfrm>
          <a:off x="0" y="0"/>
          <a:ext cx="0" cy="0"/>
          <a:chOff x="0" y="0"/>
          <a:chExt cx="0" cy="0"/>
        </a:xfrm>
      </p:grpSpPr>
      <p:sp>
        <p:nvSpPr>
          <p:cNvPr id="2" name="Shape 0"/>
          <p:cNvSpPr/>
          <p:nvPr/>
        </p:nvSpPr>
        <p:spPr>
          <a:xfrm>
            <a:off x="9875520" y="4480560"/>
            <a:ext cx="3840480" cy="3840480"/>
          </a:xfrm>
          <a:prstGeom prst="ellipse">
            <a:avLst/>
          </a:prstGeom>
          <a:solidFill>
            <a:srgbClr val="4A0000"/>
          </a:solidFill>
          <a:ln/>
        </p:spPr>
        <p:txBody>
          <a:bodyPr/>
          <a:lstStyle/>
          <a:p>
            <a:endParaRPr lang="en-IN"/>
          </a:p>
        </p:txBody>
      </p:sp>
      <p:sp>
        <p:nvSpPr>
          <p:cNvPr id="3" name="Text 1"/>
          <p:cNvSpPr/>
          <p:nvPr/>
        </p:nvSpPr>
        <p:spPr>
          <a:xfrm>
            <a:off x="548640" y="502920"/>
            <a:ext cx="100584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Conclusion &amp; Future Enhancements</a:t>
            </a:r>
            <a:endParaRPr lang="en-US" sz="3200" dirty="0"/>
          </a:p>
        </p:txBody>
      </p:sp>
      <p:sp>
        <p:nvSpPr>
          <p:cNvPr id="4" name="Text 2"/>
          <p:cNvSpPr/>
          <p:nvPr/>
        </p:nvSpPr>
        <p:spPr>
          <a:xfrm>
            <a:off x="548640" y="1170432"/>
            <a:ext cx="8229600" cy="365760"/>
          </a:xfrm>
          <a:prstGeom prst="rect">
            <a:avLst/>
          </a:prstGeom>
          <a:noFill/>
          <a:ln/>
        </p:spPr>
        <p:txBody>
          <a:bodyPr wrap="square" rtlCol="0" anchor="ctr"/>
          <a:lstStyle/>
          <a:p>
            <a:pPr marL="0" indent="0">
              <a:buNone/>
            </a:pPr>
            <a:r>
              <a:rPr lang="en-US" sz="1600" b="1" dirty="0">
                <a:solidFill>
                  <a:srgbClr val="D4AF37"/>
                </a:solidFill>
                <a:latin typeface="Calibri" pitchFamily="34" charset="0"/>
                <a:ea typeface="Calibri" pitchFamily="34" charset="-122"/>
                <a:cs typeface="Calibri" pitchFamily="34" charset="-120"/>
              </a:rPr>
              <a:t>Where ILikeIt goes next</a:t>
            </a:r>
            <a:endParaRPr lang="en-US" sz="1600" dirty="0"/>
          </a:p>
        </p:txBody>
      </p:sp>
      <p:sp>
        <p:nvSpPr>
          <p:cNvPr id="5" name="Shape 3"/>
          <p:cNvSpPr/>
          <p:nvPr/>
        </p:nvSpPr>
        <p:spPr>
          <a:xfrm>
            <a:off x="548640" y="1874520"/>
            <a:ext cx="2606040" cy="2377440"/>
          </a:xfrm>
          <a:prstGeom prst="roundRect">
            <a:avLst>
              <a:gd name="adj" fmla="val 4615"/>
            </a:avLst>
          </a:prstGeom>
          <a:solidFill>
            <a:srgbClr val="4A0000"/>
          </a:solidFill>
          <a:ln w="12700">
            <a:solidFill>
              <a:srgbClr val="7A2020"/>
            </a:solidFill>
            <a:prstDash val="solid"/>
          </a:ln>
        </p:spPr>
        <p:txBody>
          <a:bodyPr/>
          <a:lstStyle/>
          <a:p>
            <a:endParaRPr lang="en-IN"/>
          </a:p>
        </p:txBody>
      </p:sp>
      <p:sp>
        <p:nvSpPr>
          <p:cNvPr id="6" name="Shape 4"/>
          <p:cNvSpPr/>
          <p:nvPr/>
        </p:nvSpPr>
        <p:spPr>
          <a:xfrm>
            <a:off x="1531620" y="2103120"/>
            <a:ext cx="640080" cy="640080"/>
          </a:xfrm>
          <a:prstGeom prst="ellipse">
            <a:avLst/>
          </a:prstGeom>
          <a:solidFill>
            <a:srgbClr val="C81D25"/>
          </a:solidFill>
          <a:ln/>
        </p:spPr>
        <p:txBody>
          <a:bodyPr/>
          <a:lstStyle/>
          <a:p>
            <a:endParaRPr lang="en-IN"/>
          </a:p>
        </p:txBody>
      </p:sp>
      <p:pic>
        <p:nvPicPr>
          <p:cNvPr id="7" name="Image 0" descr="/home/claude/icons/users.png"/>
          <p:cNvPicPr>
            <a:picLocks noChangeAspect="1"/>
          </p:cNvPicPr>
          <p:nvPr/>
        </p:nvPicPr>
        <p:blipFill>
          <a:blip r:embed="rId3"/>
          <a:stretch>
            <a:fillRect/>
          </a:stretch>
        </p:blipFill>
        <p:spPr>
          <a:xfrm>
            <a:off x="1675638" y="2247138"/>
            <a:ext cx="352044" cy="352044"/>
          </a:xfrm>
          <a:prstGeom prst="rect">
            <a:avLst/>
          </a:prstGeom>
        </p:spPr>
      </p:pic>
      <p:sp>
        <p:nvSpPr>
          <p:cNvPr id="8" name="Text 5"/>
          <p:cNvSpPr/>
          <p:nvPr/>
        </p:nvSpPr>
        <p:spPr>
          <a:xfrm>
            <a:off x="685800" y="2880360"/>
            <a:ext cx="233172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User Authentication</a:t>
            </a:r>
            <a:endParaRPr lang="en-US" sz="1300" dirty="0"/>
          </a:p>
        </p:txBody>
      </p:sp>
      <p:sp>
        <p:nvSpPr>
          <p:cNvPr id="9" name="Text 6"/>
          <p:cNvSpPr/>
          <p:nvPr/>
        </p:nvSpPr>
        <p:spPr>
          <a:xfrm>
            <a:off x="685800" y="3355848"/>
            <a:ext cx="2331720" cy="822960"/>
          </a:xfrm>
          <a:prstGeom prst="rect">
            <a:avLst/>
          </a:prstGeom>
          <a:noFill/>
          <a:ln/>
        </p:spPr>
        <p:txBody>
          <a:bodyPr wrap="square" rtlCol="0" anchor="ctr"/>
          <a:lstStyle/>
          <a:p>
            <a:pPr marL="0" indent="0" algn="ctr">
              <a:lnSpc>
                <a:spcPct val="115000"/>
              </a:lnSpc>
              <a:buNone/>
            </a:pPr>
            <a:r>
              <a:rPr lang="en-US" sz="1050" dirty="0">
                <a:solidFill>
                  <a:srgbClr val="F2D2C9"/>
                </a:solidFill>
                <a:latin typeface="Calibri" pitchFamily="34" charset="0"/>
                <a:ea typeface="Calibri" pitchFamily="34" charset="-122"/>
                <a:cs typeface="Calibri" pitchFamily="34" charset="-120"/>
              </a:rPr>
              <a:t>Personal accounts and login so roasts are tied to real users.</a:t>
            </a:r>
            <a:endParaRPr lang="en-US" sz="1050" dirty="0"/>
          </a:p>
        </p:txBody>
      </p:sp>
      <p:sp>
        <p:nvSpPr>
          <p:cNvPr id="10" name="Shape 7"/>
          <p:cNvSpPr/>
          <p:nvPr/>
        </p:nvSpPr>
        <p:spPr>
          <a:xfrm>
            <a:off x="3429000" y="1874520"/>
            <a:ext cx="2606040" cy="2377440"/>
          </a:xfrm>
          <a:prstGeom prst="roundRect">
            <a:avLst>
              <a:gd name="adj" fmla="val 4615"/>
            </a:avLst>
          </a:prstGeom>
          <a:solidFill>
            <a:srgbClr val="4A0000"/>
          </a:solidFill>
          <a:ln w="12700">
            <a:solidFill>
              <a:srgbClr val="7A2020"/>
            </a:solidFill>
            <a:prstDash val="solid"/>
          </a:ln>
        </p:spPr>
        <p:txBody>
          <a:bodyPr/>
          <a:lstStyle/>
          <a:p>
            <a:endParaRPr lang="en-IN"/>
          </a:p>
        </p:txBody>
      </p:sp>
      <p:sp>
        <p:nvSpPr>
          <p:cNvPr id="11" name="Shape 8"/>
          <p:cNvSpPr/>
          <p:nvPr/>
        </p:nvSpPr>
        <p:spPr>
          <a:xfrm>
            <a:off x="4411980" y="2103120"/>
            <a:ext cx="640080" cy="640080"/>
          </a:xfrm>
          <a:prstGeom prst="ellipse">
            <a:avLst/>
          </a:prstGeom>
          <a:solidFill>
            <a:srgbClr val="C81D25"/>
          </a:solidFill>
          <a:ln/>
        </p:spPr>
        <p:txBody>
          <a:bodyPr/>
          <a:lstStyle/>
          <a:p>
            <a:endParaRPr lang="en-IN"/>
          </a:p>
        </p:txBody>
      </p:sp>
      <p:pic>
        <p:nvPicPr>
          <p:cNvPr id="12" name="Image 1" descr="/home/claude/icons/thumbsup.png"/>
          <p:cNvPicPr>
            <a:picLocks noChangeAspect="1"/>
          </p:cNvPicPr>
          <p:nvPr/>
        </p:nvPicPr>
        <p:blipFill>
          <a:blip r:embed="rId4"/>
          <a:stretch>
            <a:fillRect/>
          </a:stretch>
        </p:blipFill>
        <p:spPr>
          <a:xfrm>
            <a:off x="4555998" y="2247138"/>
            <a:ext cx="352044" cy="352044"/>
          </a:xfrm>
          <a:prstGeom prst="rect">
            <a:avLst/>
          </a:prstGeom>
        </p:spPr>
      </p:pic>
      <p:sp>
        <p:nvSpPr>
          <p:cNvPr id="13" name="Text 9"/>
          <p:cNvSpPr/>
          <p:nvPr/>
        </p:nvSpPr>
        <p:spPr>
          <a:xfrm>
            <a:off x="3566160" y="2880360"/>
            <a:ext cx="233172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Likes &amp; Voting</a:t>
            </a:r>
            <a:endParaRPr lang="en-US" sz="1300" dirty="0"/>
          </a:p>
        </p:txBody>
      </p:sp>
      <p:sp>
        <p:nvSpPr>
          <p:cNvPr id="14" name="Text 10"/>
          <p:cNvSpPr/>
          <p:nvPr/>
        </p:nvSpPr>
        <p:spPr>
          <a:xfrm>
            <a:off x="3566160" y="3355848"/>
            <a:ext cx="2331720" cy="822960"/>
          </a:xfrm>
          <a:prstGeom prst="rect">
            <a:avLst/>
          </a:prstGeom>
          <a:noFill/>
          <a:ln/>
        </p:spPr>
        <p:txBody>
          <a:bodyPr wrap="square" rtlCol="0" anchor="ctr"/>
          <a:lstStyle/>
          <a:p>
            <a:pPr marL="0" indent="0" algn="ctr">
              <a:lnSpc>
                <a:spcPct val="115000"/>
              </a:lnSpc>
              <a:buNone/>
            </a:pPr>
            <a:r>
              <a:rPr lang="en-US" sz="1050" dirty="0">
                <a:solidFill>
                  <a:srgbClr val="F2D2C9"/>
                </a:solidFill>
                <a:latin typeface="Calibri" pitchFamily="34" charset="0"/>
                <a:ea typeface="Calibri" pitchFamily="34" charset="-122"/>
                <a:cs typeface="Calibri" pitchFamily="34" charset="-120"/>
              </a:rPr>
              <a:t>Let visitors upvote the funniest roasts and rank the leaderboard.</a:t>
            </a:r>
            <a:endParaRPr lang="en-US" sz="1050" dirty="0"/>
          </a:p>
        </p:txBody>
      </p:sp>
      <p:sp>
        <p:nvSpPr>
          <p:cNvPr id="15" name="Shape 11"/>
          <p:cNvSpPr/>
          <p:nvPr/>
        </p:nvSpPr>
        <p:spPr>
          <a:xfrm>
            <a:off x="6309360" y="1874520"/>
            <a:ext cx="2606040" cy="2377440"/>
          </a:xfrm>
          <a:prstGeom prst="roundRect">
            <a:avLst>
              <a:gd name="adj" fmla="val 4615"/>
            </a:avLst>
          </a:prstGeom>
          <a:solidFill>
            <a:srgbClr val="4A0000"/>
          </a:solidFill>
          <a:ln w="12700">
            <a:solidFill>
              <a:srgbClr val="7A2020"/>
            </a:solidFill>
            <a:prstDash val="solid"/>
          </a:ln>
        </p:spPr>
        <p:txBody>
          <a:bodyPr/>
          <a:lstStyle/>
          <a:p>
            <a:endParaRPr lang="en-IN"/>
          </a:p>
        </p:txBody>
      </p:sp>
      <p:sp>
        <p:nvSpPr>
          <p:cNvPr id="16" name="Shape 12"/>
          <p:cNvSpPr/>
          <p:nvPr/>
        </p:nvSpPr>
        <p:spPr>
          <a:xfrm>
            <a:off x="7292340" y="2103120"/>
            <a:ext cx="640080" cy="640080"/>
          </a:xfrm>
          <a:prstGeom prst="ellipse">
            <a:avLst/>
          </a:prstGeom>
          <a:solidFill>
            <a:srgbClr val="C81D25"/>
          </a:solidFill>
          <a:ln/>
        </p:spPr>
        <p:txBody>
          <a:bodyPr/>
          <a:lstStyle/>
          <a:p>
            <a:endParaRPr lang="en-IN"/>
          </a:p>
        </p:txBody>
      </p:sp>
      <p:pic>
        <p:nvPicPr>
          <p:cNvPr id="17" name="Image 2" descr="/home/claude/icons/image.png"/>
          <p:cNvPicPr>
            <a:picLocks noChangeAspect="1"/>
          </p:cNvPicPr>
          <p:nvPr/>
        </p:nvPicPr>
        <p:blipFill>
          <a:blip r:embed="rId5"/>
          <a:stretch>
            <a:fillRect/>
          </a:stretch>
        </p:blipFill>
        <p:spPr>
          <a:xfrm>
            <a:off x="7436358" y="2247138"/>
            <a:ext cx="352044" cy="352044"/>
          </a:xfrm>
          <a:prstGeom prst="rect">
            <a:avLst/>
          </a:prstGeom>
        </p:spPr>
      </p:pic>
      <p:sp>
        <p:nvSpPr>
          <p:cNvPr id="18" name="Text 13"/>
          <p:cNvSpPr/>
          <p:nvPr/>
        </p:nvSpPr>
        <p:spPr>
          <a:xfrm>
            <a:off x="6446520" y="2880360"/>
            <a:ext cx="233172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Image Uploads</a:t>
            </a:r>
            <a:endParaRPr lang="en-US" sz="1300" dirty="0"/>
          </a:p>
        </p:txBody>
      </p:sp>
      <p:sp>
        <p:nvSpPr>
          <p:cNvPr id="19" name="Text 14"/>
          <p:cNvSpPr/>
          <p:nvPr/>
        </p:nvSpPr>
        <p:spPr>
          <a:xfrm>
            <a:off x="6446520" y="3355848"/>
            <a:ext cx="2331720" cy="822960"/>
          </a:xfrm>
          <a:prstGeom prst="rect">
            <a:avLst/>
          </a:prstGeom>
          <a:noFill/>
          <a:ln/>
        </p:spPr>
        <p:txBody>
          <a:bodyPr wrap="square" rtlCol="0" anchor="ctr"/>
          <a:lstStyle/>
          <a:p>
            <a:pPr marL="0" indent="0" algn="ctr">
              <a:lnSpc>
                <a:spcPct val="115000"/>
              </a:lnSpc>
              <a:buNone/>
            </a:pPr>
            <a:r>
              <a:rPr lang="en-US" sz="1050" dirty="0">
                <a:solidFill>
                  <a:srgbClr val="F2D2C9"/>
                </a:solidFill>
                <a:latin typeface="Calibri" pitchFamily="34" charset="0"/>
                <a:ea typeface="Calibri" pitchFamily="34" charset="-122"/>
                <a:cs typeface="Calibri" pitchFamily="34" charset="-120"/>
              </a:rPr>
              <a:t>Attach a photo alongside each roast for extra context and humor.</a:t>
            </a:r>
            <a:endParaRPr lang="en-US" sz="1050" dirty="0"/>
          </a:p>
        </p:txBody>
      </p:sp>
      <p:sp>
        <p:nvSpPr>
          <p:cNvPr id="20" name="Shape 15"/>
          <p:cNvSpPr/>
          <p:nvPr/>
        </p:nvSpPr>
        <p:spPr>
          <a:xfrm>
            <a:off x="9189720" y="1874520"/>
            <a:ext cx="2606040" cy="2377440"/>
          </a:xfrm>
          <a:prstGeom prst="roundRect">
            <a:avLst>
              <a:gd name="adj" fmla="val 4615"/>
            </a:avLst>
          </a:prstGeom>
          <a:solidFill>
            <a:srgbClr val="4A0000"/>
          </a:solidFill>
          <a:ln w="12700">
            <a:solidFill>
              <a:srgbClr val="7A2020"/>
            </a:solidFill>
            <a:prstDash val="solid"/>
          </a:ln>
        </p:spPr>
        <p:txBody>
          <a:bodyPr/>
          <a:lstStyle/>
          <a:p>
            <a:endParaRPr lang="en-IN"/>
          </a:p>
        </p:txBody>
      </p:sp>
      <p:sp>
        <p:nvSpPr>
          <p:cNvPr id="21" name="Shape 16"/>
          <p:cNvSpPr/>
          <p:nvPr/>
        </p:nvSpPr>
        <p:spPr>
          <a:xfrm>
            <a:off x="10172700" y="2103120"/>
            <a:ext cx="640080" cy="640080"/>
          </a:xfrm>
          <a:prstGeom prst="ellipse">
            <a:avLst/>
          </a:prstGeom>
          <a:solidFill>
            <a:srgbClr val="C81D25"/>
          </a:solidFill>
          <a:ln/>
        </p:spPr>
        <p:txBody>
          <a:bodyPr/>
          <a:lstStyle/>
          <a:p>
            <a:endParaRPr lang="en-IN"/>
          </a:p>
        </p:txBody>
      </p:sp>
      <p:pic>
        <p:nvPicPr>
          <p:cNvPr id="22" name="Image 3" descr="/home/claude/icons/comments.png"/>
          <p:cNvPicPr>
            <a:picLocks noChangeAspect="1"/>
          </p:cNvPicPr>
          <p:nvPr/>
        </p:nvPicPr>
        <p:blipFill>
          <a:blip r:embed="rId6"/>
          <a:stretch>
            <a:fillRect/>
          </a:stretch>
        </p:blipFill>
        <p:spPr>
          <a:xfrm>
            <a:off x="10316718" y="2247138"/>
            <a:ext cx="352044" cy="352044"/>
          </a:xfrm>
          <a:prstGeom prst="rect">
            <a:avLst/>
          </a:prstGeom>
        </p:spPr>
      </p:pic>
      <p:sp>
        <p:nvSpPr>
          <p:cNvPr id="23" name="Text 17"/>
          <p:cNvSpPr/>
          <p:nvPr/>
        </p:nvSpPr>
        <p:spPr>
          <a:xfrm>
            <a:off x="9326880" y="2880360"/>
            <a:ext cx="233172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Comments</a:t>
            </a:r>
            <a:endParaRPr lang="en-US" sz="1300" dirty="0"/>
          </a:p>
        </p:txBody>
      </p:sp>
      <p:sp>
        <p:nvSpPr>
          <p:cNvPr id="24" name="Text 18"/>
          <p:cNvSpPr/>
          <p:nvPr/>
        </p:nvSpPr>
        <p:spPr>
          <a:xfrm>
            <a:off x="9326880" y="3355848"/>
            <a:ext cx="2331720" cy="822960"/>
          </a:xfrm>
          <a:prstGeom prst="rect">
            <a:avLst/>
          </a:prstGeom>
          <a:noFill/>
          <a:ln/>
        </p:spPr>
        <p:txBody>
          <a:bodyPr wrap="square" rtlCol="0" anchor="ctr"/>
          <a:lstStyle/>
          <a:p>
            <a:pPr marL="0" indent="0" algn="ctr">
              <a:lnSpc>
                <a:spcPct val="115000"/>
              </a:lnSpc>
              <a:buNone/>
            </a:pPr>
            <a:r>
              <a:rPr lang="en-US" sz="1050" dirty="0">
                <a:solidFill>
                  <a:srgbClr val="F2D2C9"/>
                </a:solidFill>
                <a:latin typeface="Calibri" pitchFamily="34" charset="0"/>
                <a:ea typeface="Calibri" pitchFamily="34" charset="-122"/>
                <a:cs typeface="Calibri" pitchFamily="34" charset="-120"/>
              </a:rPr>
              <a:t>Allow friends to reply and roast back on existing entries.</a:t>
            </a:r>
            <a:endParaRPr lang="en-US" sz="1050" dirty="0"/>
          </a:p>
        </p:txBody>
      </p:sp>
      <p:sp>
        <p:nvSpPr>
          <p:cNvPr id="25" name="Shape 19"/>
          <p:cNvSpPr/>
          <p:nvPr/>
        </p:nvSpPr>
        <p:spPr>
          <a:xfrm>
            <a:off x="548640" y="4617720"/>
            <a:ext cx="11064240" cy="0"/>
          </a:xfrm>
          <a:prstGeom prst="line">
            <a:avLst/>
          </a:prstGeom>
          <a:noFill/>
          <a:ln w="12700">
            <a:solidFill>
              <a:srgbClr val="7A2020"/>
            </a:solidFill>
            <a:prstDash val="solid"/>
          </a:ln>
        </p:spPr>
        <p:txBody>
          <a:bodyPr/>
          <a:lstStyle/>
          <a:p>
            <a:endParaRPr lang="en-IN"/>
          </a:p>
        </p:txBody>
      </p:sp>
      <p:sp>
        <p:nvSpPr>
          <p:cNvPr id="26" name="Text 20"/>
          <p:cNvSpPr/>
          <p:nvPr/>
        </p:nvSpPr>
        <p:spPr>
          <a:xfrm>
            <a:off x="548640" y="4800600"/>
            <a:ext cx="11064240" cy="548640"/>
          </a:xfrm>
          <a:prstGeom prst="rect">
            <a:avLst/>
          </a:prstGeom>
          <a:noFill/>
          <a:ln/>
        </p:spPr>
        <p:txBody>
          <a:bodyPr wrap="square" rtlCol="0" anchor="ctr"/>
          <a:lstStyle/>
          <a:p>
            <a:pPr marL="0" indent="0" algn="ctr">
              <a:buNone/>
            </a:pPr>
            <a:r>
              <a:rPr lang="en-US" sz="1400" i="1" dirty="0">
                <a:solidFill>
                  <a:srgbClr val="F5E0D6"/>
                </a:solidFill>
                <a:latin typeface="Calibri" pitchFamily="34" charset="0"/>
                <a:ea typeface="Calibri" pitchFamily="34" charset="-122"/>
                <a:cs typeface="Calibri" pitchFamily="34" charset="-120"/>
              </a:rPr>
              <a:t>ILikeIt showcases a complete, production-style full-stack workflow — React, Express, and PostgreSQL working together through a clean REST API.</a:t>
            </a:r>
            <a:endParaRPr lang="en-US" sz="1400" dirty="0"/>
          </a:p>
        </p:txBody>
      </p:sp>
      <p:sp>
        <p:nvSpPr>
          <p:cNvPr id="27" name="Text 21"/>
          <p:cNvSpPr/>
          <p:nvPr/>
        </p:nvSpPr>
        <p:spPr>
          <a:xfrm>
            <a:off x="548640" y="5486400"/>
            <a:ext cx="11064240" cy="731520"/>
          </a:xfrm>
          <a:prstGeom prst="rect">
            <a:avLst/>
          </a:prstGeom>
          <a:noFill/>
          <a:ln/>
        </p:spPr>
        <p:txBody>
          <a:bodyPr wrap="square" rtlCol="0" anchor="ctr"/>
          <a:lstStyle/>
          <a:p>
            <a:pPr marL="0" indent="0" algn="ctr">
              <a:buNone/>
            </a:pPr>
            <a:r>
              <a:rPr lang="en-US" sz="3000" b="1" dirty="0">
                <a:solidFill>
                  <a:schemeClr val="bg1">
                    <a:lumMod val="85000"/>
                  </a:schemeClr>
                </a:solidFill>
                <a:latin typeface="Cambria" pitchFamily="34" charset="0"/>
                <a:ea typeface="Cambria" pitchFamily="34" charset="-122"/>
              </a:rPr>
              <a:t>THANK</a:t>
            </a:r>
            <a:r>
              <a:rPr lang="en-US" sz="3000" b="1" dirty="0">
                <a:solidFill>
                  <a:srgbClr val="C81D25"/>
                </a:solidFill>
                <a:latin typeface="Cambria" pitchFamily="34" charset="0"/>
                <a:ea typeface="Cambria" pitchFamily="34" charset="-122"/>
              </a:rPr>
              <a:t> </a:t>
            </a:r>
            <a:r>
              <a:rPr lang="en-US" sz="3000" b="1" dirty="0">
                <a:solidFill>
                  <a:schemeClr val="bg1">
                    <a:lumMod val="75000"/>
                  </a:schemeClr>
                </a:solidFill>
                <a:latin typeface="Cambria" pitchFamily="34" charset="0"/>
                <a:ea typeface="Cambria" pitchFamily="34" charset="-122"/>
              </a:rPr>
              <a:t>YOU</a:t>
            </a:r>
            <a:endParaRPr lang="en-US" sz="3000" dirty="0">
              <a:solidFill>
                <a:schemeClr val="bg1">
                  <a:lumMod val="75000"/>
                </a:schemeClr>
              </a:solidFill>
            </a:endParaRPr>
          </a:p>
        </p:txBody>
      </p:sp>
      <p:sp>
        <p:nvSpPr>
          <p:cNvPr id="28" name="Text 22"/>
          <p:cNvSpPr/>
          <p:nvPr/>
        </p:nvSpPr>
        <p:spPr>
          <a:xfrm>
            <a:off x="548640" y="6172200"/>
            <a:ext cx="11064240" cy="365760"/>
          </a:xfrm>
          <a:prstGeom prst="rect">
            <a:avLst/>
          </a:prstGeom>
          <a:noFill/>
          <a:ln/>
        </p:spPr>
        <p:txBody>
          <a:bodyPr wrap="square" rtlCol="0" anchor="ctr"/>
          <a:lstStyle/>
          <a:p>
            <a:pPr marL="0" indent="0" algn="ctr">
              <a:buNone/>
            </a:pPr>
            <a:r>
              <a:rPr lang="en-US" sz="1200" dirty="0">
                <a:solidFill>
                  <a:srgbClr val="E8B4A8"/>
                </a:solidFill>
                <a:latin typeface="Calibri" pitchFamily="34" charset="0"/>
                <a:ea typeface="Calibri" pitchFamily="34" charset="-122"/>
                <a:cs typeface="Calibri" pitchFamily="34" charset="-120"/>
              </a:rPr>
              <a:t>github.com/PavanChaudhari0219/ILikeIt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1037</Words>
  <Application>Microsoft Office PowerPoint</Application>
  <PresentationFormat>Widescreen</PresentationFormat>
  <Paragraphs>188</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pavanchaaudhari33@gmail.com</cp:lastModifiedBy>
  <cp:revision>2</cp:revision>
  <dcterms:created xsi:type="dcterms:W3CDTF">2026-07-18T20:20:16Z</dcterms:created>
  <dcterms:modified xsi:type="dcterms:W3CDTF">2026-07-18T20:25:04Z</dcterms:modified>
</cp:coreProperties>
</file>