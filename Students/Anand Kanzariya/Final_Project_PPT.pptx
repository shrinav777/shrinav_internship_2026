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6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31F7A1F-9490-41E2-A98C-157355236B6E}" v="15" dt="2026-07-19T04:41:43.0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341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nd Kanzariya" userId="dcdb6a5c744b90df" providerId="LiveId" clId="{1A923484-4B04-4A61-8822-48264F37F270}"/>
    <pc:docChg chg="undo custSel addSld modSld sldOrd">
      <pc:chgData name="Anand Kanzariya" userId="dcdb6a5c744b90df" providerId="LiveId" clId="{1A923484-4B04-4A61-8822-48264F37F270}" dt="2026-07-19T07:02:09.067" v="440"/>
      <pc:docMkLst>
        <pc:docMk/>
      </pc:docMkLst>
      <pc:sldChg chg="modSp mod modShow">
        <pc:chgData name="Anand Kanzariya" userId="dcdb6a5c744b90df" providerId="LiveId" clId="{1A923484-4B04-4A61-8822-48264F37F270}" dt="2026-07-18T06:30:08.140" v="346" actId="729"/>
        <pc:sldMkLst>
          <pc:docMk/>
          <pc:sldMk cId="0" sldId="256"/>
        </pc:sldMkLst>
        <pc:spChg chg="mod">
          <ac:chgData name="Anand Kanzariya" userId="dcdb6a5c744b90df" providerId="LiveId" clId="{1A923484-4B04-4A61-8822-48264F37F270}" dt="2026-07-18T06:26:31.549" v="344" actId="1076"/>
          <ac:spMkLst>
            <pc:docMk/>
            <pc:sldMk cId="0" sldId="256"/>
            <ac:spMk id="4" creationId="{00000000-0000-0000-0000-000000000000}"/>
          </ac:spMkLst>
        </pc:spChg>
      </pc:sldChg>
      <pc:sldChg chg="modSp mod">
        <pc:chgData name="Anand Kanzariya" userId="dcdb6a5c744b90df" providerId="LiveId" clId="{1A923484-4B04-4A61-8822-48264F37F270}" dt="2026-07-19T04:38:56.987" v="360" actId="1076"/>
        <pc:sldMkLst>
          <pc:docMk/>
          <pc:sldMk cId="0" sldId="259"/>
        </pc:sldMkLst>
        <pc:spChg chg="mod">
          <ac:chgData name="Anand Kanzariya" userId="dcdb6a5c744b90df" providerId="LiveId" clId="{1A923484-4B04-4A61-8822-48264F37F270}" dt="2026-07-19T04:38:56.987" v="360" actId="1076"/>
          <ac:spMkLst>
            <pc:docMk/>
            <pc:sldMk cId="0" sldId="259"/>
            <ac:spMk id="3" creationId="{00000000-0000-0000-0000-000000000000}"/>
          </ac:spMkLst>
        </pc:spChg>
      </pc:sldChg>
      <pc:sldChg chg="addSp modSp mod">
        <pc:chgData name="Anand Kanzariya" userId="dcdb6a5c744b90df" providerId="LiveId" clId="{1A923484-4B04-4A61-8822-48264F37F270}" dt="2026-07-18T06:17:17.660" v="342" actId="1076"/>
        <pc:sldMkLst>
          <pc:docMk/>
          <pc:sldMk cId="0" sldId="263"/>
        </pc:sldMkLst>
        <pc:spChg chg="mod">
          <ac:chgData name="Anand Kanzariya" userId="dcdb6a5c744b90df" providerId="LiveId" clId="{1A923484-4B04-4A61-8822-48264F37F270}" dt="2026-07-18T06:16:49.677" v="339" actId="14100"/>
          <ac:spMkLst>
            <pc:docMk/>
            <pc:sldMk cId="0" sldId="263"/>
            <ac:spMk id="5" creationId="{00000000-0000-0000-0000-000000000000}"/>
          </ac:spMkLst>
        </pc:spChg>
        <pc:spChg chg="mod">
          <ac:chgData name="Anand Kanzariya" userId="dcdb6a5c744b90df" providerId="LiveId" clId="{1A923484-4B04-4A61-8822-48264F37F270}" dt="2026-07-18T06:17:17.660" v="342" actId="1076"/>
          <ac:spMkLst>
            <pc:docMk/>
            <pc:sldMk cId="0" sldId="263"/>
            <ac:spMk id="6" creationId="{00000000-0000-0000-0000-000000000000}"/>
          </ac:spMkLst>
        </pc:spChg>
        <pc:spChg chg="add mod">
          <ac:chgData name="Anand Kanzariya" userId="dcdb6a5c744b90df" providerId="LiveId" clId="{1A923484-4B04-4A61-8822-48264F37F270}" dt="2026-07-18T06:17:07.762" v="341" actId="1076"/>
          <ac:spMkLst>
            <pc:docMk/>
            <pc:sldMk cId="0" sldId="263"/>
            <ac:spMk id="8" creationId="{E75AF3D3-7D47-F5B9-84D9-8738056D5575}"/>
          </ac:spMkLst>
        </pc:spChg>
      </pc:sldChg>
      <pc:sldChg chg="addSp delSp modSp new mod ord">
        <pc:chgData name="Anand Kanzariya" userId="dcdb6a5c744b90df" providerId="LiveId" clId="{1A923484-4B04-4A61-8822-48264F37F270}" dt="2026-07-19T07:02:09.067" v="440"/>
        <pc:sldMkLst>
          <pc:docMk/>
          <pc:sldMk cId="1203249154" sldId="266"/>
        </pc:sldMkLst>
        <pc:spChg chg="add del mod">
          <ac:chgData name="Anand Kanzariya" userId="dcdb6a5c744b90df" providerId="LiveId" clId="{1A923484-4B04-4A61-8822-48264F37F270}" dt="2026-07-19T04:38:30.545" v="352"/>
          <ac:spMkLst>
            <pc:docMk/>
            <pc:sldMk cId="1203249154" sldId="266"/>
            <ac:spMk id="3" creationId="{E3AF0E4F-314D-E4B5-4657-8B8D606CE2DB}"/>
          </ac:spMkLst>
        </pc:spChg>
        <pc:spChg chg="add mod">
          <ac:chgData name="Anand Kanzariya" userId="dcdb6a5c744b90df" providerId="LiveId" clId="{1A923484-4B04-4A61-8822-48264F37F270}" dt="2026-07-19T04:42:33.247" v="436" actId="1076"/>
          <ac:spMkLst>
            <pc:docMk/>
            <pc:sldMk cId="1203249154" sldId="266"/>
            <ac:spMk id="6" creationId="{3E23CF32-277B-76C6-7BF9-F6301CEAAB41}"/>
          </ac:spMkLst>
        </pc:spChg>
        <pc:spChg chg="add mod">
          <ac:chgData name="Anand Kanzariya" userId="dcdb6a5c744b90df" providerId="LiveId" clId="{1A923484-4B04-4A61-8822-48264F37F270}" dt="2026-07-19T04:42:46.732" v="438" actId="1076"/>
          <ac:spMkLst>
            <pc:docMk/>
            <pc:sldMk cId="1203249154" sldId="266"/>
            <ac:spMk id="8" creationId="{77F2FAAB-9F15-257B-0555-7166EF303824}"/>
          </ac:spMkLst>
        </pc:spChg>
        <pc:picChg chg="add mod">
          <ac:chgData name="Anand Kanzariya" userId="dcdb6a5c744b90df" providerId="LiveId" clId="{1A923484-4B04-4A61-8822-48264F37F270}" dt="2026-07-19T04:41:56.310" v="432" actId="14100"/>
          <ac:picMkLst>
            <pc:docMk/>
            <pc:sldMk cId="1203249154" sldId="266"/>
            <ac:picMk id="5" creationId="{F82F3473-36B3-273D-A4A8-6284C53EFBC1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1"/>
          <p:cNvSpPr/>
          <p:nvPr/>
        </p:nvSpPr>
        <p:spPr>
          <a:xfrm rot="10800000">
            <a:off x="6705295" y="0"/>
            <a:ext cx="5486400" cy="6858000"/>
          </a:xfrm>
          <a:prstGeom prst="rtTriangl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6400" b="1">
                <a:solidFill>
                  <a:srgbClr val="2DD4BF"/>
                </a:solidFill>
                <a:latin typeface="Trebuchet MS"/>
              </a:defRPr>
            </a:pPr>
            <a:r>
              <a:rPr dirty="0"/>
              <a:t>LIFELINE</a:t>
            </a:r>
          </a:p>
          <a:p>
            <a:pPr>
              <a:spcAft>
                <a:spcPts val="2000"/>
              </a:spcAft>
              <a:defRPr sz="2800" b="1">
                <a:solidFill>
                  <a:srgbClr val="FFFFFF"/>
                </a:solidFill>
                <a:latin typeface="Arial"/>
              </a:defRPr>
            </a:pPr>
            <a:r>
              <a:rPr dirty="0"/>
              <a:t>Hospital Management System</a:t>
            </a:r>
          </a:p>
          <a:p>
            <a:pPr>
              <a:defRPr sz="1600">
                <a:solidFill>
                  <a:srgbClr val="94A3B8"/>
                </a:solidFill>
                <a:latin typeface="Arial"/>
              </a:defRPr>
            </a:pPr>
            <a:r>
              <a:rPr dirty="0"/>
              <a:t>A Full-Stack CRUD Internship Assignment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12064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defRPr sz="1400" b="1">
                <a:solidFill>
                  <a:srgbClr val="FFFFFF"/>
                </a:solidFill>
                <a:latin typeface="Arial"/>
              </a:defRPr>
            </a:pPr>
            <a:r>
              <a:t>Developed by:</a:t>
            </a:r>
            <a:br/>
            <a:r>
              <a:t>Anand Kanzariya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600" b="1">
                <a:solidFill>
                  <a:srgbClr val="0F766E"/>
                </a:solidFill>
                <a:latin typeface="Trebuchet MS"/>
              </a:defRPr>
            </a:pPr>
            <a:r>
              <a:t>Project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97280"/>
            <a:ext cx="1828800" cy="36576"/>
          </a:xfrm>
          <a:prstGeom prst="rect">
            <a:avLst/>
          </a:prstGeom>
          <a:solidFill>
            <a:srgbClr val="2DD4BF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463040"/>
            <a:ext cx="108173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200" b="1">
                <a:solidFill>
                  <a:srgbClr val="0F766E"/>
                </a:solidFill>
                <a:latin typeface="Trebuchet MS"/>
              </a:defRPr>
            </a:pPr>
            <a:r>
              <a:t>Introduction</a:t>
            </a:r>
          </a:p>
          <a:p>
            <a:pPr>
              <a:spcAft>
                <a:spcPts val="2400"/>
              </a:spcAft>
              <a:defRPr sz="1600">
                <a:solidFill>
                  <a:srgbClr val="475569"/>
                </a:solidFill>
                <a:latin typeface="Arial"/>
              </a:defRPr>
            </a:pPr>
            <a:r>
              <a:t>Lifeline is a digital web platform designed to streamline administrative workflows in medical facilities. The project integrates core CRUD functionalities ensuring medical data can be managed efficiently in a real-world scenario.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291840"/>
            <a:ext cx="512064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tlCol="0" anchor="ctr"/>
          <a:lstStyle/>
          <a:p>
            <a:pPr algn="ctr">
              <a:spcAft>
                <a:spcPts val="1000"/>
              </a:spcAft>
              <a:defRPr sz="1800" b="1">
                <a:solidFill>
                  <a:srgbClr val="B91C1C"/>
                </a:solidFill>
                <a:latin typeface="Trebuchet MS"/>
              </a:defRPr>
            </a:pPr>
            <a:r>
              <a:t>The Problem</a:t>
            </a:r>
          </a:p>
          <a:p>
            <a:pPr>
              <a:lnSpc>
                <a:spcPct val="130000"/>
              </a:lnSpc>
              <a:defRPr sz="1400">
                <a:solidFill>
                  <a:srgbClr val="475569"/>
                </a:solidFill>
                <a:latin typeface="Arial"/>
              </a:defRPr>
            </a:pPr>
            <a:r>
              <a:t>- Traditional manual paper records lead to delays, errors, and loss of files.</a:t>
            </a:r>
            <a:br/>
            <a:r>
              <a:t>- High scheduling conflicts between doctors and patients.</a:t>
            </a:r>
            <a:br/>
            <a:r>
              <a:t>- Lack of immediate, centralized data visibility.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82512" y="3291840"/>
            <a:ext cx="512064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tlCol="0" anchor="ctr"/>
          <a:lstStyle/>
          <a:p>
            <a:pPr algn="ctr">
              <a:spcAft>
                <a:spcPts val="1000"/>
              </a:spcAft>
              <a:defRPr sz="1800" b="1">
                <a:solidFill>
                  <a:srgbClr val="0F766E"/>
                </a:solidFill>
                <a:latin typeface="Trebuchet MS"/>
              </a:defRPr>
            </a:pPr>
            <a:r>
              <a:t>The Solution</a:t>
            </a:r>
          </a:p>
          <a:p>
            <a:pPr>
              <a:lnSpc>
                <a:spcPct val="130000"/>
              </a:lnSpc>
              <a:defRPr sz="1400">
                <a:solidFill>
                  <a:srgbClr val="475569"/>
                </a:solidFill>
                <a:latin typeface="Arial"/>
              </a:defRPr>
            </a:pPr>
            <a:r>
              <a:t>- Centralized database linking doctors, patients, and scheduling logs.</a:t>
            </a:r>
            <a:br/>
            <a:r>
              <a:t>- Responsive React UI ensuring secure, digital CRUD management.</a:t>
            </a:r>
            <a:br/>
            <a:r>
              <a:t>- Immediate data updates to reduce diagnostic and scheduling errors.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600" b="1">
                <a:solidFill>
                  <a:srgbClr val="0F766E"/>
                </a:solidFill>
                <a:latin typeface="Trebuchet MS"/>
              </a:defRPr>
            </a:pPr>
            <a:r>
              <a:t>Key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97280"/>
            <a:ext cx="1828800" cy="36576"/>
          </a:xfrm>
          <a:prstGeom prst="rect">
            <a:avLst/>
          </a:prstGeom>
          <a:solidFill>
            <a:srgbClr val="2DD4BF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512064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182880" rIns="274320" rtlCol="0" anchor="ctr"/>
          <a:lstStyle/>
          <a:p>
            <a:pPr algn="ctr">
              <a:spcAft>
                <a:spcPts val="600"/>
              </a:spcAft>
              <a:defRPr sz="1800" b="1">
                <a:solidFill>
                  <a:srgbClr val="0F766E"/>
                </a:solidFill>
                <a:latin typeface="Trebuchet MS"/>
              </a:defRPr>
            </a:pPr>
            <a:r>
              <a:t>Dashboard Analytics</a:t>
            </a:r>
          </a:p>
          <a:p>
            <a:pPr>
              <a:lnSpc>
                <a:spcPct val="125000"/>
              </a:lnSpc>
              <a:defRPr sz="1300">
                <a:solidFill>
                  <a:srgbClr val="475569"/>
                </a:solidFill>
                <a:latin typeface="Arial"/>
              </a:defRPr>
            </a:pPr>
            <a:r>
              <a:t>Offers immediate statistics showing active patient counts, registered practitioners, total bookings, and scheduled slots.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920240"/>
            <a:ext cx="73152" cy="137160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382512" y="1645920"/>
            <a:ext cx="512064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182880" rIns="274320" rtlCol="0" anchor="ctr"/>
          <a:lstStyle/>
          <a:p>
            <a:pPr algn="ctr">
              <a:spcAft>
                <a:spcPts val="600"/>
              </a:spcAft>
              <a:defRPr sz="1800" b="1">
                <a:solidFill>
                  <a:srgbClr val="0F766E"/>
                </a:solidFill>
                <a:latin typeface="Trebuchet MS"/>
              </a:defRPr>
            </a:pPr>
            <a:r>
              <a:t>Patient Registry</a:t>
            </a:r>
          </a:p>
          <a:p>
            <a:pPr>
              <a:lnSpc>
                <a:spcPct val="125000"/>
              </a:lnSpc>
              <a:defRPr sz="1300">
                <a:solidFill>
                  <a:srgbClr val="475569"/>
                </a:solidFill>
                <a:latin typeface="Arial"/>
              </a:defRPr>
            </a:pPr>
            <a:r>
              <a:t>Allows digital onboarding of patients, recording bio details, contacts, and archiving searchable medical histories.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82512" y="1920240"/>
            <a:ext cx="73152" cy="137160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85800" y="3931920"/>
            <a:ext cx="512064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182880" rIns="274320" rtlCol="0" anchor="ctr"/>
          <a:lstStyle/>
          <a:p>
            <a:pPr algn="ctr">
              <a:spcAft>
                <a:spcPts val="600"/>
              </a:spcAft>
              <a:defRPr sz="1800" b="1">
                <a:solidFill>
                  <a:srgbClr val="0F766E"/>
                </a:solidFill>
                <a:latin typeface="Trebuchet MS"/>
              </a:defRPr>
            </a:pPr>
            <a:r>
              <a:t>Doctors Directory</a:t>
            </a:r>
          </a:p>
          <a:p>
            <a:pPr>
              <a:lnSpc>
                <a:spcPct val="125000"/>
              </a:lnSpc>
              <a:defRPr sz="1300">
                <a:solidFill>
                  <a:srgbClr val="475569"/>
                </a:solidFill>
                <a:latin typeface="Arial"/>
              </a:defRPr>
            </a:pPr>
            <a:r>
              <a:t>Maintains organized lists of staff, grouping details by specialization department, and contacts for assignment.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4206240"/>
            <a:ext cx="73152" cy="137160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382512" y="3931920"/>
            <a:ext cx="512064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182880" rIns="274320" rtlCol="0" anchor="ctr"/>
          <a:lstStyle/>
          <a:p>
            <a:pPr algn="ctr">
              <a:spcAft>
                <a:spcPts val="600"/>
              </a:spcAft>
              <a:defRPr sz="1800" b="1">
                <a:solidFill>
                  <a:srgbClr val="0F766E"/>
                </a:solidFill>
                <a:latin typeface="Trebuchet MS"/>
              </a:defRPr>
            </a:pPr>
            <a:r>
              <a:t>Consultation Scheduler</a:t>
            </a:r>
          </a:p>
          <a:p>
            <a:pPr>
              <a:lnSpc>
                <a:spcPct val="125000"/>
              </a:lnSpc>
              <a:defRPr sz="1300">
                <a:solidFill>
                  <a:srgbClr val="475569"/>
                </a:solidFill>
                <a:latin typeface="Arial"/>
              </a:defRPr>
            </a:pPr>
            <a:r>
              <a:t>Orchestrates patient bookings with assigned doctors at selective date &amp; times. Features status tracking (Scheduled/Completed/Cancelled).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82512" y="4206240"/>
            <a:ext cx="73152" cy="137160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7077" y="457200"/>
            <a:ext cx="10817352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600" b="1">
                <a:solidFill>
                  <a:srgbClr val="0F766E"/>
                </a:solidFill>
                <a:latin typeface="Trebuchet MS"/>
              </a:defRPr>
            </a:pPr>
            <a:r>
              <a:rPr dirty="0"/>
              <a:t>System Workflow &amp;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97280"/>
            <a:ext cx="1828800" cy="36576"/>
          </a:xfrm>
          <a:prstGeom prst="rect">
            <a:avLst/>
          </a:prstGeom>
          <a:solidFill>
            <a:srgbClr val="2DD4BF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2194560"/>
            <a:ext cx="201168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0" rIns="137160" rtlCol="0" anchor="ctr"/>
          <a:lstStyle/>
          <a:p>
            <a:pPr algn="ctr">
              <a:spcAft>
                <a:spcPts val="800"/>
              </a:spcAft>
              <a:defRPr sz="1300" b="1">
                <a:solidFill>
                  <a:srgbClr val="2DD4BF"/>
                </a:solidFill>
                <a:latin typeface="Trebuchet MS"/>
              </a:defRPr>
            </a:pPr>
            <a:r>
              <a:t>Step 01</a:t>
            </a:r>
          </a:p>
          <a:p>
            <a:pPr algn="ctr">
              <a:spcAft>
                <a:spcPts val="1000"/>
              </a:spcAft>
              <a:defRPr sz="1600" b="1">
                <a:solidFill>
                  <a:srgbClr val="0F766E"/>
                </a:solidFill>
                <a:latin typeface="Trebuchet MS"/>
              </a:defRPr>
            </a:pPr>
            <a:r>
              <a:t>Vite Dev Server</a:t>
            </a:r>
          </a:p>
          <a:p>
            <a:pPr algn="ctr">
              <a:lnSpc>
                <a:spcPct val="120000"/>
              </a:lnSpc>
              <a:defRPr sz="1100">
                <a:solidFill>
                  <a:srgbClr val="475569"/>
                </a:solidFill>
                <a:latin typeface="Arial"/>
              </a:defRPr>
            </a:pPr>
            <a:r>
              <a:t>Hosts React Single Page Application (Port 5173)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697480" y="3474720"/>
            <a:ext cx="228600" cy="182880"/>
          </a:xfrm>
          <a:prstGeom prst="rightArrow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926080" y="2194560"/>
            <a:ext cx="201168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0" rIns="137160" rtlCol="0" anchor="ctr"/>
          <a:lstStyle/>
          <a:p>
            <a:pPr algn="ctr">
              <a:spcAft>
                <a:spcPts val="800"/>
              </a:spcAft>
              <a:defRPr sz="1300" b="1">
                <a:solidFill>
                  <a:srgbClr val="2DD4BF"/>
                </a:solidFill>
                <a:latin typeface="Trebuchet MS"/>
              </a:defRPr>
            </a:pPr>
            <a:r>
              <a:t>Step 02</a:t>
            </a:r>
          </a:p>
          <a:p>
            <a:pPr algn="ctr">
              <a:spcAft>
                <a:spcPts val="1000"/>
              </a:spcAft>
              <a:defRPr sz="1600" b="1">
                <a:solidFill>
                  <a:srgbClr val="0F766E"/>
                </a:solidFill>
                <a:latin typeface="Trebuchet MS"/>
              </a:defRPr>
            </a:pPr>
            <a:r>
              <a:t>Axios API Request</a:t>
            </a:r>
          </a:p>
          <a:p>
            <a:pPr algn="ctr">
              <a:lnSpc>
                <a:spcPct val="120000"/>
              </a:lnSpc>
              <a:defRPr sz="1100">
                <a:solidFill>
                  <a:srgbClr val="475569"/>
                </a:solidFill>
                <a:latin typeface="Arial"/>
              </a:defRPr>
            </a:pPr>
            <a:r>
              <a:t>Asynchronous HTTP JSON Payload Transmission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937760" y="3474720"/>
            <a:ext cx="228600" cy="182880"/>
          </a:xfrm>
          <a:prstGeom prst="rightArrow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166360" y="2194560"/>
            <a:ext cx="201168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0" rIns="137160" rtlCol="0" anchor="ctr"/>
          <a:lstStyle/>
          <a:p>
            <a:pPr algn="ctr">
              <a:spcAft>
                <a:spcPts val="800"/>
              </a:spcAft>
              <a:defRPr sz="1300" b="1">
                <a:solidFill>
                  <a:srgbClr val="2DD4BF"/>
                </a:solidFill>
                <a:latin typeface="Trebuchet MS"/>
              </a:defRPr>
            </a:pPr>
            <a:r>
              <a:t>Step 03</a:t>
            </a:r>
          </a:p>
          <a:p>
            <a:pPr algn="ctr">
              <a:spcAft>
                <a:spcPts val="1000"/>
              </a:spcAft>
              <a:defRPr sz="1600" b="1">
                <a:solidFill>
                  <a:srgbClr val="0F766E"/>
                </a:solidFill>
                <a:latin typeface="Trebuchet MS"/>
              </a:defRPr>
            </a:pPr>
            <a:r>
              <a:t>Spring Boot Rest</a:t>
            </a:r>
          </a:p>
          <a:p>
            <a:pPr algn="ctr">
              <a:lnSpc>
                <a:spcPct val="120000"/>
              </a:lnSpc>
              <a:defRPr sz="1100">
                <a:solidFill>
                  <a:srgbClr val="475569"/>
                </a:solidFill>
                <a:latin typeface="Arial"/>
              </a:defRPr>
            </a:pPr>
            <a:r>
              <a:t>Tomcat API Controller Interception (Port 8080)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178040" y="3474720"/>
            <a:ext cx="228600" cy="182880"/>
          </a:xfrm>
          <a:prstGeom prst="rightArrow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406640" y="2194560"/>
            <a:ext cx="201168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0" rIns="137160" rtlCol="0" anchor="ctr"/>
          <a:lstStyle/>
          <a:p>
            <a:pPr algn="ctr">
              <a:spcAft>
                <a:spcPts val="800"/>
              </a:spcAft>
              <a:defRPr sz="1300" b="1">
                <a:solidFill>
                  <a:srgbClr val="2DD4BF"/>
                </a:solidFill>
                <a:latin typeface="Trebuchet MS"/>
              </a:defRPr>
            </a:pPr>
            <a:r>
              <a:t>Step 04</a:t>
            </a:r>
          </a:p>
          <a:p>
            <a:pPr algn="ctr">
              <a:spcAft>
                <a:spcPts val="1000"/>
              </a:spcAft>
              <a:defRPr sz="1600" b="1">
                <a:solidFill>
                  <a:srgbClr val="0F766E"/>
                </a:solidFill>
                <a:latin typeface="Trebuchet MS"/>
              </a:defRPr>
            </a:pPr>
            <a:r>
              <a:t>Hibernate JPA</a:t>
            </a:r>
          </a:p>
          <a:p>
            <a:pPr algn="ctr">
              <a:lnSpc>
                <a:spcPct val="120000"/>
              </a:lnSpc>
              <a:defRPr sz="1100">
                <a:solidFill>
                  <a:srgbClr val="475569"/>
                </a:solidFill>
                <a:latin typeface="Arial"/>
              </a:defRPr>
            </a:pPr>
            <a:r>
              <a:t>Object-Relational Mapping &amp; DB query execution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418320" y="3474720"/>
            <a:ext cx="228600" cy="182880"/>
          </a:xfrm>
          <a:prstGeom prst="rightArrow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646920" y="2194560"/>
            <a:ext cx="201168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0" rIns="137160" rtlCol="0" anchor="ctr"/>
          <a:lstStyle/>
          <a:p>
            <a:pPr algn="ctr">
              <a:spcAft>
                <a:spcPts val="800"/>
              </a:spcAft>
              <a:defRPr sz="1300" b="1">
                <a:solidFill>
                  <a:srgbClr val="2DD4BF"/>
                </a:solidFill>
                <a:latin typeface="Trebuchet MS"/>
              </a:defRPr>
            </a:pPr>
            <a:r>
              <a:rPr dirty="0"/>
              <a:t>Step 05</a:t>
            </a:r>
          </a:p>
          <a:p>
            <a:pPr algn="ctr">
              <a:spcAft>
                <a:spcPts val="1000"/>
              </a:spcAft>
              <a:defRPr sz="1600" b="1">
                <a:solidFill>
                  <a:srgbClr val="0F766E"/>
                </a:solidFill>
                <a:latin typeface="Trebuchet MS"/>
              </a:defRPr>
            </a:pPr>
            <a:r>
              <a:rPr dirty="0"/>
              <a:t>PostgreSQL 18</a:t>
            </a:r>
          </a:p>
          <a:p>
            <a:pPr algn="ctr">
              <a:lnSpc>
                <a:spcPct val="120000"/>
              </a:lnSpc>
              <a:defRPr sz="1100">
                <a:solidFill>
                  <a:srgbClr val="475569"/>
                </a:solidFill>
                <a:latin typeface="Arial"/>
              </a:defRPr>
            </a:pPr>
            <a:r>
              <a:rPr dirty="0"/>
              <a:t>Persistent relational storage on local schema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82F3473-36B3-273D-A4A8-6284C53EFB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5128" y="1736521"/>
            <a:ext cx="9429224" cy="477333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E23CF32-277B-76C6-7BF9-F6301CEAAB41}"/>
              </a:ext>
            </a:extLst>
          </p:cNvPr>
          <p:cNvSpPr txBox="1"/>
          <p:nvPr/>
        </p:nvSpPr>
        <p:spPr>
          <a:xfrm>
            <a:off x="1275128" y="536192"/>
            <a:ext cx="687058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3600" b="1">
                <a:solidFill>
                  <a:srgbClr val="0F766E"/>
                </a:solidFill>
                <a:latin typeface="Trebuchet MS"/>
              </a:defRPr>
            </a:pPr>
            <a:r>
              <a:rPr lang="en-IN" dirty="0"/>
              <a:t>Patients WorkFlow</a:t>
            </a:r>
          </a:p>
          <a:p>
            <a:pPr>
              <a:defRPr sz="3600" b="1">
                <a:solidFill>
                  <a:srgbClr val="0F766E"/>
                </a:solidFill>
                <a:latin typeface="Trebuchet MS"/>
              </a:defRPr>
            </a:pPr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7F2FAAB-9F15-257B-0555-7166EF303824}"/>
              </a:ext>
            </a:extLst>
          </p:cNvPr>
          <p:cNvSpPr/>
          <p:nvPr/>
        </p:nvSpPr>
        <p:spPr>
          <a:xfrm>
            <a:off x="1390476" y="1176774"/>
            <a:ext cx="1828800" cy="36576"/>
          </a:xfrm>
          <a:prstGeom prst="rect">
            <a:avLst/>
          </a:prstGeom>
          <a:solidFill>
            <a:srgbClr val="2DD4BF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2032491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600" b="1">
                <a:solidFill>
                  <a:srgbClr val="0F766E"/>
                </a:solidFill>
                <a:latin typeface="Trebuchet MS"/>
              </a:defRPr>
            </a:pPr>
            <a:r>
              <a:t>Technology Stack - Frontend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97280"/>
            <a:ext cx="1828800" cy="36576"/>
          </a:xfrm>
          <a:prstGeom prst="rect">
            <a:avLst/>
          </a:prstGeom>
          <a:solidFill>
            <a:srgbClr val="2DD4BF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2011680"/>
            <a:ext cx="205740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548640" rIns="137160" rtlCol="0" anchor="ctr"/>
          <a:lstStyle/>
          <a:p>
            <a:pPr algn="ctr">
              <a:spcAft>
                <a:spcPts val="1200"/>
              </a:spcAft>
              <a:defRPr sz="1700" b="1">
                <a:solidFill>
                  <a:srgbClr val="111827"/>
                </a:solidFill>
                <a:latin typeface="Trebuchet MS"/>
              </a:defRPr>
            </a:pPr>
            <a:r>
              <a:t>React 19</a:t>
            </a:r>
          </a:p>
          <a:p>
            <a:pPr algn="ctr">
              <a:lnSpc>
                <a:spcPct val="135000"/>
              </a:lnSpc>
              <a:defRPr sz="1200">
                <a:solidFill>
                  <a:srgbClr val="475569"/>
                </a:solidFill>
                <a:latin typeface="Arial"/>
              </a:defRPr>
            </a:pPr>
            <a:r>
              <a:t>Virtual DOM rendering engine with declarative state hooks allowing for modular components.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011680"/>
            <a:ext cx="2057400" cy="36576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880360" y="2011680"/>
            <a:ext cx="205740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548640" rIns="137160" rtlCol="0" anchor="ctr"/>
          <a:lstStyle/>
          <a:p>
            <a:pPr algn="ctr">
              <a:spcAft>
                <a:spcPts val="1200"/>
              </a:spcAft>
              <a:defRPr sz="1700" b="1">
                <a:solidFill>
                  <a:srgbClr val="111827"/>
                </a:solidFill>
                <a:latin typeface="Trebuchet MS"/>
              </a:defRPr>
            </a:pPr>
            <a:r>
              <a:t>React Router DOM v7</a:t>
            </a:r>
          </a:p>
          <a:p>
            <a:pPr algn="ctr">
              <a:lnSpc>
                <a:spcPct val="135000"/>
              </a:lnSpc>
              <a:defRPr sz="1200">
                <a:solidFill>
                  <a:srgbClr val="475569"/>
                </a:solidFill>
                <a:latin typeface="Arial"/>
              </a:defRPr>
            </a:pPr>
            <a:r>
              <a:t>Client-side routing implementation to create a fluid, zero-page-reload user experience.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2880360" y="2011680"/>
            <a:ext cx="2057400" cy="36576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074920" y="2011680"/>
            <a:ext cx="205740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548640" rIns="137160" rtlCol="0" anchor="ctr"/>
          <a:lstStyle/>
          <a:p>
            <a:pPr algn="ctr">
              <a:spcAft>
                <a:spcPts val="1200"/>
              </a:spcAft>
              <a:defRPr sz="1700" b="1">
                <a:solidFill>
                  <a:srgbClr val="111827"/>
                </a:solidFill>
                <a:latin typeface="Trebuchet MS"/>
              </a:defRPr>
            </a:pPr>
            <a:r>
              <a:t>Axios Client</a:t>
            </a:r>
          </a:p>
          <a:p>
            <a:pPr algn="ctr">
              <a:lnSpc>
                <a:spcPct val="135000"/>
              </a:lnSpc>
              <a:defRPr sz="1200">
                <a:solidFill>
                  <a:srgbClr val="475569"/>
                </a:solidFill>
                <a:latin typeface="Arial"/>
              </a:defRPr>
            </a:pPr>
            <a:r>
              <a:t>Promise-based HTTP library to send JSON data request bodies to the REST endpoint controllers.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74920" y="2011680"/>
            <a:ext cx="2057400" cy="36576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269479" y="2011680"/>
            <a:ext cx="205740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548640" rIns="137160" rtlCol="0" anchor="ctr"/>
          <a:lstStyle/>
          <a:p>
            <a:pPr algn="ctr">
              <a:spcAft>
                <a:spcPts val="1200"/>
              </a:spcAft>
              <a:defRPr sz="1700" b="1">
                <a:solidFill>
                  <a:srgbClr val="111827"/>
                </a:solidFill>
                <a:latin typeface="Trebuchet MS"/>
              </a:defRPr>
            </a:pPr>
            <a:r>
              <a:t>Vanilla CSS Variables</a:t>
            </a:r>
          </a:p>
          <a:p>
            <a:pPr algn="ctr">
              <a:lnSpc>
                <a:spcPct val="135000"/>
              </a:lnSpc>
              <a:defRPr sz="1200">
                <a:solidFill>
                  <a:srgbClr val="475569"/>
                </a:solidFill>
                <a:latin typeface="Arial"/>
              </a:defRPr>
            </a:pPr>
            <a:r>
              <a:t>Highly customized styles with absolute support for dark/light themes, animations, and transitions.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69479" y="2011680"/>
            <a:ext cx="2057400" cy="36576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464040" y="2011680"/>
            <a:ext cx="205740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548640" rIns="137160" rtlCol="0" anchor="ctr"/>
          <a:lstStyle/>
          <a:p>
            <a:pPr algn="ctr">
              <a:spcAft>
                <a:spcPts val="1200"/>
              </a:spcAft>
              <a:defRPr sz="1700" b="1">
                <a:solidFill>
                  <a:srgbClr val="111827"/>
                </a:solidFill>
                <a:latin typeface="Trebuchet MS"/>
              </a:defRPr>
            </a:pPr>
            <a:r>
              <a:t>Vite Bundler</a:t>
            </a:r>
          </a:p>
          <a:p>
            <a:pPr algn="ctr">
              <a:lnSpc>
                <a:spcPct val="135000"/>
              </a:lnSpc>
              <a:defRPr sz="1200">
                <a:solidFill>
                  <a:srgbClr val="475569"/>
                </a:solidFill>
                <a:latin typeface="Arial"/>
              </a:defRPr>
            </a:pPr>
            <a:r>
              <a:t>Extremely fast HMR bundler compiling assets quickly, securing optimized bundle outputs.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464040" y="2011680"/>
            <a:ext cx="2057400" cy="36576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600" b="1">
                <a:solidFill>
                  <a:srgbClr val="0F766E"/>
                </a:solidFill>
                <a:latin typeface="Trebuchet MS"/>
              </a:defRPr>
            </a:pPr>
            <a:r>
              <a:t>Technology Stack - Backend &amp; DB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97280"/>
            <a:ext cx="1828800" cy="36576"/>
          </a:xfrm>
          <a:prstGeom prst="rect">
            <a:avLst/>
          </a:prstGeom>
          <a:solidFill>
            <a:srgbClr val="2DD4BF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2011680"/>
            <a:ext cx="205740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548640" rIns="137160" rtlCol="0" anchor="ctr"/>
          <a:lstStyle/>
          <a:p>
            <a:pPr algn="ctr">
              <a:spcAft>
                <a:spcPts val="1200"/>
              </a:spcAft>
              <a:defRPr sz="1700" b="1">
                <a:solidFill>
                  <a:srgbClr val="111827"/>
                </a:solidFill>
                <a:latin typeface="Trebuchet MS"/>
              </a:defRPr>
            </a:pPr>
            <a:r>
              <a:t>Spring Boot 4.1.0</a:t>
            </a:r>
          </a:p>
          <a:p>
            <a:pPr algn="ctr">
              <a:lnSpc>
                <a:spcPct val="135000"/>
              </a:lnSpc>
              <a:defRPr sz="1200">
                <a:solidFill>
                  <a:srgbClr val="475569"/>
                </a:solidFill>
                <a:latin typeface="Arial"/>
              </a:defRPr>
            </a:pPr>
            <a:r>
              <a:t>Main Java framework providing embedded Tomcat routing, Dependency Injection, and REST APIs.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011680"/>
            <a:ext cx="2057400" cy="36576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880360" y="2011680"/>
            <a:ext cx="205740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548640" rIns="137160" rtlCol="0" anchor="ctr"/>
          <a:lstStyle/>
          <a:p>
            <a:pPr algn="ctr">
              <a:spcAft>
                <a:spcPts val="1200"/>
              </a:spcAft>
              <a:defRPr sz="1700" b="1">
                <a:solidFill>
                  <a:srgbClr val="111827"/>
                </a:solidFill>
                <a:latin typeface="Trebuchet MS"/>
              </a:defRPr>
            </a:pPr>
            <a:r>
              <a:t>Spring Data JPA</a:t>
            </a:r>
          </a:p>
          <a:p>
            <a:pPr algn="ctr">
              <a:lnSpc>
                <a:spcPct val="135000"/>
              </a:lnSpc>
              <a:defRPr sz="1200">
                <a:solidFill>
                  <a:srgbClr val="475569"/>
                </a:solidFill>
                <a:latin typeface="Arial"/>
              </a:defRPr>
            </a:pPr>
            <a:r>
              <a:t>Data layer wrapper simplifying boilerplate Hibernate repository access methods.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2880360" y="2011680"/>
            <a:ext cx="2057400" cy="36576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074920" y="2011680"/>
            <a:ext cx="205740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548640" rIns="137160" rtlCol="0" anchor="ctr"/>
          <a:lstStyle/>
          <a:p>
            <a:pPr algn="ctr">
              <a:spcAft>
                <a:spcPts val="1200"/>
              </a:spcAft>
              <a:defRPr sz="1700" b="1">
                <a:solidFill>
                  <a:srgbClr val="111827"/>
                </a:solidFill>
                <a:latin typeface="Trebuchet MS"/>
              </a:defRPr>
            </a:pPr>
            <a:r>
              <a:t>Hibernate ORM</a:t>
            </a:r>
          </a:p>
          <a:p>
            <a:pPr algn="ctr">
              <a:lnSpc>
                <a:spcPct val="135000"/>
              </a:lnSpc>
              <a:defRPr sz="1200">
                <a:solidFill>
                  <a:srgbClr val="475569"/>
                </a:solidFill>
                <a:latin typeface="Arial"/>
              </a:defRPr>
            </a:pPr>
            <a:r>
              <a:t>Automatically maps Java Entity objects to PostgreSQL relational table columns.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74920" y="2011680"/>
            <a:ext cx="2057400" cy="36576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269479" y="2011680"/>
            <a:ext cx="205740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548640" rIns="137160" rtlCol="0" anchor="ctr"/>
          <a:lstStyle/>
          <a:p>
            <a:pPr algn="ctr">
              <a:spcAft>
                <a:spcPts val="1200"/>
              </a:spcAft>
              <a:defRPr sz="1700" b="1">
                <a:solidFill>
                  <a:srgbClr val="111827"/>
                </a:solidFill>
                <a:latin typeface="Trebuchet MS"/>
              </a:defRPr>
            </a:pPr>
            <a:r>
              <a:t>PostgreSQL 18</a:t>
            </a:r>
          </a:p>
          <a:p>
            <a:pPr algn="ctr">
              <a:lnSpc>
                <a:spcPct val="135000"/>
              </a:lnSpc>
              <a:defRPr sz="1200">
                <a:solidFill>
                  <a:srgbClr val="475569"/>
                </a:solidFill>
                <a:latin typeface="Arial"/>
              </a:defRPr>
            </a:pPr>
            <a:r>
              <a:t>Saves and retrieves records securely on structured tables with primary/foreign keys.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69479" y="2011680"/>
            <a:ext cx="2057400" cy="36576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464040" y="2011680"/>
            <a:ext cx="205740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548640" rIns="137160" rtlCol="0" anchor="ctr"/>
          <a:lstStyle/>
          <a:p>
            <a:pPr algn="ctr">
              <a:spcAft>
                <a:spcPts val="1200"/>
              </a:spcAft>
              <a:defRPr sz="1700" b="1">
                <a:solidFill>
                  <a:srgbClr val="111827"/>
                </a:solidFill>
                <a:latin typeface="Trebuchet MS"/>
              </a:defRPr>
            </a:pPr>
            <a:r>
              <a:t>Project Lombok</a:t>
            </a:r>
          </a:p>
          <a:p>
            <a:pPr algn="ctr">
              <a:lnSpc>
                <a:spcPct val="135000"/>
              </a:lnSpc>
              <a:defRPr sz="1200">
                <a:solidFill>
                  <a:srgbClr val="475569"/>
                </a:solidFill>
                <a:latin typeface="Arial"/>
              </a:defRPr>
            </a:pPr>
            <a:r>
              <a:t>Precompiles getter/setter and constructor annotations, cleaning java codebase.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464040" y="2011680"/>
            <a:ext cx="2057400" cy="36576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600" b="1">
                <a:solidFill>
                  <a:srgbClr val="0F766E"/>
                </a:solidFill>
                <a:latin typeface="Trebuchet MS"/>
              </a:defRPr>
            </a:pPr>
            <a:r>
              <a:t>Database Design &amp; Entity Schemas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97280"/>
            <a:ext cx="1828800" cy="36576"/>
          </a:xfrm>
          <a:prstGeom prst="rect">
            <a:avLst/>
          </a:prstGeom>
          <a:solidFill>
            <a:srgbClr val="2DD4BF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3319272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tlCol="0" anchor="ctr"/>
          <a:lstStyle/>
          <a:p>
            <a:pPr algn="ctr">
              <a:defRPr sz="2000" b="1">
                <a:solidFill>
                  <a:srgbClr val="0F766E"/>
                </a:solidFill>
                <a:latin typeface="Trebuchet MS"/>
              </a:defRPr>
            </a:pPr>
            <a:r>
              <a:t>Patients Table</a:t>
            </a:r>
          </a:p>
          <a:p>
            <a:pPr>
              <a:spcAft>
                <a:spcPts val="1400"/>
              </a:spcAft>
              <a:defRPr sz="1200">
                <a:solidFill>
                  <a:srgbClr val="2DD4BF"/>
                </a:solidFill>
                <a:latin typeface="Courier New"/>
              </a:defRPr>
            </a:pPr>
            <a:r>
              <a:t>Table: patients</a:t>
            </a:r>
          </a:p>
          <a:p>
            <a:pPr>
              <a:spcAft>
                <a:spcPts val="400"/>
              </a:spcAft>
              <a:defRPr sz="1300">
                <a:solidFill>
                  <a:srgbClr val="475569"/>
                </a:solidFill>
                <a:latin typeface="Arial"/>
              </a:defRPr>
            </a:pPr>
            <a:r>
              <a:t>• id : Long (PK, Serial)</a:t>
            </a:r>
          </a:p>
          <a:p>
            <a:pPr>
              <a:spcAft>
                <a:spcPts val="400"/>
              </a:spcAft>
              <a:defRPr sz="1300">
                <a:solidFill>
                  <a:srgbClr val="475569"/>
                </a:solidFill>
                <a:latin typeface="Arial"/>
              </a:defRPr>
            </a:pPr>
            <a:r>
              <a:t>• name : String (NOT NULL)</a:t>
            </a:r>
          </a:p>
          <a:p>
            <a:pPr>
              <a:spcAft>
                <a:spcPts val="400"/>
              </a:spcAft>
              <a:defRPr sz="1300">
                <a:solidFill>
                  <a:srgbClr val="475569"/>
                </a:solidFill>
                <a:latin typeface="Arial"/>
              </a:defRPr>
            </a:pPr>
            <a:r>
              <a:t>• age : Integer (NOT NULL)</a:t>
            </a:r>
          </a:p>
          <a:p>
            <a:pPr>
              <a:spcAft>
                <a:spcPts val="400"/>
              </a:spcAft>
              <a:defRPr sz="1300">
                <a:solidFill>
                  <a:srgbClr val="475569"/>
                </a:solidFill>
                <a:latin typeface="Arial"/>
              </a:defRPr>
            </a:pPr>
            <a:r>
              <a:t>• gender : String (NOT NULL)</a:t>
            </a:r>
          </a:p>
          <a:p>
            <a:pPr>
              <a:spcAft>
                <a:spcPts val="400"/>
              </a:spcAft>
              <a:defRPr sz="1300">
                <a:solidFill>
                  <a:srgbClr val="475569"/>
                </a:solidFill>
                <a:latin typeface="Arial"/>
              </a:defRPr>
            </a:pPr>
            <a:r>
              <a:t>• contact_number : String (NOT NULL)</a:t>
            </a:r>
          </a:p>
          <a:p>
            <a:pPr>
              <a:spcAft>
                <a:spcPts val="400"/>
              </a:spcAft>
              <a:defRPr sz="1300">
                <a:solidFill>
                  <a:srgbClr val="475569"/>
                </a:solidFill>
                <a:latin typeface="Arial"/>
              </a:defRPr>
            </a:pPr>
            <a:r>
              <a:t>• email : String</a:t>
            </a:r>
          </a:p>
          <a:p>
            <a:pPr>
              <a:spcAft>
                <a:spcPts val="400"/>
              </a:spcAft>
              <a:defRPr sz="1300">
                <a:solidFill>
                  <a:srgbClr val="475569"/>
                </a:solidFill>
                <a:latin typeface="Arial"/>
              </a:defRPr>
            </a:pPr>
            <a:r>
              <a:t>• address : String</a:t>
            </a:r>
          </a:p>
          <a:p>
            <a:pPr>
              <a:spcAft>
                <a:spcPts val="400"/>
              </a:spcAft>
              <a:defRPr sz="1300">
                <a:solidFill>
                  <a:srgbClr val="475569"/>
                </a:solidFill>
                <a:latin typeface="Arial"/>
              </a:defRPr>
            </a:pPr>
            <a:r>
              <a:t>• medical_history : Text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645920"/>
            <a:ext cx="3319272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tlCol="0" anchor="ctr"/>
          <a:lstStyle/>
          <a:p>
            <a:pPr algn="ctr">
              <a:defRPr sz="2000" b="1">
                <a:solidFill>
                  <a:srgbClr val="0F766E"/>
                </a:solidFill>
                <a:latin typeface="Trebuchet MS"/>
              </a:defRPr>
            </a:pPr>
            <a:r>
              <a:t>Doctors Table</a:t>
            </a:r>
          </a:p>
          <a:p>
            <a:pPr>
              <a:spcAft>
                <a:spcPts val="1400"/>
              </a:spcAft>
              <a:defRPr sz="1200">
                <a:solidFill>
                  <a:srgbClr val="2DD4BF"/>
                </a:solidFill>
                <a:latin typeface="Courier New"/>
              </a:defRPr>
            </a:pPr>
            <a:r>
              <a:t>Table: doctors</a:t>
            </a:r>
          </a:p>
          <a:p>
            <a:pPr>
              <a:spcAft>
                <a:spcPts val="400"/>
              </a:spcAft>
              <a:defRPr sz="1300">
                <a:solidFill>
                  <a:srgbClr val="475569"/>
                </a:solidFill>
                <a:latin typeface="Arial"/>
              </a:defRPr>
            </a:pPr>
            <a:r>
              <a:t>• id : Long (PK, Serial)</a:t>
            </a:r>
          </a:p>
          <a:p>
            <a:pPr>
              <a:spcAft>
                <a:spcPts val="400"/>
              </a:spcAft>
              <a:defRPr sz="1300">
                <a:solidFill>
                  <a:srgbClr val="475569"/>
                </a:solidFill>
                <a:latin typeface="Arial"/>
              </a:defRPr>
            </a:pPr>
            <a:r>
              <a:t>• name : String (NOT NULL)</a:t>
            </a:r>
          </a:p>
          <a:p>
            <a:pPr>
              <a:spcAft>
                <a:spcPts val="400"/>
              </a:spcAft>
              <a:defRPr sz="1300">
                <a:solidFill>
                  <a:srgbClr val="475569"/>
                </a:solidFill>
                <a:latin typeface="Arial"/>
              </a:defRPr>
            </a:pPr>
            <a:r>
              <a:t>• specialization : String (NOT NULL)</a:t>
            </a:r>
          </a:p>
          <a:p>
            <a:pPr>
              <a:spcAft>
                <a:spcPts val="400"/>
              </a:spcAft>
              <a:defRPr sz="1300">
                <a:solidFill>
                  <a:srgbClr val="475569"/>
                </a:solidFill>
                <a:latin typeface="Arial"/>
              </a:defRPr>
            </a:pPr>
            <a:r>
              <a:t>• contact_number : String (NOT NULL)</a:t>
            </a:r>
          </a:p>
          <a:p>
            <a:pPr>
              <a:spcAft>
                <a:spcPts val="400"/>
              </a:spcAft>
              <a:defRPr sz="1300">
                <a:solidFill>
                  <a:srgbClr val="475569"/>
                </a:solidFill>
                <a:latin typeface="Arial"/>
              </a:defRPr>
            </a:pPr>
            <a:r>
              <a:t>• email : String</a:t>
            </a:r>
          </a:p>
          <a:p>
            <a:pPr>
              <a:spcAft>
                <a:spcPts val="400"/>
              </a:spcAft>
              <a:defRPr sz="1300">
                <a:solidFill>
                  <a:srgbClr val="475569"/>
                </a:solidFill>
                <a:latin typeface="Arial"/>
              </a:defRPr>
            </a:pPr>
            <a:r>
              <a:t>• department : String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83879" y="1645920"/>
            <a:ext cx="3319272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tlCol="0" anchor="ctr"/>
          <a:lstStyle/>
          <a:p>
            <a:pPr algn="ctr">
              <a:defRPr sz="2000" b="1">
                <a:solidFill>
                  <a:srgbClr val="0F766E"/>
                </a:solidFill>
                <a:latin typeface="Trebuchet MS"/>
              </a:defRPr>
            </a:pPr>
            <a:r>
              <a:t>Appointments Table</a:t>
            </a:r>
          </a:p>
          <a:p>
            <a:pPr>
              <a:spcAft>
                <a:spcPts val="1400"/>
              </a:spcAft>
              <a:defRPr sz="1200">
                <a:solidFill>
                  <a:srgbClr val="2DD4BF"/>
                </a:solidFill>
                <a:latin typeface="Courier New"/>
              </a:defRPr>
            </a:pPr>
            <a:r>
              <a:t>Table: appointments</a:t>
            </a:r>
          </a:p>
          <a:p>
            <a:pPr>
              <a:spcAft>
                <a:spcPts val="400"/>
              </a:spcAft>
              <a:defRPr sz="1300">
                <a:solidFill>
                  <a:srgbClr val="475569"/>
                </a:solidFill>
                <a:latin typeface="Arial"/>
              </a:defRPr>
            </a:pPr>
            <a:r>
              <a:t>• id : Long (PK, Serial)</a:t>
            </a:r>
          </a:p>
          <a:p>
            <a:pPr>
              <a:spcAft>
                <a:spcPts val="400"/>
              </a:spcAft>
              <a:defRPr sz="1300">
                <a:solidFill>
                  <a:srgbClr val="475569"/>
                </a:solidFill>
                <a:latin typeface="Arial"/>
              </a:defRPr>
            </a:pPr>
            <a:r>
              <a:t>• patient_id : Long (FK -&gt; patients)</a:t>
            </a:r>
          </a:p>
          <a:p>
            <a:pPr>
              <a:spcAft>
                <a:spcPts val="400"/>
              </a:spcAft>
              <a:defRPr sz="1300">
                <a:solidFill>
                  <a:srgbClr val="475569"/>
                </a:solidFill>
                <a:latin typeface="Arial"/>
              </a:defRPr>
            </a:pPr>
            <a:r>
              <a:t>• doctor_id : Long (FK -&gt; doctors)</a:t>
            </a:r>
          </a:p>
          <a:p>
            <a:pPr>
              <a:spcAft>
                <a:spcPts val="400"/>
              </a:spcAft>
              <a:defRPr sz="1300">
                <a:solidFill>
                  <a:srgbClr val="475569"/>
                </a:solidFill>
                <a:latin typeface="Arial"/>
              </a:defRPr>
            </a:pPr>
            <a:r>
              <a:t>• appointment_date : Date (NOT NULL)</a:t>
            </a:r>
          </a:p>
          <a:p>
            <a:pPr>
              <a:spcAft>
                <a:spcPts val="400"/>
              </a:spcAft>
              <a:defRPr sz="1300">
                <a:solidFill>
                  <a:srgbClr val="475569"/>
                </a:solidFill>
                <a:latin typeface="Arial"/>
              </a:defRPr>
            </a:pPr>
            <a:r>
              <a:t>• appointment_time : Time (NOT NULL)</a:t>
            </a:r>
          </a:p>
          <a:p>
            <a:pPr>
              <a:spcAft>
                <a:spcPts val="400"/>
              </a:spcAft>
              <a:defRPr sz="1300">
                <a:solidFill>
                  <a:srgbClr val="475569"/>
                </a:solidFill>
                <a:latin typeface="Arial"/>
              </a:defRPr>
            </a:pPr>
            <a:r>
              <a:t>• status : String (NOT NULL)</a:t>
            </a:r>
          </a:p>
          <a:p>
            <a:pPr>
              <a:spcAft>
                <a:spcPts val="400"/>
              </a:spcAft>
              <a:defRPr sz="1300">
                <a:solidFill>
                  <a:srgbClr val="475569"/>
                </a:solidFill>
                <a:latin typeface="Arial"/>
              </a:defRPr>
            </a:pPr>
            <a:r>
              <a:t>• reason : String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600" b="1">
                <a:solidFill>
                  <a:srgbClr val="0F766E"/>
                </a:solidFill>
                <a:latin typeface="Trebuchet MS"/>
              </a:defRPr>
            </a:pPr>
            <a:r>
              <a:t>REST API Endpoints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97280"/>
            <a:ext cx="1828800" cy="36576"/>
          </a:xfrm>
          <a:prstGeom prst="rect">
            <a:avLst/>
          </a:prstGeom>
          <a:solidFill>
            <a:srgbClr val="2DD4BF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6959" y="1528474"/>
            <a:ext cx="3272294" cy="27443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0F766E"/>
                </a:solidFill>
                <a:latin typeface="Trebuchet MS"/>
              </a:defRPr>
            </a:pPr>
            <a:r>
              <a:rPr dirty="0"/>
              <a:t>Patient Controller</a:t>
            </a:r>
          </a:p>
          <a:p>
            <a:pPr>
              <a:defRPr sz="1500" b="1">
                <a:solidFill>
                  <a:srgbClr val="2DD4BF"/>
                </a:solidFill>
                <a:latin typeface="Courier New"/>
              </a:defRPr>
            </a:pPr>
            <a:r>
              <a:rPr dirty="0"/>
              <a:t>GET /</a:t>
            </a:r>
            <a:r>
              <a:rPr dirty="0" err="1"/>
              <a:t>api</a:t>
            </a:r>
            <a:r>
              <a:rPr dirty="0"/>
              <a:t>/patients</a:t>
            </a:r>
          </a:p>
          <a:p>
            <a:pPr>
              <a:spcAft>
                <a:spcPts val="1200"/>
              </a:spcAft>
              <a:defRPr sz="1300">
                <a:solidFill>
                  <a:srgbClr val="475569"/>
                </a:solidFill>
                <a:latin typeface="Arial"/>
              </a:defRPr>
            </a:pPr>
            <a:r>
              <a:rPr dirty="0"/>
              <a:t>Retrieves array list of all patients.</a:t>
            </a:r>
          </a:p>
          <a:p>
            <a:pPr>
              <a:defRPr sz="1500" b="1">
                <a:solidFill>
                  <a:srgbClr val="2DD4BF"/>
                </a:solidFill>
                <a:latin typeface="Courier New"/>
              </a:defRPr>
            </a:pPr>
            <a:r>
              <a:rPr dirty="0"/>
              <a:t>POST /</a:t>
            </a:r>
            <a:r>
              <a:rPr dirty="0" err="1"/>
              <a:t>api</a:t>
            </a:r>
            <a:r>
              <a:rPr dirty="0"/>
              <a:t>/patients</a:t>
            </a:r>
          </a:p>
          <a:p>
            <a:pPr>
              <a:spcAft>
                <a:spcPts val="1200"/>
              </a:spcAft>
              <a:defRPr sz="1300">
                <a:solidFill>
                  <a:srgbClr val="475569"/>
                </a:solidFill>
                <a:latin typeface="Arial"/>
              </a:defRPr>
            </a:pPr>
            <a:r>
              <a:rPr dirty="0"/>
              <a:t>Registers and validates a new patient.</a:t>
            </a:r>
          </a:p>
          <a:p>
            <a:pPr>
              <a:defRPr sz="1500" b="1">
                <a:solidFill>
                  <a:srgbClr val="2DD4BF"/>
                </a:solidFill>
                <a:latin typeface="Courier New"/>
              </a:defRPr>
            </a:pPr>
            <a:r>
              <a:rPr dirty="0"/>
              <a:t>PUT /</a:t>
            </a:r>
            <a:r>
              <a:rPr dirty="0" err="1"/>
              <a:t>api</a:t>
            </a:r>
            <a:r>
              <a:rPr dirty="0"/>
              <a:t>/patients/{id}</a:t>
            </a:r>
          </a:p>
          <a:p>
            <a:pPr>
              <a:spcAft>
                <a:spcPts val="1200"/>
              </a:spcAft>
              <a:defRPr sz="1300">
                <a:solidFill>
                  <a:srgbClr val="475569"/>
                </a:solidFill>
                <a:latin typeface="Arial"/>
              </a:defRPr>
            </a:pPr>
            <a:r>
              <a:rPr dirty="0"/>
              <a:t>Updates target patient profile info.</a:t>
            </a:r>
          </a:p>
          <a:p>
            <a:pPr>
              <a:defRPr sz="1500" b="1">
                <a:solidFill>
                  <a:srgbClr val="2DD4BF"/>
                </a:solidFill>
                <a:latin typeface="Courier New"/>
              </a:defRPr>
            </a:pPr>
            <a:r>
              <a:rPr dirty="0"/>
              <a:t>DELETE /</a:t>
            </a:r>
            <a:r>
              <a:rPr dirty="0" err="1"/>
              <a:t>api</a:t>
            </a:r>
            <a:r>
              <a:rPr dirty="0"/>
              <a:t>/patients/{id}</a:t>
            </a:r>
          </a:p>
          <a:p>
            <a:pPr>
              <a:spcAft>
                <a:spcPts val="1200"/>
              </a:spcAft>
              <a:defRPr sz="1300">
                <a:solidFill>
                  <a:srgbClr val="475569"/>
                </a:solidFill>
                <a:latin typeface="Arial"/>
              </a:defRPr>
            </a:pPr>
            <a:r>
              <a:rPr dirty="0"/>
              <a:t>Removes patient metadata from system.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93172" y="1528474"/>
            <a:ext cx="3952612" cy="27443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0F766E"/>
                </a:solidFill>
                <a:latin typeface="Trebuchet MS"/>
              </a:defRPr>
            </a:pPr>
            <a:r>
              <a:rPr dirty="0"/>
              <a:t>Appointment Controller</a:t>
            </a:r>
          </a:p>
          <a:p>
            <a:pPr>
              <a:defRPr sz="1500" b="1">
                <a:solidFill>
                  <a:srgbClr val="2DD4BF"/>
                </a:solidFill>
                <a:latin typeface="Courier New"/>
              </a:defRPr>
            </a:pPr>
            <a:r>
              <a:rPr dirty="0"/>
              <a:t>GET /</a:t>
            </a:r>
            <a:r>
              <a:rPr dirty="0" err="1"/>
              <a:t>api</a:t>
            </a:r>
            <a:r>
              <a:rPr dirty="0"/>
              <a:t>/appointments</a:t>
            </a:r>
          </a:p>
          <a:p>
            <a:pPr>
              <a:spcAft>
                <a:spcPts val="1200"/>
              </a:spcAft>
              <a:defRPr sz="1300">
                <a:solidFill>
                  <a:srgbClr val="475569"/>
                </a:solidFill>
                <a:latin typeface="Arial"/>
              </a:defRPr>
            </a:pPr>
            <a:r>
              <a:rPr dirty="0"/>
              <a:t>Retrieves array list of all scheduled bookings.</a:t>
            </a:r>
          </a:p>
          <a:p>
            <a:pPr>
              <a:defRPr sz="1500" b="1">
                <a:solidFill>
                  <a:srgbClr val="2DD4BF"/>
                </a:solidFill>
                <a:latin typeface="Courier New"/>
              </a:defRPr>
            </a:pPr>
            <a:r>
              <a:rPr dirty="0"/>
              <a:t>POST /</a:t>
            </a:r>
            <a:r>
              <a:rPr dirty="0" err="1"/>
              <a:t>api</a:t>
            </a:r>
            <a:r>
              <a:rPr dirty="0"/>
              <a:t>/appointments</a:t>
            </a:r>
          </a:p>
          <a:p>
            <a:pPr>
              <a:spcAft>
                <a:spcPts val="1200"/>
              </a:spcAft>
              <a:defRPr sz="1300">
                <a:solidFill>
                  <a:srgbClr val="475569"/>
                </a:solidFill>
                <a:latin typeface="Arial"/>
              </a:defRPr>
            </a:pPr>
            <a:r>
              <a:rPr dirty="0"/>
              <a:t>Creates a new appointment (validates constraints).</a:t>
            </a:r>
          </a:p>
          <a:p>
            <a:pPr>
              <a:defRPr sz="1500" b="1">
                <a:solidFill>
                  <a:srgbClr val="2DD4BF"/>
                </a:solidFill>
                <a:latin typeface="Courier New"/>
              </a:defRPr>
            </a:pPr>
            <a:r>
              <a:rPr dirty="0"/>
              <a:t>PUT /</a:t>
            </a:r>
            <a:r>
              <a:rPr dirty="0" err="1"/>
              <a:t>api</a:t>
            </a:r>
            <a:r>
              <a:rPr dirty="0"/>
              <a:t>/appointments/{id}</a:t>
            </a:r>
          </a:p>
          <a:p>
            <a:pPr>
              <a:spcAft>
                <a:spcPts val="1200"/>
              </a:spcAft>
              <a:defRPr sz="1300">
                <a:solidFill>
                  <a:srgbClr val="475569"/>
                </a:solidFill>
                <a:latin typeface="Arial"/>
              </a:defRPr>
            </a:pPr>
            <a:r>
              <a:rPr dirty="0"/>
              <a:t>Reschedules or changes booking status.</a:t>
            </a:r>
          </a:p>
          <a:p>
            <a:pPr>
              <a:defRPr sz="1500" b="1">
                <a:solidFill>
                  <a:srgbClr val="2DD4BF"/>
                </a:solidFill>
                <a:latin typeface="Courier New"/>
              </a:defRPr>
            </a:pPr>
            <a:r>
              <a:rPr dirty="0"/>
              <a:t>DELETE /</a:t>
            </a:r>
            <a:r>
              <a:rPr dirty="0" err="1"/>
              <a:t>api</a:t>
            </a:r>
            <a:r>
              <a:rPr dirty="0"/>
              <a:t>/appointments/{id}</a:t>
            </a:r>
          </a:p>
          <a:p>
            <a:pPr>
              <a:spcAft>
                <a:spcPts val="1200"/>
              </a:spcAft>
              <a:defRPr sz="1300">
                <a:solidFill>
                  <a:srgbClr val="475569"/>
                </a:solidFill>
                <a:latin typeface="Arial"/>
              </a:defRPr>
            </a:pPr>
            <a:r>
              <a:rPr dirty="0"/>
              <a:t>Cancels and deletes appointment logs.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5AF3D3-7D47-F5B9-84D9-8738056D5575}"/>
              </a:ext>
            </a:extLst>
          </p:cNvPr>
          <p:cNvSpPr txBox="1"/>
          <p:nvPr/>
        </p:nvSpPr>
        <p:spPr>
          <a:xfrm>
            <a:off x="7759703" y="1452973"/>
            <a:ext cx="4085552" cy="27443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0F766E"/>
                </a:solidFill>
                <a:latin typeface="Trebuchet MS"/>
              </a:defRPr>
            </a:pPr>
            <a:r>
              <a:rPr lang="en-IN" dirty="0"/>
              <a:t>Doctor</a:t>
            </a:r>
            <a:r>
              <a:rPr dirty="0"/>
              <a:t> Controller</a:t>
            </a:r>
          </a:p>
          <a:p>
            <a:pPr>
              <a:defRPr sz="1500" b="1">
                <a:solidFill>
                  <a:srgbClr val="2DD4BF"/>
                </a:solidFill>
                <a:latin typeface="Courier New"/>
              </a:defRPr>
            </a:pPr>
            <a:r>
              <a:rPr dirty="0"/>
              <a:t>GET /</a:t>
            </a:r>
            <a:r>
              <a:rPr dirty="0" err="1"/>
              <a:t>api</a:t>
            </a:r>
            <a:r>
              <a:rPr dirty="0"/>
              <a:t>/</a:t>
            </a:r>
            <a:r>
              <a:rPr lang="en-IN" dirty="0"/>
              <a:t>doctors</a:t>
            </a:r>
            <a:endParaRPr dirty="0"/>
          </a:p>
          <a:p>
            <a:pPr>
              <a:spcAft>
                <a:spcPts val="1200"/>
              </a:spcAft>
              <a:defRPr sz="1300">
                <a:solidFill>
                  <a:srgbClr val="475569"/>
                </a:solidFill>
                <a:latin typeface="Arial"/>
              </a:defRPr>
            </a:pPr>
            <a:r>
              <a:rPr lang="en-IN" sz="1300" dirty="0"/>
              <a:t>Retrieves the complete list of all registered doctors.</a:t>
            </a:r>
            <a:endParaRPr dirty="0"/>
          </a:p>
          <a:p>
            <a:pPr>
              <a:defRPr sz="1500" b="1">
                <a:solidFill>
                  <a:srgbClr val="2DD4BF"/>
                </a:solidFill>
                <a:latin typeface="Courier New"/>
              </a:defRPr>
            </a:pPr>
            <a:r>
              <a:rPr dirty="0"/>
              <a:t>POST /</a:t>
            </a:r>
            <a:r>
              <a:rPr dirty="0" err="1"/>
              <a:t>api</a:t>
            </a:r>
            <a:r>
              <a:rPr dirty="0"/>
              <a:t>/</a:t>
            </a:r>
            <a:r>
              <a:rPr lang="en-IN" dirty="0"/>
              <a:t>doctors</a:t>
            </a:r>
            <a:endParaRPr dirty="0"/>
          </a:p>
          <a:p>
            <a:pPr>
              <a:spcAft>
                <a:spcPts val="1200"/>
              </a:spcAft>
              <a:defRPr sz="1300">
                <a:solidFill>
                  <a:srgbClr val="475569"/>
                </a:solidFill>
                <a:latin typeface="Arial"/>
              </a:defRPr>
            </a:pPr>
            <a:r>
              <a:rPr lang="en-IN" sz="1300" dirty="0"/>
              <a:t>Registers a new doctor in the hospital system.</a:t>
            </a:r>
            <a:endParaRPr lang="en-US" dirty="0"/>
          </a:p>
          <a:p>
            <a:pPr>
              <a:defRPr sz="1500" b="1">
                <a:solidFill>
                  <a:srgbClr val="2DD4BF"/>
                </a:solidFill>
                <a:latin typeface="Courier New"/>
              </a:defRPr>
            </a:pPr>
            <a:r>
              <a:rPr dirty="0"/>
              <a:t>PUT /</a:t>
            </a:r>
            <a:r>
              <a:rPr dirty="0" err="1"/>
              <a:t>api</a:t>
            </a:r>
            <a:r>
              <a:rPr dirty="0"/>
              <a:t>/</a:t>
            </a:r>
            <a:r>
              <a:rPr lang="en-IN" dirty="0"/>
              <a:t>doctors</a:t>
            </a:r>
            <a:r>
              <a:rPr dirty="0"/>
              <a:t>/{id}</a:t>
            </a:r>
            <a:endParaRPr lang="en-IN" dirty="0"/>
          </a:p>
          <a:p>
            <a:pPr>
              <a:spcAft>
                <a:spcPts val="1200"/>
              </a:spcAft>
              <a:defRPr sz="1300">
                <a:solidFill>
                  <a:srgbClr val="475569"/>
                </a:solidFill>
                <a:latin typeface="Arial"/>
              </a:defRPr>
            </a:pPr>
            <a:r>
              <a:rPr lang="en-IN" sz="1300" dirty="0"/>
              <a:t>Updates the details of an existing doctor</a:t>
            </a:r>
            <a:endParaRPr lang="en-IN" dirty="0"/>
          </a:p>
          <a:p>
            <a:pPr>
              <a:defRPr sz="1500" b="1">
                <a:solidFill>
                  <a:srgbClr val="2DD4BF"/>
                </a:solidFill>
                <a:latin typeface="Courier New"/>
              </a:defRPr>
            </a:pPr>
            <a:r>
              <a:rPr dirty="0"/>
              <a:t>DELETE /</a:t>
            </a:r>
            <a:r>
              <a:rPr dirty="0" err="1"/>
              <a:t>api</a:t>
            </a:r>
            <a:r>
              <a:rPr lang="en-IN" dirty="0"/>
              <a:t>/doctors</a:t>
            </a:r>
            <a:r>
              <a:rPr dirty="0"/>
              <a:t>/{id}</a:t>
            </a:r>
          </a:p>
          <a:p>
            <a:pPr>
              <a:spcAft>
                <a:spcPts val="1200"/>
              </a:spcAft>
              <a:defRPr sz="1300">
                <a:solidFill>
                  <a:srgbClr val="475569"/>
                </a:solidFill>
                <a:latin typeface="Arial"/>
              </a:defRPr>
            </a:pPr>
            <a:r>
              <a:rPr lang="en-IN" sz="1300" dirty="0"/>
              <a:t>Removes a doctor record from the hospital system.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600" b="1">
                <a:solidFill>
                  <a:srgbClr val="0F766E"/>
                </a:solidFill>
                <a:latin typeface="Trebuchet MS"/>
              </a:defRPr>
            </a:pPr>
            <a:r>
              <a:t>Project Achievements &amp; Learnings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97280"/>
            <a:ext cx="1828800" cy="36576"/>
          </a:xfrm>
          <a:prstGeom prst="rect">
            <a:avLst/>
          </a:prstGeom>
          <a:solidFill>
            <a:srgbClr val="2DD4BF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108173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Aft>
                <a:spcPts val="400"/>
              </a:spcAft>
              <a:defRPr sz="1800" b="1">
                <a:solidFill>
                  <a:srgbClr val="0F766E"/>
                </a:solidFill>
                <a:latin typeface="Trebuchet MS"/>
              </a:defRPr>
            </a:pPr>
            <a:r>
              <a:rPr dirty="0"/>
              <a:t>✔ Full-Stack Integration</a:t>
            </a:r>
          </a:p>
          <a:p>
            <a:pPr>
              <a:spcAft>
                <a:spcPts val="1800"/>
              </a:spcAft>
              <a:defRPr sz="1400">
                <a:solidFill>
                  <a:srgbClr val="475569"/>
                </a:solidFill>
                <a:latin typeface="Arial"/>
              </a:defRPr>
            </a:pPr>
            <a:r>
              <a:rPr dirty="0"/>
              <a:t>Seamless implementation mapping front-end user actions through REST calls directly updating PostgreSQL structured columns.</a:t>
            </a:r>
          </a:p>
          <a:p>
            <a:pPr>
              <a:spcAft>
                <a:spcPts val="400"/>
              </a:spcAft>
              <a:defRPr sz="1800" b="1">
                <a:solidFill>
                  <a:srgbClr val="0F766E"/>
                </a:solidFill>
                <a:latin typeface="Trebuchet MS"/>
              </a:defRPr>
            </a:pPr>
            <a:r>
              <a:rPr dirty="0"/>
              <a:t>✔ Secure </a:t>
            </a:r>
            <a:r>
              <a:rPr dirty="0" err="1"/>
              <a:t>TrustStore</a:t>
            </a:r>
            <a:r>
              <a:rPr dirty="0"/>
              <a:t> Solution</a:t>
            </a:r>
          </a:p>
          <a:p>
            <a:pPr>
              <a:spcAft>
                <a:spcPts val="1800"/>
              </a:spcAft>
              <a:defRPr sz="1400">
                <a:solidFill>
                  <a:srgbClr val="475569"/>
                </a:solidFill>
                <a:latin typeface="Arial"/>
              </a:defRPr>
            </a:pPr>
            <a:r>
              <a:rPr dirty="0"/>
              <a:t>Resolved Maven dependency build issues by utilizing custom trust stores ($</a:t>
            </a:r>
            <a:r>
              <a:rPr dirty="0" err="1"/>
              <a:t>env:MAVEN_OPTS</a:t>
            </a:r>
            <a:r>
              <a:rPr dirty="0"/>
              <a:t> Windows Root certificates) locally.</a:t>
            </a:r>
          </a:p>
          <a:p>
            <a:pPr>
              <a:spcAft>
                <a:spcPts val="400"/>
              </a:spcAft>
              <a:defRPr sz="1800" b="1">
                <a:solidFill>
                  <a:srgbClr val="0F766E"/>
                </a:solidFill>
                <a:latin typeface="Trebuchet MS"/>
              </a:defRPr>
            </a:pPr>
            <a:r>
              <a:rPr dirty="0"/>
              <a:t>✔ Zero-Dependency CSS styling</a:t>
            </a:r>
          </a:p>
          <a:p>
            <a:pPr>
              <a:spcAft>
                <a:spcPts val="1800"/>
              </a:spcAft>
              <a:defRPr sz="1400">
                <a:solidFill>
                  <a:srgbClr val="475569"/>
                </a:solidFill>
                <a:latin typeface="Arial"/>
              </a:defRPr>
            </a:pPr>
            <a:r>
              <a:rPr dirty="0"/>
              <a:t>Designed a responsive client GUI containing modals, search queries, tables, and toggles without external component libraries.</a:t>
            </a:r>
          </a:p>
          <a:p>
            <a:pPr>
              <a:spcAft>
                <a:spcPts val="400"/>
              </a:spcAft>
              <a:defRPr sz="1800" b="1">
                <a:solidFill>
                  <a:srgbClr val="0F766E"/>
                </a:solidFill>
                <a:latin typeface="Trebuchet MS"/>
              </a:defRPr>
            </a:pPr>
            <a:r>
              <a:rPr dirty="0"/>
              <a:t>✔ Database integrity &amp; validations</a:t>
            </a:r>
          </a:p>
          <a:p>
            <a:pPr>
              <a:spcAft>
                <a:spcPts val="1800"/>
              </a:spcAft>
              <a:defRPr sz="1400">
                <a:solidFill>
                  <a:srgbClr val="475569"/>
                </a:solidFill>
                <a:latin typeface="Arial"/>
              </a:defRPr>
            </a:pPr>
            <a:r>
              <a:rPr dirty="0"/>
              <a:t>Configured cascade mapping rules and Hibernate DDL updates, ensuring entity relations stay structurally consistent.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1"/>
          <p:cNvSpPr/>
          <p:nvPr/>
        </p:nvSpPr>
        <p:spPr>
          <a:xfrm>
            <a:off x="0" y="0"/>
            <a:ext cx="5486400" cy="6858000"/>
          </a:xfrm>
          <a:prstGeom prst="rtTriangl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0" y="2011680"/>
            <a:ext cx="67052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6400" b="1">
                <a:solidFill>
                  <a:srgbClr val="2DD4BF"/>
                </a:solidFill>
                <a:latin typeface="Trebuchet MS"/>
              </a:defRPr>
            </a:pPr>
            <a:r>
              <a:t>THANK YOU</a:t>
            </a:r>
          </a:p>
          <a:p>
            <a:pPr>
              <a:spcAft>
                <a:spcPts val="2000"/>
              </a:spcAft>
              <a:defRPr sz="2800" b="1">
                <a:solidFill>
                  <a:srgbClr val="FFFFFF"/>
                </a:solidFill>
                <a:latin typeface="Arial"/>
              </a:defRPr>
            </a:pPr>
            <a:r>
              <a:t>Questions &amp; Answers</a:t>
            </a:r>
          </a:p>
          <a:p>
            <a:pPr>
              <a:defRPr sz="1600">
                <a:solidFill>
                  <a:srgbClr val="94A3B8"/>
                </a:solidFill>
                <a:latin typeface="Arial"/>
              </a:defRPr>
            </a:pPr>
            <a:r>
              <a:t>Presentation by Anand Kanzariya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902</Words>
  <Application>Microsoft Office PowerPoint</Application>
  <PresentationFormat>Widescreen</PresentationFormat>
  <Paragraphs>128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Anand Kanzariya</cp:lastModifiedBy>
  <cp:revision>1</cp:revision>
  <dcterms:created xsi:type="dcterms:W3CDTF">2013-01-27T09:14:16Z</dcterms:created>
  <dcterms:modified xsi:type="dcterms:W3CDTF">2026-07-19T07:02:19Z</dcterms:modified>
  <cp:category/>
</cp:coreProperties>
</file>